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I'll share our journey in GitHub repository mining using BERT-based text classification. We'll explore how iterative optimization led to a robust automated domain classification system. This presentation focuses on the experimental process and the insights gained. We'll cover the challenges and solutions in building an effective NLP pipeline. Now, let's dive into the iterative journey that shaped our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sheer scale of GitHub makes manual domain identification impossible. We needed an automated solution to categorize millions of repositories for better search and trend analysis. Our approach uses a BERT-based pipeline, specifically DistilBERT, for efficient and high-performance inference. The core strategy involved iterative experimentation to overcome small dataset constraints and extreme class imbalance. We fused repository descriptions and README content, separated by a special token, to create a rich input for the model. This holistic input, capped at 512 tokens, provides maximum context. Now, let's dive into the iterative journey that shaped our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journey was a series of iterative experiments, each building on the last to improve Macro F1. We started with a baseline, quickly realizing the limitations of a standard BERT model on five imbalanced classes. Next, we explored LoRA, but it proved too restrictive for our small dataset. Merging classes was a pivotal step, significantly boosting stability and performance. Then, Focal Loss further stabilized training and balanced class representation. Finally, oversampling and threshold tuning brought us to our peak performance of 0.8198 Macro F1 and 0.8551 Accuracy. We'll now examine some of these critical experimental decisions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on, we learned that accuracy can be misleading, especially with imbalanced datasets. An 87% accuracy in our first experiment masked poor recall in minority classes, highlighted by a Macro F1 of only 0.68. We also experimented with LoRA, hoping for parameter efficiency. However, for our small dataset of around 550 samples, LoRA's rank 16 restricted the model's capacity too much. This led to underfitting and a performance drop to 0.61 F1. The key takeaway here is clear: for small-scale datasets, full fine-tuning is often necessary to allow the model to extract sufficient features and adapt to the specific domain. This insight directly informed our next strategic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the high variance in minority classes, we implemented a strategic class consolidation. We merged Data Science into AI and DevOps into Web, reducing our five classes to three. This decision was crucial because our small dataset of approximately 550 samples led to unstable semantic patterns for DistilBERT. By consolidating, we increased the per-class support, providing the model with more stable and robust patterns to learn from. This targeted merging significantly improved recall for classes like Web, moving from 0.60 to 0.68. This consolidation was a critical step in stabilizing our model's performance. Next, we'll explore how we further stabilized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further stabilize training and boost minority class performance, we moved beyond basic class weighting. We implemented Focal Loss, which down-weights easy examples, forcing the model to focus on those harder-to-classify minority samples. We also strategically oversampled our minority classes, specifically Mobile and Web, to address pattern scarcity. This increased their representation in the training data, providing the model with more examples to learn from. Finally, we tuned classification thresholds on the validation set to maximize Macro F1, significantly improving minority class recall. This comprehensive approach directly tackled the challenges of imbalanced data and limited samples. Now, let's look at how these techniques collectively impacted our model's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previous efforts, this slide summarizes the outcomes of our experimental journey. The final model achieved a significant 20.0% improvement in Macro F1 over our initial baseline. This table clearly shows how each technique contributed to refining our model, moving from a heavily biased baseline to a more balanced and robust classifier. It highlights that our focus shifted from raw accuracy to achieving a better balance of precision and recall across all classes, especially the minority ones. Let's dive deeper into why our final model truly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final model truly excelled by prioritizing recall for the minority classes, a direct result of our oversampling and threshold tuning efforts. We achieved a Macro F1 of 0.8198 while maintaining a stable accuracy of 85.5%. The confusion matrix here illustrates this success: notice how Mobile recall improved significantly to 0.82 without compromising the strong performance of the majority AI/ML class. This balance was critical for real-world applicability, ensuring our model doesn't just perform well on the most common categories. This journey provided several key engineering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journey provided several key engineering lessons, reinforcing that decisions must be data-driven. First, we learned that accuracy can be a misleading metric in imbalanced datasets; Macro F1 is a far better indicator of true performance. Second, for our small dataset, strategic data manipulation like class merging and oversampling proved more effective than complex architectural changes like LoRA. This shows that parameter-efficient tuning isn't always the best choice for very small datasets, where full fine-tuning might be necessary. Finally, post-processing steps like threshold tuning offered a high return on investment, significantly improving recall without requiring extensive retraining. Let's conclude with our future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iterative refinement process, leveraging Focal Loss, oversampling, and threshold tuning, transformed a biased baseline into a robust 0.8198 Macro F1 classifier. This journey underscores that data-centric strategies often outperform architectural complexity in small-scale NLP tasks. Looking ahead, we plan to integrate CodeBERT for multi-modal analysis, moving beyond just text to analyze actual source code. We also aim to expand to multi-label support, allowing repositories to belong to multiple domains, and incorporate more metadata like stars and forks for even higher precision. Ultimately, scaling our dataset to over 10,000 samples will allow us to leverage larger Transformer models like RoBERTa, further enhancing our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1111411"/>
            <a:ext cx="5372100" cy="2011635"/>
          </a:xfrm>
          <a:prstGeom prst="rect">
            <a:avLst/>
          </a:prstGeom>
          <a:noFill/>
          <a:ln/>
        </p:spPr>
        <p:txBody>
          <a:bodyPr wrap="square" lIns="0" tIns="0" rIns="0" bIns="0" rtlCol="0" anchor="t">
            <a:spAutoFit/>
          </a:bodyPr>
          <a:lstStyle/>
          <a:p>
            <a:pPr algn="l" indent="0" marL="0">
              <a:lnSpc>
                <a:spcPct val="88000"/>
              </a:lnSpc>
              <a:buNone/>
            </a:pPr>
            <a:r>
              <a:rPr lang="en-US" sz="3300" b="1" dirty="0">
                <a:solidFill>
                  <a:srgbClr val="2C3E50"/>
                </a:solidFill>
                <a:latin typeface="Playfair Display Bold" pitchFamily="34" charset="0"/>
                <a:ea typeface="Playfair Display Bold" pitchFamily="34" charset="-122"/>
                <a:cs typeface="Playfair Display Bold" pitchFamily="34" charset="-120"/>
              </a:rPr>
              <a:t>GitHub Repository </a:t>
            </a:r>
            <a:r>
              <a:rPr lang="en-US" sz="3300" b="1" dirty="0">
                <a:solidFill>
                  <a:srgbClr val="2C3E50"/>
                </a:solidFill>
                <a:latin typeface="Playfair Display Bold" pitchFamily="34" charset="0"/>
                <a:ea typeface="Playfair Display Bold" pitchFamily="34" charset="-122"/>
                <a:cs typeface="Playfair Display Bold" pitchFamily="34" charset="-120"/>
              </a:rPr>
              <a:t>Mining:</a:t>
            </a:r>
            <a:r>
              <a:rPr lang="en-US" sz="3300" b="1" dirty="0">
                <a:solidFill>
                  <a:srgbClr val="2C3E50"/>
                </a:solidFill>
                <a:latin typeface="Playfair Display Bold" pitchFamily="34" charset="0"/>
                <a:ea typeface="Playfair Display Bold" pitchFamily="34" charset="-122"/>
                <a:cs typeface="Playfair Display Bold" pitchFamily="34" charset="-120"/>
              </a:rPr>
              <a:t>
</a:t>
            </a:r>
            <a:r>
              <a:rPr lang="en-US" sz="3300" b="1" dirty="0">
                <a:solidFill>
                  <a:srgbClr val="2C3E50"/>
                </a:solidFill>
                <a:latin typeface="Playfair Display Bold" pitchFamily="34" charset="0"/>
                <a:ea typeface="Playfair Display Bold" pitchFamily="34" charset="-122"/>
                <a:cs typeface="Playfair Display Bold" pitchFamily="34" charset="-120"/>
              </a:rPr>
              <a:t>An Experimental Journey</a:t>
            </a:r>
            <a:r>
              <a:rPr lang="en-US" sz="3300" b="1" dirty="0">
                <a:solidFill>
                  <a:srgbClr val="2C3E50"/>
                </a:solidFill>
                <a:latin typeface="Playfair Display Bold" pitchFamily="34" charset="0"/>
                <a:ea typeface="Playfair Display Bold" pitchFamily="34" charset="-122"/>
                <a:cs typeface="Playfair Display Bold" pitchFamily="34" charset="-120"/>
              </a:rPr>
              <a:t>
</a:t>
            </a:r>
            <a:r>
              <a:rPr lang="en-US" sz="3300" b="1" dirty="0">
                <a:solidFill>
                  <a:srgbClr val="2C3E50"/>
                </a:solidFill>
                <a:latin typeface="Playfair Display Bold" pitchFamily="34" charset="0"/>
                <a:ea typeface="Playfair Display Bold" pitchFamily="34" charset="-122"/>
                <a:cs typeface="Playfair Display Bold" pitchFamily="34" charset="-120"/>
              </a:rPr>
              <a:t>with BERT</a:t>
            </a:r>
            <a:endParaRPr lang="en-US" sz="3300" dirty="0"/>
          </a:p>
        </p:txBody>
      </p:sp>
      <p:sp>
        <p:nvSpPr>
          <p:cNvPr id="5" name="Text 1"/>
          <p:cNvSpPr/>
          <p:nvPr/>
        </p:nvSpPr>
        <p:spPr>
          <a:xfrm>
            <a:off x="571500" y="3294497"/>
            <a:ext cx="5372100" cy="557213"/>
          </a:xfrm>
          <a:prstGeom prst="rect">
            <a:avLst/>
          </a:prstGeom>
          <a:noFill/>
          <a:ln/>
        </p:spPr>
        <p:txBody>
          <a:bodyPr wrap="square" lIns="0" tIns="0" rIns="0" bIns="0" rtlCol="0" anchor="t">
            <a:spAutoFit/>
          </a:bodyPr>
          <a:lstStyle/>
          <a:p>
            <a:pPr algn="l" indent="0" marL="0">
              <a:buNone/>
            </a:pPr>
            <a:r>
              <a:rPr lang="en-US" sz="1700" dirty="0">
                <a:solidFill>
                  <a:srgbClr val="E74C3C"/>
                </a:solidFill>
                <a:latin typeface="Montserrat" pitchFamily="34" charset="0"/>
                <a:ea typeface="Montserrat" pitchFamily="34" charset="-122"/>
                <a:cs typeface="Montserrat" pitchFamily="34" charset="-120"/>
              </a:rPr>
              <a:t>Iterative Optimization for Automated Domain Classification</a:t>
            </a:r>
            <a:endParaRPr lang="en-US" sz="1700" dirty="0"/>
          </a:p>
        </p:txBody>
      </p:sp>
      <p:sp>
        <p:nvSpPr>
          <p:cNvPr id="6" name="Text 2"/>
          <p:cNvSpPr/>
          <p:nvPr/>
        </p:nvSpPr>
        <p:spPr>
          <a:xfrm>
            <a:off x="571500" y="4280334"/>
            <a:ext cx="3380780" cy="323255"/>
          </a:xfrm>
          <a:prstGeom prst="rect">
            <a:avLst/>
          </a:prstGeom>
          <a:noFill/>
          <a:ln/>
        </p:spPr>
        <p:txBody>
          <a:bodyPr wrap="square" lIns="0" tIns="170053" rIns="0" bIns="0" rtlCol="0" anchor="t">
            <a:spAutoFit/>
          </a:bodyPr>
          <a:lstStyle/>
          <a:p>
            <a:pPr algn="l" indent="0" marL="0">
              <a:buNone/>
            </a:pPr>
            <a:r>
              <a:rPr lang="en-US" sz="1050" dirty="0">
                <a:solidFill>
                  <a:srgbClr val="34495E"/>
                </a:solidFill>
                <a:latin typeface="Montserrat" pitchFamily="34" charset="0"/>
                <a:ea typeface="Montserrat" pitchFamily="34" charset="-122"/>
                <a:cs typeface="Montserrat" pitchFamily="34" charset="-120"/>
              </a:rPr>
              <a:t>Senior AI Research &amp; Data Science Presentation</a:t>
            </a:r>
            <a:endParaRPr lang="en-US" sz="1050" dirty="0"/>
          </a:p>
        </p:txBody>
      </p:sp>
      <p:sp>
        <p:nvSpPr>
          <p:cNvPr id="7" name="Shape 3"/>
          <p:cNvSpPr/>
          <p:nvPr/>
        </p:nvSpPr>
        <p:spPr>
          <a:xfrm>
            <a:off x="5943600" y="0"/>
            <a:ext cx="3200400" cy="5143500"/>
          </a:xfrm>
          <a:prstGeom prst="rect">
            <a:avLst/>
          </a:prstGeom>
          <a:solidFill>
            <a:srgbClr val="2C3E50"/>
          </a:solidFill>
          <a:ln/>
        </p:spPr>
      </p:sp>
      <p:pic>
        <p:nvPicPr>
          <p:cNvPr id="8" name="Image 1" descr="preencoded.png">    </p:cNvPr>
          <p:cNvPicPr>
            <a:picLocks noChangeAspect="1"/>
          </p:cNvPicPr>
          <p:nvPr/>
        </p:nvPicPr>
        <p:blipFill>
          <a:blip r:embed="rId2">
            <a:alphaModFix amt="20000"/>
          </a:blip>
          <a:stretch>
            <a:fillRect/>
          </a:stretch>
        </p:blipFill>
        <p:spPr>
          <a:xfrm>
            <a:off x="7273230" y="2143125"/>
            <a:ext cx="830461" cy="857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7379"/>
          </a:xfrm>
          <a:prstGeom prst="rect">
            <a:avLst/>
          </a:prstGeom>
        </p:spPr>
      </p:pic>
      <p:sp>
        <p:nvSpPr>
          <p:cNvPr id="4" name="Text 0"/>
          <p:cNvSpPr/>
          <p:nvPr/>
        </p:nvSpPr>
        <p:spPr>
          <a:xfrm>
            <a:off x="428625" y="428625"/>
            <a:ext cx="4440008" cy="1234390"/>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2C3E50"/>
                </a:solidFill>
                <a:latin typeface="Playfair Display Bold" pitchFamily="34" charset="0"/>
                <a:ea typeface="Playfair Display Bold" pitchFamily="34" charset="-122"/>
                <a:cs typeface="Playfair Display Bold" pitchFamily="34" charset="-120"/>
              </a:rPr>
              <a:t>Automating Domain Identification in the GitHub Ecosystem</a:t>
            </a:r>
            <a:endParaRPr lang="en-US" sz="2450" dirty="0"/>
          </a:p>
        </p:txBody>
      </p:sp>
      <p:sp>
        <p:nvSpPr>
          <p:cNvPr id="5" name="Text 1"/>
          <p:cNvSpPr/>
          <p:nvPr/>
        </p:nvSpPr>
        <p:spPr>
          <a:xfrm>
            <a:off x="428625" y="1948765"/>
            <a:ext cx="4440008" cy="208955"/>
          </a:xfrm>
          <a:prstGeom prst="rect">
            <a:avLst/>
          </a:prstGeom>
          <a:noFill/>
          <a:ln/>
        </p:spPr>
        <p:txBody>
          <a:bodyPr wrap="square" lIns="0" tIns="0" rIns="0" bIns="0" rtlCol="0" anchor="t">
            <a:spAutoFit/>
          </a:bodyPr>
          <a:lstStyle/>
          <a:p>
            <a:pPr algn="l" indent="0" marL="0">
              <a:buNone/>
            </a:pPr>
            <a:r>
              <a:rPr lang="en-US" sz="1200" b="1" dirty="0">
                <a:solidFill>
                  <a:srgbClr val="E74C3C"/>
                </a:solidFill>
                <a:latin typeface="Montserrat Bold" pitchFamily="34" charset="0"/>
                <a:ea typeface="Montserrat Bold" pitchFamily="34" charset="-122"/>
                <a:cs typeface="Montserrat Bold" pitchFamily="34" charset="-120"/>
              </a:rPr>
              <a:t>The Problem</a:t>
            </a:r>
            <a:endParaRPr lang="en-US" sz="1200" dirty="0"/>
          </a:p>
        </p:txBody>
      </p:sp>
      <p:sp>
        <p:nvSpPr>
          <p:cNvPr id="6" name="Text 2"/>
          <p:cNvSpPr/>
          <p:nvPr/>
        </p:nvSpPr>
        <p:spPr>
          <a:xfrm>
            <a:off x="428625" y="2229157"/>
            <a:ext cx="4440008"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4495E"/>
                </a:solidFill>
                <a:latin typeface="Montserrat" pitchFamily="34" charset="0"/>
                <a:ea typeface="Montserrat" pitchFamily="34" charset="-122"/>
                <a:cs typeface="Montserrat" pitchFamily="34" charset="-120"/>
              </a:rPr>
              <a:t>Manual understanding of millions of repositories is impossible. We need automated tagging for search and trend analysis.</a:t>
            </a:r>
            <a:endParaRPr lang="en-US" sz="1050" dirty="0"/>
          </a:p>
        </p:txBody>
      </p:sp>
      <p:sp>
        <p:nvSpPr>
          <p:cNvPr id="7" name="Text 3"/>
          <p:cNvSpPr/>
          <p:nvPr/>
        </p:nvSpPr>
        <p:spPr>
          <a:xfrm>
            <a:off x="428625" y="3086407"/>
            <a:ext cx="4440008" cy="208955"/>
          </a:xfrm>
          <a:prstGeom prst="rect">
            <a:avLst/>
          </a:prstGeom>
          <a:noFill/>
          <a:ln/>
        </p:spPr>
        <p:txBody>
          <a:bodyPr wrap="square" lIns="0" tIns="0" rIns="0" bIns="0" rtlCol="0" anchor="t">
            <a:spAutoFit/>
          </a:bodyPr>
          <a:lstStyle/>
          <a:p>
            <a:pPr algn="l" indent="0" marL="0">
              <a:buNone/>
            </a:pPr>
            <a:r>
              <a:rPr lang="en-US" sz="1200" b="1" dirty="0">
                <a:solidFill>
                  <a:srgbClr val="E74C3C"/>
                </a:solidFill>
                <a:latin typeface="Montserrat Bold" pitchFamily="34" charset="0"/>
                <a:ea typeface="Montserrat Bold" pitchFamily="34" charset="-122"/>
                <a:cs typeface="Montserrat Bold" pitchFamily="34" charset="-120"/>
              </a:rPr>
              <a:t>The Solution</a:t>
            </a:r>
            <a:endParaRPr lang="en-US" sz="1200" dirty="0"/>
          </a:p>
        </p:txBody>
      </p:sp>
      <p:sp>
        <p:nvSpPr>
          <p:cNvPr id="8" name="Text 4"/>
          <p:cNvSpPr/>
          <p:nvPr/>
        </p:nvSpPr>
        <p:spPr>
          <a:xfrm>
            <a:off x="428625" y="3366799"/>
            <a:ext cx="4440008"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4495E"/>
                </a:solidFill>
                <a:latin typeface="Montserrat" pitchFamily="34" charset="0"/>
                <a:ea typeface="Montserrat" pitchFamily="34" charset="-122"/>
                <a:cs typeface="Montserrat" pitchFamily="34" charset="-120"/>
              </a:rPr>
              <a:t>A BERT-based pipeline using </a:t>
            </a:r>
            <a:r>
              <a:rPr lang="en-US" sz="1000" b="1" dirty="0">
                <a:solidFill>
                  <a:srgbClr val="34495E"/>
                </a:solidFill>
                <a:latin typeface="Montserrat Bold" pitchFamily="34" charset="0"/>
                <a:ea typeface="Montserrat Bold" pitchFamily="34" charset="-122"/>
                <a:cs typeface="Montserrat Bold" pitchFamily="34" charset="-120"/>
              </a:rPr>
              <a:t>DistilBERT</a:t>
            </a:r>
            <a:r>
              <a:rPr lang="en-US" sz="1050" dirty="0">
                <a:solidFill>
                  <a:srgbClr val="34495E"/>
                </a:solidFill>
                <a:latin typeface="Montserrat" pitchFamily="34" charset="0"/>
                <a:ea typeface="Montserrat" pitchFamily="34" charset="-122"/>
                <a:cs typeface="Montserrat" pitchFamily="34" charset="-120"/>
              </a:rPr>
              <a:t> (base-uncased) for </a:t>
            </a:r>
            <a:r>
              <a:rPr lang="en-US" sz="1050" dirty="0">
                <a:solidFill>
                  <a:srgbClr val="34495E"/>
                </a:solidFill>
                <a:latin typeface="Montserrat" pitchFamily="34" charset="0"/>
                <a:ea typeface="Montserrat" pitchFamily="34" charset="-122"/>
                <a:cs typeface="Montserrat" pitchFamily="34" charset="-120"/>
              </a:rPr>
              <a:t>efficient and high-performance inference on textual </a:t>
            </a:r>
            <a:r>
              <a:rPr lang="en-US" sz="1050" dirty="0">
                <a:solidFill>
                  <a:srgbClr val="34495E"/>
                </a:solidFill>
                <a:latin typeface="Montserrat" pitchFamily="34" charset="0"/>
                <a:ea typeface="Montserrat" pitchFamily="34" charset="-122"/>
                <a:cs typeface="Montserrat" pitchFamily="34" charset="-120"/>
              </a:rPr>
              <a:t>metadata.</a:t>
            </a:r>
            <a:endParaRPr lang="en-US" sz="1050" dirty="0"/>
          </a:p>
        </p:txBody>
      </p:sp>
      <p:sp>
        <p:nvSpPr>
          <p:cNvPr id="9" name="Text 5"/>
          <p:cNvSpPr/>
          <p:nvPr/>
        </p:nvSpPr>
        <p:spPr>
          <a:xfrm>
            <a:off x="428625" y="4224049"/>
            <a:ext cx="4440008" cy="208955"/>
          </a:xfrm>
          <a:prstGeom prst="rect">
            <a:avLst/>
          </a:prstGeom>
          <a:noFill/>
          <a:ln/>
        </p:spPr>
        <p:txBody>
          <a:bodyPr wrap="square" lIns="0" tIns="0" rIns="0" bIns="0" rtlCol="0" anchor="t">
            <a:spAutoFit/>
          </a:bodyPr>
          <a:lstStyle/>
          <a:p>
            <a:pPr algn="l" indent="0" marL="0">
              <a:buNone/>
            </a:pPr>
            <a:r>
              <a:rPr lang="en-US" sz="1200" b="1" dirty="0">
                <a:solidFill>
                  <a:srgbClr val="E74C3C"/>
                </a:solidFill>
                <a:latin typeface="Montserrat Bold" pitchFamily="34" charset="0"/>
                <a:ea typeface="Montserrat Bold" pitchFamily="34" charset="-122"/>
                <a:cs typeface="Montserrat Bold" pitchFamily="34" charset="-120"/>
              </a:rPr>
              <a:t>Core Strategy</a:t>
            </a:r>
            <a:endParaRPr lang="en-US" sz="1200" dirty="0"/>
          </a:p>
        </p:txBody>
      </p:sp>
      <p:sp>
        <p:nvSpPr>
          <p:cNvPr id="10" name="Text 6"/>
          <p:cNvSpPr/>
          <p:nvPr/>
        </p:nvSpPr>
        <p:spPr>
          <a:xfrm>
            <a:off x="428625" y="4504441"/>
            <a:ext cx="4440008"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4495E"/>
                </a:solidFill>
                <a:latin typeface="Montserrat" pitchFamily="34" charset="0"/>
                <a:ea typeface="Montserrat" pitchFamily="34" charset="-122"/>
                <a:cs typeface="Montserrat" pitchFamily="34" charset="-120"/>
              </a:rPr>
              <a:t>Iterative experimentation to handle small dataset constraints (~550 samples) and extreme class imbalance.</a:t>
            </a:r>
            <a:endParaRPr lang="en-US" sz="1050" dirty="0"/>
          </a:p>
        </p:txBody>
      </p:sp>
      <p:sp>
        <p:nvSpPr>
          <p:cNvPr id="11" name="Text 7"/>
          <p:cNvSpPr/>
          <p:nvPr/>
        </p:nvSpPr>
        <p:spPr>
          <a:xfrm>
            <a:off x="5157843" y="1208326"/>
            <a:ext cx="3557532" cy="208955"/>
          </a:xfrm>
          <a:prstGeom prst="rect">
            <a:avLst/>
          </a:prstGeom>
          <a:noFill/>
          <a:ln/>
        </p:spPr>
        <p:txBody>
          <a:bodyPr wrap="square" lIns="0" tIns="0" rIns="0" bIns="0" rtlCol="0" anchor="t">
            <a:spAutoFit/>
          </a:bodyPr>
          <a:lstStyle/>
          <a:p>
            <a:pPr algn="ctr" indent="0" marL="0">
              <a:buNone/>
            </a:pPr>
            <a:r>
              <a:rPr lang="en-US" sz="1200" b="1" dirty="0">
                <a:solidFill>
                  <a:srgbClr val="E74C3C"/>
                </a:solidFill>
                <a:latin typeface="Montserrat Bold" pitchFamily="34" charset="0"/>
                <a:ea typeface="Montserrat Bold" pitchFamily="34" charset="-122"/>
                <a:cs typeface="Montserrat Bold" pitchFamily="34" charset="-120"/>
              </a:rPr>
              <a:t>Field Fusion Logic</a:t>
            </a:r>
            <a:endParaRPr lang="en-US" sz="1200" dirty="0"/>
          </a:p>
        </p:txBody>
      </p:sp>
      <p:sp>
        <p:nvSpPr>
          <p:cNvPr id="12" name="Shape 8"/>
          <p:cNvSpPr/>
          <p:nvPr/>
        </p:nvSpPr>
        <p:spPr>
          <a:xfrm>
            <a:off x="5157843" y="1560156"/>
            <a:ext cx="3557532" cy="2525316"/>
          </a:xfrm>
          <a:prstGeom prst="rect">
            <a:avLst/>
          </a:prstGeom>
          <a:solidFill>
            <a:srgbClr val="FFFFFF"/>
          </a:solidFill>
          <a:ln w="9144">
            <a:solidFill>
              <a:srgbClr val="BDC3C7"/>
            </a:solidFill>
            <a:prstDash val="solid"/>
          </a:ln>
        </p:spPr>
      </p:sp>
      <p:sp>
        <p:nvSpPr>
          <p:cNvPr id="13" name="Shape 9"/>
          <p:cNvSpPr/>
          <p:nvPr/>
        </p:nvSpPr>
        <p:spPr>
          <a:xfrm>
            <a:off x="5372156" y="1781612"/>
            <a:ext cx="3128907" cy="385763"/>
          </a:xfrm>
          <a:prstGeom prst="rect">
            <a:avLst/>
          </a:prstGeom>
          <a:solidFill>
            <a:srgbClr val="F0F4F8"/>
          </a:solidFill>
          <a:ln w="9144">
            <a:solidFill>
              <a:srgbClr val="2C3E50"/>
            </a:solidFill>
            <a:prstDash val="dash"/>
          </a:ln>
        </p:spPr>
      </p:sp>
      <p:sp>
        <p:nvSpPr>
          <p:cNvPr id="14" name="Text 10"/>
          <p:cNvSpPr/>
          <p:nvPr/>
        </p:nvSpPr>
        <p:spPr>
          <a:xfrm>
            <a:off x="5372156" y="1781612"/>
            <a:ext cx="3128907" cy="385763"/>
          </a:xfrm>
          <a:prstGeom prst="rect">
            <a:avLst/>
          </a:prstGeom>
          <a:noFill/>
          <a:ln/>
        </p:spPr>
        <p:txBody>
          <a:bodyPr wrap="square" lIns="127508" tIns="127508" rIns="127508" bIns="127508" rtlCol="0" anchor="t">
            <a:spAutoFit/>
          </a:bodyPr>
          <a:lstStyle/>
          <a:p>
            <a:pPr algn="ctr" indent="0" marL="0">
              <a:buNone/>
            </a:pPr>
            <a:r>
              <a:rPr lang="en-US" sz="900" b="1" dirty="0">
                <a:solidFill>
                  <a:srgbClr val="34495E"/>
                </a:solidFill>
                <a:latin typeface="Montserrat Bold" pitchFamily="34" charset="0"/>
                <a:ea typeface="Montserrat Bold" pitchFamily="34" charset="-122"/>
                <a:cs typeface="Montserrat Bold" pitchFamily="34" charset="-120"/>
              </a:rPr>
              <a:t>Repository Description</a:t>
            </a:r>
            <a:endParaRPr lang="en-US" sz="900" dirty="0"/>
          </a:p>
        </p:txBody>
      </p:sp>
      <p:sp>
        <p:nvSpPr>
          <p:cNvPr id="15" name="Text 11"/>
          <p:cNvSpPr/>
          <p:nvPr/>
        </p:nvSpPr>
        <p:spPr>
          <a:xfrm>
            <a:off x="5372156" y="2231668"/>
            <a:ext cx="3128907" cy="139303"/>
          </a:xfrm>
          <a:prstGeom prst="rect">
            <a:avLst/>
          </a:prstGeom>
          <a:noFill/>
          <a:ln/>
        </p:spPr>
        <p:txBody>
          <a:bodyPr wrap="square" lIns="0" tIns="0" rIns="0" bIns="0" rtlCol="0" anchor="t">
            <a:spAutoFit/>
          </a:bodyPr>
          <a:lstStyle/>
          <a:p>
            <a:pPr algn="ctr" indent="0" marL="0">
              <a:buNone/>
            </a:pPr>
            <a:r>
              <a:rPr lang="en-US" sz="800" b="1" dirty="0">
                <a:solidFill>
                  <a:srgbClr val="E74C3C"/>
                </a:solidFill>
                <a:latin typeface="Montserrat Bold" pitchFamily="34" charset="0"/>
                <a:ea typeface="Montserrat Bold" pitchFamily="34" charset="-122"/>
                <a:cs typeface="Montserrat Bold" pitchFamily="34" charset="-120"/>
              </a:rPr>
              <a:t>[SEP]</a:t>
            </a:r>
            <a:endParaRPr lang="en-US" sz="800" dirty="0"/>
          </a:p>
        </p:txBody>
      </p:sp>
      <p:sp>
        <p:nvSpPr>
          <p:cNvPr id="16" name="Shape 12"/>
          <p:cNvSpPr/>
          <p:nvPr/>
        </p:nvSpPr>
        <p:spPr>
          <a:xfrm>
            <a:off x="5372156" y="2442409"/>
            <a:ext cx="3128907" cy="385763"/>
          </a:xfrm>
          <a:prstGeom prst="rect">
            <a:avLst/>
          </a:prstGeom>
          <a:solidFill>
            <a:srgbClr val="F0F4F8"/>
          </a:solidFill>
          <a:ln w="9144">
            <a:solidFill>
              <a:srgbClr val="2C3E50"/>
            </a:solidFill>
            <a:prstDash val="dash"/>
          </a:ln>
        </p:spPr>
      </p:sp>
      <p:sp>
        <p:nvSpPr>
          <p:cNvPr id="17" name="Text 13"/>
          <p:cNvSpPr/>
          <p:nvPr/>
        </p:nvSpPr>
        <p:spPr>
          <a:xfrm>
            <a:off x="5372156" y="2442409"/>
            <a:ext cx="3128907" cy="385763"/>
          </a:xfrm>
          <a:prstGeom prst="rect">
            <a:avLst/>
          </a:prstGeom>
          <a:noFill/>
          <a:ln/>
        </p:spPr>
        <p:txBody>
          <a:bodyPr wrap="square" lIns="127508" tIns="127508" rIns="127508" bIns="127508" rtlCol="0" anchor="t">
            <a:spAutoFit/>
          </a:bodyPr>
          <a:lstStyle/>
          <a:p>
            <a:pPr algn="ctr" indent="0" marL="0">
              <a:buNone/>
            </a:pPr>
            <a:r>
              <a:rPr lang="en-US" sz="900" b="1" dirty="0">
                <a:solidFill>
                  <a:srgbClr val="34495E"/>
                </a:solidFill>
                <a:latin typeface="Montserrat Bold" pitchFamily="34" charset="0"/>
                <a:ea typeface="Montserrat Bold" pitchFamily="34" charset="-122"/>
                <a:cs typeface="Montserrat Bold" pitchFamily="34" charset="-120"/>
              </a:rPr>
              <a:t>README Content</a:t>
            </a:r>
            <a:endParaRPr lang="en-US" sz="900" dirty="0"/>
          </a:p>
        </p:txBody>
      </p:sp>
      <p:pic>
        <p:nvPicPr>
          <p:cNvPr id="18" name="Image 1" descr="preencoded.png">    </p:cNvPr>
          <p:cNvPicPr>
            <a:picLocks noChangeAspect="1"/>
          </p:cNvPicPr>
          <p:nvPr/>
        </p:nvPicPr>
        <p:blipFill>
          <a:blip r:embed="rId2"/>
          <a:stretch>
            <a:fillRect/>
          </a:stretch>
        </p:blipFill>
        <p:spPr>
          <a:xfrm>
            <a:off x="6856242" y="3035340"/>
            <a:ext cx="160734" cy="214313"/>
          </a:xfrm>
          <a:prstGeom prst="rect">
            <a:avLst/>
          </a:prstGeom>
        </p:spPr>
      </p:pic>
      <p:sp>
        <p:nvSpPr>
          <p:cNvPr id="19" name="Shape 14"/>
          <p:cNvSpPr/>
          <p:nvPr/>
        </p:nvSpPr>
        <p:spPr>
          <a:xfrm>
            <a:off x="5372156" y="3392528"/>
            <a:ext cx="3128907" cy="385763"/>
          </a:xfrm>
          <a:prstGeom prst="rect">
            <a:avLst/>
          </a:prstGeom>
          <a:solidFill>
            <a:srgbClr val="2C3E50"/>
          </a:solidFill>
          <a:ln w="9144">
            <a:solidFill>
              <a:srgbClr val="2C3E50"/>
            </a:solidFill>
            <a:prstDash val="solid"/>
          </a:ln>
        </p:spPr>
      </p:sp>
      <p:sp>
        <p:nvSpPr>
          <p:cNvPr id="20" name="Text 15"/>
          <p:cNvSpPr/>
          <p:nvPr/>
        </p:nvSpPr>
        <p:spPr>
          <a:xfrm>
            <a:off x="5372156" y="3392528"/>
            <a:ext cx="3128907" cy="385763"/>
          </a:xfrm>
          <a:prstGeom prst="rect">
            <a:avLst/>
          </a:prstGeom>
          <a:noFill/>
          <a:ln/>
        </p:spPr>
        <p:txBody>
          <a:bodyPr wrap="square" lIns="127508" tIns="127508" rIns="127508" bIns="127508" rtlCol="0" anchor="t">
            <a:spAutoFit/>
          </a:bodyPr>
          <a:lstStyle/>
          <a:p>
            <a:pPr algn="ctr" indent="0" marL="0">
              <a:buNone/>
            </a:pPr>
            <a:r>
              <a:rPr lang="en-US" sz="900" b="1" dirty="0">
                <a:solidFill>
                  <a:srgbClr val="FFFFFF"/>
                </a:solidFill>
                <a:latin typeface="Montserrat Bold" pitchFamily="34" charset="0"/>
                <a:ea typeface="Montserrat Bold" pitchFamily="34" charset="-122"/>
                <a:cs typeface="Montserrat Bold" pitchFamily="34" charset="-120"/>
              </a:rPr>
              <a:t>Model Input Tensor</a:t>
            </a:r>
            <a:endParaRPr lang="en-US" sz="900" dirty="0"/>
          </a:p>
        </p:txBody>
      </p:sp>
      <p:sp>
        <p:nvSpPr>
          <p:cNvPr id="21" name="Text 16"/>
          <p:cNvSpPr/>
          <p:nvPr/>
        </p:nvSpPr>
        <p:spPr>
          <a:xfrm>
            <a:off x="5157843" y="4199772"/>
            <a:ext cx="3557532" cy="139303"/>
          </a:xfrm>
          <a:prstGeom prst="rect">
            <a:avLst/>
          </a:prstGeom>
          <a:noFill/>
          <a:ln/>
        </p:spPr>
        <p:txBody>
          <a:bodyPr wrap="square" lIns="0" tIns="0" rIns="0" bIns="0" rtlCol="0" anchor="t">
            <a:spAutoFit/>
          </a:bodyPr>
          <a:lstStyle/>
          <a:p>
            <a:pPr algn="ctr" indent="0" marL="0">
              <a:buNone/>
            </a:pPr>
            <a:r>
              <a:rPr lang="en-US" sz="850" i="1" dirty="0">
                <a:solidFill>
                  <a:srgbClr val="7F8C8D"/>
                </a:solidFill>
                <a:latin typeface="Montserrat" pitchFamily="34" charset="0"/>
                <a:ea typeface="Montserrat" pitchFamily="34" charset="-122"/>
                <a:cs typeface="Montserrat" pitchFamily="34" charset="-120"/>
              </a:rPr>
              <a:t>Max Sequence Length: 512 Tokens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828675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2C3E50"/>
                </a:solidFill>
                <a:latin typeface="Playfair Display Bold" pitchFamily="34" charset="0"/>
                <a:ea typeface="Playfair Display Bold" pitchFamily="34" charset="-122"/>
                <a:cs typeface="Playfair Display Bold" pitchFamily="34" charset="-120"/>
              </a:rPr>
              <a:t>The Iterative Experiment Journey: Macro F1 Progression</a:t>
            </a:r>
            <a:endParaRPr lang="en-US" sz="2450" dirty="0"/>
          </a:p>
        </p:txBody>
      </p:sp>
      <p:sp>
        <p:nvSpPr>
          <p:cNvPr id="5" name="Shape 1"/>
          <p:cNvSpPr/>
          <p:nvPr/>
        </p:nvSpPr>
        <p:spPr>
          <a:xfrm>
            <a:off x="428625" y="1680177"/>
            <a:ext cx="8286750" cy="2500313"/>
          </a:xfrm>
          <a:prstGeom prst="rect">
            <a:avLst/>
          </a:prstGeom>
          <a:solidFill>
            <a:srgbClr val="FFFFFF"/>
          </a:solidFill>
          <a:ln/>
        </p:spPr>
      </p:sp>
      <p:sp>
        <p:nvSpPr>
          <p:cNvPr id="6" name="Shape 2"/>
          <p:cNvSpPr/>
          <p:nvPr/>
        </p:nvSpPr>
        <p:spPr>
          <a:xfrm>
            <a:off x="428625" y="4166202"/>
            <a:ext cx="8286750" cy="14288"/>
          </a:xfrm>
          <a:prstGeom prst="rect">
            <a:avLst/>
          </a:prstGeom>
          <a:solidFill>
            <a:srgbClr val="E74C3C"/>
          </a:solidFill>
          <a:ln/>
        </p:spPr>
      </p:sp>
      <p:pic>
        <p:nvPicPr>
          <p:cNvPr id="7" name="Image 1" descr="preencoded.png">    </p:cNvPr>
          <p:cNvPicPr>
            <a:picLocks noChangeAspect="1"/>
          </p:cNvPicPr>
          <p:nvPr/>
        </p:nvPicPr>
        <p:blipFill>
          <a:blip r:embed="rId2"/>
          <a:stretch>
            <a:fillRect/>
          </a:stretch>
        </p:blipFill>
        <p:spPr>
          <a:xfrm>
            <a:off x="714375" y="1965927"/>
            <a:ext cx="7715250" cy="1914525"/>
          </a:xfrm>
          <a:prstGeom prst="rect">
            <a:avLst/>
          </a:prstGeom>
        </p:spPr>
      </p:pic>
      <p:sp>
        <p:nvSpPr>
          <p:cNvPr id="8" name="Text 3"/>
          <p:cNvSpPr/>
          <p:nvPr/>
        </p:nvSpPr>
        <p:spPr>
          <a:xfrm>
            <a:off x="428625" y="4394802"/>
            <a:ext cx="1491593" cy="157163"/>
          </a:xfrm>
          <a:prstGeom prst="rect">
            <a:avLst/>
          </a:prstGeom>
          <a:noFill/>
          <a:ln/>
        </p:spPr>
        <p:txBody>
          <a:bodyPr wrap="square" lIns="0" tIns="0" rIns="0" bIns="0" rtlCol="0" anchor="t">
            <a:spAutoFit/>
          </a:bodyPr>
          <a:lstStyle/>
          <a:p>
            <a:pPr algn="ctr" indent="0" marL="0">
              <a:buNone/>
            </a:pPr>
            <a:r>
              <a:rPr lang="en-US" sz="900" b="1" dirty="0">
                <a:solidFill>
                  <a:srgbClr val="2C3E50"/>
                </a:solidFill>
                <a:latin typeface="Montserrat Bold" pitchFamily="34" charset="0"/>
                <a:ea typeface="Montserrat Bold" pitchFamily="34" charset="-122"/>
                <a:cs typeface="Montserrat Bold" pitchFamily="34" charset="-120"/>
              </a:rPr>
              <a:t>Exp 1: Baseline</a:t>
            </a:r>
            <a:endParaRPr lang="en-US" sz="900" dirty="0"/>
          </a:p>
        </p:txBody>
      </p:sp>
      <p:sp>
        <p:nvSpPr>
          <p:cNvPr id="9" name="Text 4"/>
          <p:cNvSpPr/>
          <p:nvPr/>
        </p:nvSpPr>
        <p:spPr>
          <a:xfrm>
            <a:off x="428625" y="4623402"/>
            <a:ext cx="1491593" cy="280002"/>
          </a:xfrm>
          <a:prstGeom prst="rect">
            <a:avLst/>
          </a:prstGeom>
          <a:noFill/>
          <a:ln/>
        </p:spPr>
        <p:txBody>
          <a:bodyPr wrap="square" lIns="0" tIns="0" rIns="0" bIns="0" rtlCol="0" anchor="t">
            <a:spAutoFit/>
          </a:bodyPr>
          <a:lstStyle/>
          <a:p>
            <a:pPr algn="ctr" indent="0" marL="0">
              <a:lnSpc>
                <a:spcPct val="112000"/>
              </a:lnSpc>
              <a:buNone/>
            </a:pPr>
            <a:r>
              <a:rPr lang="en-US" sz="750" dirty="0">
                <a:solidFill>
                  <a:srgbClr val="7F8C8D"/>
                </a:solidFill>
                <a:latin typeface="Montserrat" pitchFamily="34" charset="0"/>
                <a:ea typeface="Montserrat" pitchFamily="34" charset="-122"/>
                <a:cs typeface="Montserrat" pitchFamily="34" charset="-120"/>
              </a:rPr>
              <a:t>5 Classes, standard BERT. Heavily biased toward AI.</a:t>
            </a:r>
            <a:endParaRPr lang="en-US" sz="750" dirty="0"/>
          </a:p>
        </p:txBody>
      </p:sp>
      <p:sp>
        <p:nvSpPr>
          <p:cNvPr id="10" name="Text 5"/>
          <p:cNvSpPr/>
          <p:nvPr/>
        </p:nvSpPr>
        <p:spPr>
          <a:xfrm>
            <a:off x="2127414" y="4394802"/>
            <a:ext cx="1491593" cy="157163"/>
          </a:xfrm>
          <a:prstGeom prst="rect">
            <a:avLst/>
          </a:prstGeom>
          <a:noFill/>
          <a:ln/>
        </p:spPr>
        <p:txBody>
          <a:bodyPr wrap="square" lIns="0" tIns="0" rIns="0" bIns="0" rtlCol="0" anchor="t">
            <a:spAutoFit/>
          </a:bodyPr>
          <a:lstStyle/>
          <a:p>
            <a:pPr algn="ctr" indent="0" marL="0">
              <a:buNone/>
            </a:pPr>
            <a:r>
              <a:rPr lang="en-US" sz="900" b="1" dirty="0">
                <a:solidFill>
                  <a:srgbClr val="2C3E50"/>
                </a:solidFill>
                <a:latin typeface="Montserrat Bold" pitchFamily="34" charset="0"/>
                <a:ea typeface="Montserrat Bold" pitchFamily="34" charset="-122"/>
                <a:cs typeface="Montserrat Bold" pitchFamily="34" charset="-120"/>
              </a:rPr>
              <a:t>Exp 2: LoRA</a:t>
            </a:r>
            <a:endParaRPr lang="en-US" sz="900" dirty="0"/>
          </a:p>
        </p:txBody>
      </p:sp>
      <p:sp>
        <p:nvSpPr>
          <p:cNvPr id="11" name="Text 6"/>
          <p:cNvSpPr/>
          <p:nvPr/>
        </p:nvSpPr>
        <p:spPr>
          <a:xfrm>
            <a:off x="2127414" y="4623402"/>
            <a:ext cx="1491593" cy="280002"/>
          </a:xfrm>
          <a:prstGeom prst="rect">
            <a:avLst/>
          </a:prstGeom>
          <a:noFill/>
          <a:ln/>
        </p:spPr>
        <p:txBody>
          <a:bodyPr wrap="square" lIns="0" tIns="0" rIns="0" bIns="0" rtlCol="0" anchor="t">
            <a:spAutoFit/>
          </a:bodyPr>
          <a:lstStyle/>
          <a:p>
            <a:pPr algn="ctr" indent="0" marL="0">
              <a:lnSpc>
                <a:spcPct val="112000"/>
              </a:lnSpc>
              <a:buNone/>
            </a:pPr>
            <a:r>
              <a:rPr lang="en-US" sz="750" dirty="0">
                <a:solidFill>
                  <a:srgbClr val="7F8C8D"/>
                </a:solidFill>
                <a:latin typeface="Montserrat" pitchFamily="34" charset="0"/>
                <a:ea typeface="Montserrat" pitchFamily="34" charset="-122"/>
                <a:cs typeface="Montserrat" pitchFamily="34" charset="-120"/>
              </a:rPr>
              <a:t>PEFT trial. Underfitting due to small dataset size.</a:t>
            </a:r>
            <a:endParaRPr lang="en-US" sz="750" dirty="0"/>
          </a:p>
        </p:txBody>
      </p:sp>
      <p:sp>
        <p:nvSpPr>
          <p:cNvPr id="12" name="Text 7"/>
          <p:cNvSpPr/>
          <p:nvPr/>
        </p:nvSpPr>
        <p:spPr>
          <a:xfrm>
            <a:off x="3826204" y="4394802"/>
            <a:ext cx="1491593" cy="157163"/>
          </a:xfrm>
          <a:prstGeom prst="rect">
            <a:avLst/>
          </a:prstGeom>
          <a:noFill/>
          <a:ln/>
        </p:spPr>
        <p:txBody>
          <a:bodyPr wrap="square" lIns="0" tIns="0" rIns="0" bIns="0" rtlCol="0" anchor="t">
            <a:spAutoFit/>
          </a:bodyPr>
          <a:lstStyle/>
          <a:p>
            <a:pPr algn="ctr" indent="0" marL="0">
              <a:buNone/>
            </a:pPr>
            <a:r>
              <a:rPr lang="en-US" sz="900" b="1" dirty="0">
                <a:solidFill>
                  <a:srgbClr val="2C3E50"/>
                </a:solidFill>
                <a:latin typeface="Montserrat Bold" pitchFamily="34" charset="0"/>
                <a:ea typeface="Montserrat Bold" pitchFamily="34" charset="-122"/>
                <a:cs typeface="Montserrat Bold" pitchFamily="34" charset="-120"/>
              </a:rPr>
              <a:t>Exp 3: Merging</a:t>
            </a:r>
            <a:endParaRPr lang="en-US" sz="900" dirty="0"/>
          </a:p>
        </p:txBody>
      </p:sp>
      <p:sp>
        <p:nvSpPr>
          <p:cNvPr id="13" name="Text 8"/>
          <p:cNvSpPr/>
          <p:nvPr/>
        </p:nvSpPr>
        <p:spPr>
          <a:xfrm>
            <a:off x="3826204" y="4623402"/>
            <a:ext cx="1491593" cy="280002"/>
          </a:xfrm>
          <a:prstGeom prst="rect">
            <a:avLst/>
          </a:prstGeom>
          <a:noFill/>
          <a:ln/>
        </p:spPr>
        <p:txBody>
          <a:bodyPr wrap="square" lIns="0" tIns="0" rIns="0" bIns="0" rtlCol="0" anchor="t">
            <a:spAutoFit/>
          </a:bodyPr>
          <a:lstStyle/>
          <a:p>
            <a:pPr algn="ctr" indent="0" marL="0">
              <a:lnSpc>
                <a:spcPct val="112000"/>
              </a:lnSpc>
              <a:buNone/>
            </a:pPr>
            <a:r>
              <a:rPr lang="en-US" sz="750" dirty="0">
                <a:solidFill>
                  <a:srgbClr val="7F8C8D"/>
                </a:solidFill>
                <a:latin typeface="Montserrat" pitchFamily="34" charset="0"/>
                <a:ea typeface="Montserrat" pitchFamily="34" charset="-122"/>
                <a:cs typeface="Montserrat" pitchFamily="34" charset="-120"/>
              </a:rPr>
              <a:t>3 Classes + Weights. Significant jump in stability.</a:t>
            </a:r>
            <a:endParaRPr lang="en-US" sz="750" dirty="0"/>
          </a:p>
        </p:txBody>
      </p:sp>
      <p:sp>
        <p:nvSpPr>
          <p:cNvPr id="14" name="Text 9"/>
          <p:cNvSpPr/>
          <p:nvPr/>
        </p:nvSpPr>
        <p:spPr>
          <a:xfrm>
            <a:off x="5524993" y="4394802"/>
            <a:ext cx="1491593" cy="157163"/>
          </a:xfrm>
          <a:prstGeom prst="rect">
            <a:avLst/>
          </a:prstGeom>
          <a:noFill/>
          <a:ln/>
        </p:spPr>
        <p:txBody>
          <a:bodyPr wrap="square" lIns="0" tIns="0" rIns="0" bIns="0" rtlCol="0" anchor="t">
            <a:spAutoFit/>
          </a:bodyPr>
          <a:lstStyle/>
          <a:p>
            <a:pPr algn="ctr" indent="0" marL="0">
              <a:buNone/>
            </a:pPr>
            <a:r>
              <a:rPr lang="en-US" sz="900" b="1" dirty="0">
                <a:solidFill>
                  <a:srgbClr val="2C3E50"/>
                </a:solidFill>
                <a:latin typeface="Montserrat Bold" pitchFamily="34" charset="0"/>
                <a:ea typeface="Montserrat Bold" pitchFamily="34" charset="-122"/>
                <a:cs typeface="Montserrat Bold" pitchFamily="34" charset="-120"/>
              </a:rPr>
              <a:t>Exp 4: Focal Loss</a:t>
            </a:r>
            <a:endParaRPr lang="en-US" sz="900" dirty="0"/>
          </a:p>
        </p:txBody>
      </p:sp>
      <p:sp>
        <p:nvSpPr>
          <p:cNvPr id="15" name="Text 10"/>
          <p:cNvSpPr/>
          <p:nvPr/>
        </p:nvSpPr>
        <p:spPr>
          <a:xfrm>
            <a:off x="5524993" y="4623402"/>
            <a:ext cx="1491593" cy="280002"/>
          </a:xfrm>
          <a:prstGeom prst="rect">
            <a:avLst/>
          </a:prstGeom>
          <a:noFill/>
          <a:ln/>
        </p:spPr>
        <p:txBody>
          <a:bodyPr wrap="square" lIns="0" tIns="0" rIns="0" bIns="0" rtlCol="0" anchor="t">
            <a:spAutoFit/>
          </a:bodyPr>
          <a:lstStyle/>
          <a:p>
            <a:pPr algn="ctr" indent="0" marL="0">
              <a:lnSpc>
                <a:spcPct val="112000"/>
              </a:lnSpc>
              <a:buNone/>
            </a:pPr>
            <a:r>
              <a:rPr lang="en-US" sz="750" dirty="0">
                <a:solidFill>
                  <a:srgbClr val="7F8C8D"/>
                </a:solidFill>
                <a:latin typeface="Montserrat" pitchFamily="34" charset="0"/>
                <a:ea typeface="Montserrat" pitchFamily="34" charset="-122"/>
                <a:cs typeface="Montserrat" pitchFamily="34" charset="-120"/>
              </a:rPr>
              <a:t>Stabilized training &amp; reduced AI dominance.</a:t>
            </a:r>
            <a:endParaRPr lang="en-US" sz="750" dirty="0"/>
          </a:p>
        </p:txBody>
      </p:sp>
      <p:sp>
        <p:nvSpPr>
          <p:cNvPr id="16" name="Text 11"/>
          <p:cNvSpPr/>
          <p:nvPr/>
        </p:nvSpPr>
        <p:spPr>
          <a:xfrm>
            <a:off x="7223782" y="4394802"/>
            <a:ext cx="1491593" cy="157163"/>
          </a:xfrm>
          <a:prstGeom prst="rect">
            <a:avLst/>
          </a:prstGeom>
          <a:noFill/>
          <a:ln/>
        </p:spPr>
        <p:txBody>
          <a:bodyPr wrap="square" lIns="0" tIns="0" rIns="0" bIns="0" rtlCol="0" anchor="t">
            <a:spAutoFit/>
          </a:bodyPr>
          <a:lstStyle/>
          <a:p>
            <a:pPr algn="ctr" indent="0" marL="0">
              <a:buNone/>
            </a:pPr>
            <a:r>
              <a:rPr lang="en-US" sz="900" b="1" dirty="0">
                <a:solidFill>
                  <a:srgbClr val="2C3E50"/>
                </a:solidFill>
                <a:latin typeface="Montserrat Bold" pitchFamily="34" charset="0"/>
                <a:ea typeface="Montserrat Bold" pitchFamily="34" charset="-122"/>
                <a:cs typeface="Montserrat Bold" pitchFamily="34" charset="-120"/>
              </a:rPr>
              <a:t>Exp 5: Final Best</a:t>
            </a:r>
            <a:endParaRPr lang="en-US" sz="900" dirty="0"/>
          </a:p>
        </p:txBody>
      </p:sp>
      <p:sp>
        <p:nvSpPr>
          <p:cNvPr id="17" name="Text 12"/>
          <p:cNvSpPr/>
          <p:nvPr/>
        </p:nvSpPr>
        <p:spPr>
          <a:xfrm>
            <a:off x="7223782" y="4623402"/>
            <a:ext cx="1491593" cy="280002"/>
          </a:xfrm>
          <a:prstGeom prst="rect">
            <a:avLst/>
          </a:prstGeom>
          <a:noFill/>
          <a:ln/>
        </p:spPr>
        <p:txBody>
          <a:bodyPr wrap="square" lIns="0" tIns="0" rIns="0" bIns="0" rtlCol="0" anchor="t">
            <a:spAutoFit/>
          </a:bodyPr>
          <a:lstStyle/>
          <a:p>
            <a:pPr algn="ctr" indent="0" marL="0">
              <a:lnSpc>
                <a:spcPct val="112000"/>
              </a:lnSpc>
              <a:buNone/>
            </a:pPr>
            <a:r>
              <a:rPr lang="en-US" sz="750" dirty="0">
                <a:solidFill>
                  <a:srgbClr val="7F8C8D"/>
                </a:solidFill>
                <a:latin typeface="Montserrat" pitchFamily="34" charset="0"/>
                <a:ea typeface="Montserrat" pitchFamily="34" charset="-122"/>
                <a:cs typeface="Montserrat" pitchFamily="34" charset="-120"/>
              </a:rPr>
              <a:t>Oversampling + Threshold Tuning. Peak F1: 0.8198.</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4440008" cy="1234390"/>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2C3E50"/>
                </a:solidFill>
                <a:latin typeface="Playfair Display Bold" pitchFamily="34" charset="0"/>
                <a:ea typeface="Playfair Display Bold" pitchFamily="34" charset="-122"/>
                <a:cs typeface="Playfair Display Bold" pitchFamily="34" charset="-120"/>
              </a:rPr>
              <a:t>Why Accuracy is Misleading and LoRA is Not Always Best</a:t>
            </a:r>
            <a:endParaRPr lang="en-US" sz="2450" dirty="0"/>
          </a:p>
        </p:txBody>
      </p:sp>
      <p:pic>
        <p:nvPicPr>
          <p:cNvPr id="5" name="Image 1" descr="preencoded.png">    </p:cNvPr>
          <p:cNvPicPr>
            <a:picLocks noChangeAspect="1"/>
          </p:cNvPicPr>
          <p:nvPr/>
        </p:nvPicPr>
        <p:blipFill>
          <a:blip r:embed="rId2"/>
          <a:stretch>
            <a:fillRect/>
          </a:stretch>
        </p:blipFill>
        <p:spPr>
          <a:xfrm>
            <a:off x="428625" y="1967517"/>
            <a:ext cx="171450" cy="171450"/>
          </a:xfrm>
          <a:prstGeom prst="rect">
            <a:avLst/>
          </a:prstGeom>
        </p:spPr>
      </p:pic>
      <p:sp>
        <p:nvSpPr>
          <p:cNvPr id="6" name="Text 1"/>
          <p:cNvSpPr/>
          <p:nvPr/>
        </p:nvSpPr>
        <p:spPr>
          <a:xfrm>
            <a:off x="707231" y="1948765"/>
            <a:ext cx="2189559" cy="208955"/>
          </a:xfrm>
          <a:prstGeom prst="rect">
            <a:avLst/>
          </a:prstGeom>
          <a:noFill/>
          <a:ln/>
        </p:spPr>
        <p:txBody>
          <a:bodyPr wrap="square" lIns="0" tIns="0" rIns="0" bIns="0" rtlCol="0" anchor="t">
            <a:spAutoFit/>
          </a:bodyPr>
          <a:lstStyle/>
          <a:p>
            <a:pPr algn="l" indent="0" marL="0">
              <a:buNone/>
            </a:pPr>
            <a:r>
              <a:rPr lang="en-US" sz="1200" b="1" dirty="0">
                <a:solidFill>
                  <a:srgbClr val="E74C3C"/>
                </a:solidFill>
                <a:latin typeface="Montserrat Bold" pitchFamily="34" charset="0"/>
                <a:ea typeface="Montserrat Bold" pitchFamily="34" charset="-122"/>
                <a:cs typeface="Montserrat Bold" pitchFamily="34" charset="-120"/>
              </a:rPr>
              <a:t>Exp 1: The Accuracy Trap</a:t>
            </a:r>
            <a:endParaRPr lang="en-US" sz="1200" dirty="0"/>
          </a:p>
        </p:txBody>
      </p:sp>
      <p:sp>
        <p:nvSpPr>
          <p:cNvPr id="7" name="Text 2"/>
          <p:cNvSpPr/>
          <p:nvPr/>
        </p:nvSpPr>
        <p:spPr>
          <a:xfrm>
            <a:off x="428625" y="2264876"/>
            <a:ext cx="4440008"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4495E"/>
                </a:solidFill>
                <a:latin typeface="Montserrat" pitchFamily="34" charset="0"/>
                <a:ea typeface="Montserrat" pitchFamily="34" charset="-122"/>
                <a:cs typeface="Montserrat" pitchFamily="34" charset="-120"/>
              </a:rPr>
              <a:t>87% Accuracy was misleading due to 57% AI class dominance. Macro F1 (0.68) exposed poor recall in Web and Data Science domains.</a:t>
            </a:r>
            <a:endParaRPr lang="en-US" sz="1050" dirty="0"/>
          </a:p>
        </p:txBody>
      </p:sp>
      <p:pic>
        <p:nvPicPr>
          <p:cNvPr id="8" name="Image 2" descr="preencoded.png">    </p:cNvPr>
          <p:cNvPicPr>
            <a:picLocks noChangeAspect="1"/>
          </p:cNvPicPr>
          <p:nvPr/>
        </p:nvPicPr>
        <p:blipFill>
          <a:blip r:embed="rId3"/>
          <a:stretch>
            <a:fillRect/>
          </a:stretch>
        </p:blipFill>
        <p:spPr>
          <a:xfrm>
            <a:off x="428625" y="3069441"/>
            <a:ext cx="171450" cy="171450"/>
          </a:xfrm>
          <a:prstGeom prst="rect">
            <a:avLst/>
          </a:prstGeom>
        </p:spPr>
      </p:pic>
      <p:sp>
        <p:nvSpPr>
          <p:cNvPr id="9" name="Text 3"/>
          <p:cNvSpPr/>
          <p:nvPr/>
        </p:nvSpPr>
        <p:spPr>
          <a:xfrm>
            <a:off x="707231" y="3050688"/>
            <a:ext cx="2123480" cy="208955"/>
          </a:xfrm>
          <a:prstGeom prst="rect">
            <a:avLst/>
          </a:prstGeom>
          <a:noFill/>
          <a:ln/>
        </p:spPr>
        <p:txBody>
          <a:bodyPr wrap="square" lIns="0" tIns="0" rIns="0" bIns="0" rtlCol="0" anchor="t">
            <a:spAutoFit/>
          </a:bodyPr>
          <a:lstStyle/>
          <a:p>
            <a:pPr algn="l" indent="0" marL="0">
              <a:buNone/>
            </a:pPr>
            <a:r>
              <a:rPr lang="en-US" sz="1200" b="1" dirty="0">
                <a:solidFill>
                  <a:srgbClr val="E74C3C"/>
                </a:solidFill>
                <a:latin typeface="Montserrat Bold" pitchFamily="34" charset="0"/>
                <a:ea typeface="Montserrat Bold" pitchFamily="34" charset="-122"/>
                <a:cs typeface="Montserrat Bold" pitchFamily="34" charset="-120"/>
              </a:rPr>
              <a:t>Exp 2: LoRA Constraints</a:t>
            </a:r>
            <a:endParaRPr lang="en-US" sz="1200" dirty="0"/>
          </a:p>
        </p:txBody>
      </p:sp>
      <p:sp>
        <p:nvSpPr>
          <p:cNvPr id="10" name="Text 4"/>
          <p:cNvSpPr/>
          <p:nvPr/>
        </p:nvSpPr>
        <p:spPr>
          <a:xfrm>
            <a:off x="428625" y="3366799"/>
            <a:ext cx="4440008"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4495E"/>
                </a:solidFill>
                <a:latin typeface="Montserrat" pitchFamily="34" charset="0"/>
                <a:ea typeface="Montserrat" pitchFamily="34" charset="-122"/>
                <a:cs typeface="Montserrat" pitchFamily="34" charset="-120"/>
              </a:rPr>
              <a:t>Rank r=16 restricted model capacity too much for ~550 samples. Performance dropped (F1: 0.61) as the model failed to capture nuanced vocabulary.</a:t>
            </a:r>
            <a:endParaRPr lang="en-US" sz="1050" dirty="0"/>
          </a:p>
        </p:txBody>
      </p:sp>
      <p:pic>
        <p:nvPicPr>
          <p:cNvPr id="11" name="Image 3" descr="preencoded.png">    </p:cNvPr>
          <p:cNvPicPr>
            <a:picLocks noChangeAspect="1"/>
          </p:cNvPicPr>
          <p:nvPr/>
        </p:nvPicPr>
        <p:blipFill>
          <a:blip r:embed="rId4"/>
          <a:stretch>
            <a:fillRect/>
          </a:stretch>
        </p:blipFill>
        <p:spPr>
          <a:xfrm>
            <a:off x="428625" y="4171364"/>
            <a:ext cx="128588" cy="171450"/>
          </a:xfrm>
          <a:prstGeom prst="rect">
            <a:avLst/>
          </a:prstGeom>
        </p:spPr>
      </p:pic>
      <p:sp>
        <p:nvSpPr>
          <p:cNvPr id="12" name="Text 5"/>
          <p:cNvSpPr/>
          <p:nvPr/>
        </p:nvSpPr>
        <p:spPr>
          <a:xfrm>
            <a:off x="664369" y="4152612"/>
            <a:ext cx="1269802" cy="208955"/>
          </a:xfrm>
          <a:prstGeom prst="rect">
            <a:avLst/>
          </a:prstGeom>
          <a:noFill/>
          <a:ln/>
        </p:spPr>
        <p:txBody>
          <a:bodyPr wrap="none" lIns="0" tIns="0" rIns="0" bIns="0" rtlCol="0" anchor="t">
            <a:spAutoFit/>
          </a:bodyPr>
          <a:lstStyle/>
          <a:p>
            <a:pPr algn="l" indent="0" marL="0">
              <a:buNone/>
            </a:pPr>
            <a:r>
              <a:rPr lang="en-US" sz="1200" b="1" dirty="0">
                <a:solidFill>
                  <a:srgbClr val="E74C3C"/>
                </a:solidFill>
                <a:latin typeface="Montserrat Bold" pitchFamily="34" charset="0"/>
                <a:ea typeface="Montserrat Bold" pitchFamily="34" charset="-122"/>
                <a:cs typeface="Montserrat Bold" pitchFamily="34" charset="-120"/>
              </a:rPr>
              <a:t>Key Takeaway</a:t>
            </a:r>
            <a:endParaRPr lang="en-US" sz="1200" dirty="0"/>
          </a:p>
        </p:txBody>
      </p:sp>
      <p:sp>
        <p:nvSpPr>
          <p:cNvPr id="13" name="Text 6"/>
          <p:cNvSpPr/>
          <p:nvPr/>
        </p:nvSpPr>
        <p:spPr>
          <a:xfrm>
            <a:off x="428625" y="4468723"/>
            <a:ext cx="4440008"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4495E"/>
                </a:solidFill>
                <a:latin typeface="Montserrat" pitchFamily="34" charset="0"/>
                <a:ea typeface="Montserrat" pitchFamily="34" charset="-122"/>
                <a:cs typeface="Montserrat" pitchFamily="34" charset="-120"/>
              </a:rPr>
              <a:t>Full fine-tuning is necessary for small-scale datasets to ensure sufficient feature extraction and domain adaptation.</a:t>
            </a:r>
            <a:endParaRPr lang="en-US" sz="1050" dirty="0"/>
          </a:p>
        </p:txBody>
      </p:sp>
      <p:sp>
        <p:nvSpPr>
          <p:cNvPr id="14" name="Shape 7"/>
          <p:cNvSpPr/>
          <p:nvPr/>
        </p:nvSpPr>
        <p:spPr>
          <a:xfrm>
            <a:off x="5329265" y="1394817"/>
            <a:ext cx="3214688" cy="2500313"/>
          </a:xfrm>
          <a:prstGeom prst="rect">
            <a:avLst/>
          </a:prstGeom>
          <a:solidFill>
            <a:srgbClr val="FFFFFF"/>
          </a:solidFill>
          <a:ln/>
        </p:spPr>
      </p:sp>
      <p:pic>
        <p:nvPicPr>
          <p:cNvPr id="15" name="Image 4" descr="preencoded.png">    </p:cNvPr>
          <p:cNvPicPr>
            <a:picLocks noChangeAspect="1"/>
          </p:cNvPicPr>
          <p:nvPr/>
        </p:nvPicPr>
        <p:blipFill>
          <a:blip r:embed="rId5"/>
          <a:stretch>
            <a:fillRect/>
          </a:stretch>
        </p:blipFill>
        <p:spPr>
          <a:xfrm>
            <a:off x="5472140" y="1537692"/>
            <a:ext cx="2928938" cy="2214563"/>
          </a:xfrm>
          <a:prstGeom prst="rect">
            <a:avLst/>
          </a:prstGeom>
        </p:spPr>
      </p:pic>
      <p:sp>
        <p:nvSpPr>
          <p:cNvPr id="16" name="Text 8"/>
          <p:cNvSpPr/>
          <p:nvPr/>
        </p:nvSpPr>
        <p:spPr>
          <a:xfrm>
            <a:off x="5946307" y="4038005"/>
            <a:ext cx="1980605" cy="139303"/>
          </a:xfrm>
          <a:prstGeom prst="rect">
            <a:avLst/>
          </a:prstGeom>
          <a:noFill/>
          <a:ln/>
        </p:spPr>
        <p:txBody>
          <a:bodyPr wrap="square" lIns="0" tIns="0" rIns="0" bIns="0" rtlCol="0" anchor="t">
            <a:spAutoFit/>
          </a:bodyPr>
          <a:lstStyle/>
          <a:p>
            <a:pPr algn="ctr" indent="0" marL="0">
              <a:buNone/>
            </a:pPr>
            <a:r>
              <a:rPr lang="en-US" sz="850" dirty="0">
                <a:solidFill>
                  <a:srgbClr val="7F8C8D"/>
                </a:solidFill>
                <a:latin typeface="Montserrat" pitchFamily="34" charset="0"/>
                <a:ea typeface="Montserrat" pitchFamily="34" charset="-122"/>
                <a:cs typeface="Montserrat" pitchFamily="34" charset="-120"/>
              </a:rPr>
              <a:t>Comparison: Accuracy vs. Macro F1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3998770" cy="1234390"/>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2C3E50"/>
                </a:solidFill>
                <a:latin typeface="Playfair Display Bold" pitchFamily="34" charset="0"/>
                <a:ea typeface="Playfair Display Bold" pitchFamily="34" charset="-122"/>
                <a:cs typeface="Playfair Display Bold" pitchFamily="34" charset="-120"/>
              </a:rPr>
              <a:t>Reducing Variance through Targeted Class Consolidation</a:t>
            </a:r>
            <a:endParaRPr lang="en-US" sz="2450" dirty="0"/>
          </a:p>
        </p:txBody>
      </p:sp>
      <p:sp>
        <p:nvSpPr>
          <p:cNvPr id="5" name="Text 1"/>
          <p:cNvSpPr/>
          <p:nvPr/>
        </p:nvSpPr>
        <p:spPr>
          <a:xfrm>
            <a:off x="428625" y="1948765"/>
            <a:ext cx="3998770" cy="208955"/>
          </a:xfrm>
          <a:prstGeom prst="rect">
            <a:avLst/>
          </a:prstGeom>
          <a:noFill/>
          <a:ln/>
        </p:spPr>
        <p:txBody>
          <a:bodyPr wrap="square" lIns="0" tIns="0" rIns="0" bIns="0" rtlCol="0" anchor="t">
            <a:spAutoFit/>
          </a:bodyPr>
          <a:lstStyle/>
          <a:p>
            <a:pPr algn="l" indent="0" marL="0">
              <a:buNone/>
            </a:pPr>
            <a:r>
              <a:rPr lang="en-US" sz="1200" b="1" spc="1" kern="0" dirty="0">
                <a:solidFill>
                  <a:srgbClr val="E74C3C"/>
                </a:solidFill>
                <a:latin typeface="Montserrat Bold" pitchFamily="34" charset="0"/>
                <a:ea typeface="Montserrat Bold" pitchFamily="34" charset="-122"/>
                <a:cs typeface="Montserrat Bold" pitchFamily="34" charset="-120"/>
              </a:rPr>
              <a:t>THE STRATEGY</a:t>
            </a:r>
            <a:endParaRPr lang="en-US" sz="1200" dirty="0"/>
          </a:p>
        </p:txBody>
      </p:sp>
      <p:sp>
        <p:nvSpPr>
          <p:cNvPr id="6" name="Text 2"/>
          <p:cNvSpPr/>
          <p:nvPr/>
        </p:nvSpPr>
        <p:spPr>
          <a:xfrm>
            <a:off x="428625" y="2264876"/>
            <a:ext cx="3998770"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4495E"/>
                </a:solidFill>
                <a:latin typeface="Montserrat" pitchFamily="34" charset="0"/>
                <a:ea typeface="Montserrat" pitchFamily="34" charset="-122"/>
                <a:cs typeface="Montserrat" pitchFamily="34" charset="-120"/>
              </a:rPr>
              <a:t>Merged </a:t>
            </a:r>
            <a:r>
              <a:rPr lang="en-US" sz="1000" b="1" dirty="0">
                <a:solidFill>
                  <a:srgbClr val="34495E"/>
                </a:solidFill>
                <a:latin typeface="Montserrat Bold" pitchFamily="34" charset="0"/>
                <a:ea typeface="Montserrat Bold" pitchFamily="34" charset="-122"/>
                <a:cs typeface="Montserrat Bold" pitchFamily="34" charset="-120"/>
              </a:rPr>
              <a:t>Data Science</a:t>
            </a:r>
            <a:r>
              <a:rPr lang="en-US" sz="1050" dirty="0">
                <a:solidFill>
                  <a:srgbClr val="34495E"/>
                </a:solidFill>
                <a:latin typeface="Montserrat" pitchFamily="34" charset="0"/>
                <a:ea typeface="Montserrat" pitchFamily="34" charset="-122"/>
                <a:cs typeface="Montserrat" pitchFamily="34" charset="-120"/>
              </a:rPr>
              <a:t> into </a:t>
            </a:r>
            <a:r>
              <a:rPr lang="en-US" sz="1000" b="1" dirty="0">
                <a:solidFill>
                  <a:srgbClr val="34495E"/>
                </a:solidFill>
                <a:latin typeface="Montserrat Bold" pitchFamily="34" charset="0"/>
                <a:ea typeface="Montserrat Bold" pitchFamily="34" charset="-122"/>
                <a:cs typeface="Montserrat Bold" pitchFamily="34" charset="-120"/>
              </a:rPr>
              <a:t>AI</a:t>
            </a:r>
            <a:r>
              <a:rPr lang="en-US" sz="1050" dirty="0">
                <a:solidFill>
                  <a:srgbClr val="34495E"/>
                </a:solidFill>
                <a:latin typeface="Montserrat" pitchFamily="34" charset="0"/>
                <a:ea typeface="Montserrat" pitchFamily="34" charset="-122"/>
                <a:cs typeface="Montserrat" pitchFamily="34" charset="-120"/>
              </a:rPr>
              <a:t> and </a:t>
            </a:r>
            <a:r>
              <a:rPr lang="en-US" sz="1000" b="1" dirty="0">
                <a:solidFill>
                  <a:srgbClr val="34495E"/>
                </a:solidFill>
                <a:latin typeface="Montserrat Bold" pitchFamily="34" charset="0"/>
                <a:ea typeface="Montserrat Bold" pitchFamily="34" charset="-122"/>
                <a:cs typeface="Montserrat Bold" pitchFamily="34" charset="-120"/>
              </a:rPr>
              <a:t>DevOps</a:t>
            </a:r>
            <a:r>
              <a:rPr lang="en-US" sz="1050" dirty="0">
                <a:solidFill>
                  <a:srgbClr val="34495E"/>
                </a:solidFill>
                <a:latin typeface="Montserrat" pitchFamily="34" charset="0"/>
                <a:ea typeface="Montserrat" pitchFamily="34" charset="-122"/>
                <a:cs typeface="Montserrat" pitchFamily="34" charset="-120"/>
              </a:rPr>
              <a:t> into </a:t>
            </a:r>
            <a:r>
              <a:rPr lang="en-US" sz="1000" b="1" dirty="0">
                <a:solidFill>
                  <a:srgbClr val="34495E"/>
                </a:solidFill>
                <a:latin typeface="Montserrat Bold" pitchFamily="34" charset="0"/>
                <a:ea typeface="Montserrat Bold" pitchFamily="34" charset="-122"/>
                <a:cs typeface="Montserrat Bold" pitchFamily="34" charset="-120"/>
              </a:rPr>
              <a:t>Web</a:t>
            </a:r>
            <a:r>
              <a:rPr lang="en-US" sz="1050" dirty="0">
                <a:solidFill>
                  <a:srgbClr val="34495E"/>
                </a:solidFill>
                <a:latin typeface="Montserrat" pitchFamily="34" charset="0"/>
                <a:ea typeface="Montserrat" pitchFamily="34" charset="-122"/>
                <a:cs typeface="Montserrat" pitchFamily="34" charset="-120"/>
              </a:rPr>
              <a:t> to </a:t>
            </a:r>
            <a:r>
              <a:rPr lang="en-US" sz="1050" dirty="0">
                <a:solidFill>
                  <a:srgbClr val="34495E"/>
                </a:solidFill>
                <a:latin typeface="Montserrat" pitchFamily="34" charset="0"/>
                <a:ea typeface="Montserrat" pitchFamily="34" charset="-122"/>
                <a:cs typeface="Montserrat" pitchFamily="34" charset="-120"/>
              </a:rPr>
              <a:t>increase per-class support and reduce model confusion.</a:t>
            </a:r>
            <a:endParaRPr lang="en-US" sz="1050" dirty="0"/>
          </a:p>
        </p:txBody>
      </p:sp>
      <p:sp>
        <p:nvSpPr>
          <p:cNvPr id="7" name="Text 3"/>
          <p:cNvSpPr/>
          <p:nvPr/>
        </p:nvSpPr>
        <p:spPr>
          <a:xfrm>
            <a:off x="428625" y="2979251"/>
            <a:ext cx="3998770" cy="208955"/>
          </a:xfrm>
          <a:prstGeom prst="rect">
            <a:avLst/>
          </a:prstGeom>
          <a:noFill/>
          <a:ln/>
        </p:spPr>
        <p:txBody>
          <a:bodyPr wrap="square" lIns="0" tIns="0" rIns="0" bIns="0" rtlCol="0" anchor="t">
            <a:spAutoFit/>
          </a:bodyPr>
          <a:lstStyle/>
          <a:p>
            <a:pPr algn="l" indent="0" marL="0">
              <a:buNone/>
            </a:pPr>
            <a:r>
              <a:rPr lang="en-US" sz="1200" b="1" spc="1" kern="0" dirty="0">
                <a:solidFill>
                  <a:srgbClr val="E74C3C"/>
                </a:solidFill>
                <a:latin typeface="Montserrat Bold" pitchFamily="34" charset="0"/>
                <a:ea typeface="Montserrat Bold" pitchFamily="34" charset="-122"/>
                <a:cs typeface="Montserrat Bold" pitchFamily="34" charset="-120"/>
              </a:rPr>
              <a:t>THE RATIONAL</a:t>
            </a:r>
            <a:endParaRPr lang="en-US" sz="1200" dirty="0"/>
          </a:p>
        </p:txBody>
      </p:sp>
      <p:sp>
        <p:nvSpPr>
          <p:cNvPr id="8" name="Text 4"/>
          <p:cNvSpPr/>
          <p:nvPr/>
        </p:nvSpPr>
        <p:spPr>
          <a:xfrm>
            <a:off x="428625" y="3295362"/>
            <a:ext cx="3998770"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4495E"/>
                </a:solidFill>
                <a:latin typeface="Montserrat" pitchFamily="34" charset="0"/>
                <a:ea typeface="Montserrat" pitchFamily="34" charset="-122"/>
                <a:cs typeface="Montserrat" pitchFamily="34" charset="-120"/>
              </a:rPr>
              <a:t>Small dataset (~550 samples) led to high variance in minority classes. Consolidation provided more stable semantic patterns for DistilBERT.</a:t>
            </a:r>
            <a:endParaRPr lang="en-US" sz="1050" dirty="0"/>
          </a:p>
        </p:txBody>
      </p:sp>
      <p:sp>
        <p:nvSpPr>
          <p:cNvPr id="9" name="Text 5"/>
          <p:cNvSpPr/>
          <p:nvPr/>
        </p:nvSpPr>
        <p:spPr>
          <a:xfrm>
            <a:off x="4716605" y="428625"/>
            <a:ext cx="3998770" cy="208955"/>
          </a:xfrm>
          <a:prstGeom prst="rect">
            <a:avLst/>
          </a:prstGeom>
          <a:noFill/>
          <a:ln/>
        </p:spPr>
        <p:txBody>
          <a:bodyPr wrap="square" lIns="0" tIns="0" rIns="0" bIns="0" rtlCol="0" anchor="t">
            <a:spAutoFit/>
          </a:bodyPr>
          <a:lstStyle/>
          <a:p>
            <a:pPr algn="l" indent="0" marL="0">
              <a:buNone/>
            </a:pPr>
            <a:r>
              <a:rPr lang="en-US" sz="1200" b="1" spc="1" kern="0" dirty="0">
                <a:solidFill>
                  <a:srgbClr val="E74C3C"/>
                </a:solidFill>
                <a:latin typeface="Montserrat Bold" pitchFamily="34" charset="0"/>
                <a:ea typeface="Montserrat Bold" pitchFamily="34" charset="-122"/>
                <a:cs typeface="Montserrat Bold" pitchFamily="34" charset="-120"/>
              </a:rPr>
              <a:t>CLASS MAPPING</a:t>
            </a:r>
            <a:endParaRPr lang="en-US" sz="1200" dirty="0"/>
          </a:p>
        </p:txBody>
      </p:sp>
      <p:sp>
        <p:nvSpPr>
          <p:cNvPr id="10" name="Shape 6"/>
          <p:cNvSpPr/>
          <p:nvPr/>
        </p:nvSpPr>
        <p:spPr>
          <a:xfrm>
            <a:off x="4716605" y="887611"/>
            <a:ext cx="3998770" cy="1514475"/>
          </a:xfrm>
          <a:prstGeom prst="rect">
            <a:avLst/>
          </a:prstGeom>
          <a:solidFill>
            <a:srgbClr val="FFFFFF"/>
          </a:solidFill>
          <a:ln/>
        </p:spPr>
      </p:sp>
      <p:sp>
        <p:nvSpPr>
          <p:cNvPr id="11" name="Shape 7"/>
          <p:cNvSpPr/>
          <p:nvPr/>
        </p:nvSpPr>
        <p:spPr>
          <a:xfrm>
            <a:off x="4720177" y="887611"/>
            <a:ext cx="1793556" cy="375047"/>
          </a:xfrm>
          <a:prstGeom prst="rect">
            <a:avLst/>
          </a:prstGeom>
          <a:solidFill>
            <a:srgbClr val="2C3E50"/>
          </a:solidFill>
          <a:ln/>
        </p:spPr>
      </p:sp>
      <p:sp>
        <p:nvSpPr>
          <p:cNvPr id="12" name="Text 8"/>
          <p:cNvSpPr/>
          <p:nvPr/>
        </p:nvSpPr>
        <p:spPr>
          <a:xfrm>
            <a:off x="4720177" y="887611"/>
            <a:ext cx="1793556" cy="375047"/>
          </a:xfrm>
          <a:prstGeom prst="rect">
            <a:avLst/>
          </a:prstGeom>
          <a:noFill/>
          <a:ln/>
        </p:spPr>
        <p:txBody>
          <a:bodyPr wrap="square" lIns="127508" tIns="127508" rIns="127508" bIns="127508" rtlCol="0" anchor="ctr">
            <a:spAutoFit/>
          </a:bodyPr>
          <a:lstStyle/>
          <a:p>
            <a:pPr algn="l" indent="0" marL="0">
              <a:buNone/>
            </a:pPr>
            <a:r>
              <a:rPr lang="en-US" sz="900" b="1" dirty="0">
                <a:solidFill>
                  <a:srgbClr val="F0F4F8"/>
                </a:solidFill>
                <a:latin typeface="Montserrat Bold" pitchFamily="34" charset="0"/>
                <a:ea typeface="Montserrat Bold" pitchFamily="34" charset="-122"/>
                <a:cs typeface="Montserrat Bold" pitchFamily="34" charset="-120"/>
              </a:rPr>
              <a:t>Original (5)</a:t>
            </a:r>
            <a:endParaRPr lang="en-US" sz="900" dirty="0"/>
          </a:p>
        </p:txBody>
      </p:sp>
      <p:sp>
        <p:nvSpPr>
          <p:cNvPr id="13" name="Shape 9"/>
          <p:cNvSpPr/>
          <p:nvPr/>
        </p:nvSpPr>
        <p:spPr>
          <a:xfrm>
            <a:off x="6513733" y="887611"/>
            <a:ext cx="2198070" cy="375047"/>
          </a:xfrm>
          <a:prstGeom prst="rect">
            <a:avLst/>
          </a:prstGeom>
          <a:solidFill>
            <a:srgbClr val="2C3E50"/>
          </a:solidFill>
          <a:ln/>
        </p:spPr>
      </p:sp>
      <p:sp>
        <p:nvSpPr>
          <p:cNvPr id="14" name="Text 10"/>
          <p:cNvSpPr/>
          <p:nvPr/>
        </p:nvSpPr>
        <p:spPr>
          <a:xfrm>
            <a:off x="6513733" y="887611"/>
            <a:ext cx="2198070" cy="375047"/>
          </a:xfrm>
          <a:prstGeom prst="rect">
            <a:avLst/>
          </a:prstGeom>
          <a:noFill/>
          <a:ln/>
        </p:spPr>
        <p:txBody>
          <a:bodyPr wrap="square" lIns="127508" tIns="127508" rIns="127508" bIns="127508" rtlCol="0" anchor="ctr">
            <a:spAutoFit/>
          </a:bodyPr>
          <a:lstStyle/>
          <a:p>
            <a:pPr algn="l" indent="0" marL="0">
              <a:buNone/>
            </a:pPr>
            <a:r>
              <a:rPr lang="en-US" sz="900" b="1" dirty="0">
                <a:solidFill>
                  <a:srgbClr val="F0F4F8"/>
                </a:solidFill>
                <a:latin typeface="Montserrat Bold" pitchFamily="34" charset="0"/>
                <a:ea typeface="Montserrat Bold" pitchFamily="34" charset="-122"/>
                <a:cs typeface="Montserrat Bold" pitchFamily="34" charset="-120"/>
              </a:rPr>
              <a:t>Merged (3)</a:t>
            </a:r>
            <a:endParaRPr lang="en-US" sz="900" dirty="0"/>
          </a:p>
        </p:txBody>
      </p:sp>
      <p:sp>
        <p:nvSpPr>
          <p:cNvPr id="15" name="Text 11"/>
          <p:cNvSpPr/>
          <p:nvPr/>
        </p:nvSpPr>
        <p:spPr>
          <a:xfrm>
            <a:off x="4720177" y="1262658"/>
            <a:ext cx="1793556" cy="378619"/>
          </a:xfrm>
          <a:prstGeom prst="rect">
            <a:avLst/>
          </a:prstGeom>
          <a:noFill/>
          <a:ln/>
        </p:spPr>
        <p:txBody>
          <a:bodyPr wrap="square" lIns="127508" tIns="127508" rIns="127508" bIns="127508" rtlCol="0" anchor="ctr">
            <a:spAutoFit/>
          </a:bodyPr>
          <a:lstStyle/>
          <a:p>
            <a:pPr algn="l" indent="0" marL="0">
              <a:buNone/>
            </a:pPr>
            <a:r>
              <a:rPr lang="en-US" sz="950" dirty="0">
                <a:solidFill>
                  <a:srgbClr val="34495E"/>
                </a:solidFill>
                <a:latin typeface="Montserrat" pitchFamily="34" charset="0"/>
                <a:ea typeface="Montserrat" pitchFamily="34" charset="-122"/>
                <a:cs typeface="Montserrat" pitchFamily="34" charset="-120"/>
              </a:rPr>
              <a:t>AI + Data Science</a:t>
            </a:r>
            <a:endParaRPr lang="en-US" sz="950" dirty="0"/>
          </a:p>
        </p:txBody>
      </p:sp>
      <p:sp>
        <p:nvSpPr>
          <p:cNvPr id="16" name="Text 12"/>
          <p:cNvSpPr/>
          <p:nvPr/>
        </p:nvSpPr>
        <p:spPr>
          <a:xfrm>
            <a:off x="6624461" y="1373386"/>
            <a:ext cx="1182291" cy="157163"/>
          </a:xfrm>
          <a:prstGeom prst="rect">
            <a:avLst/>
          </a:prstGeom>
          <a:noFill/>
          <a:ln/>
        </p:spPr>
        <p:txBody>
          <a:bodyPr wrap="none" lIns="0" tIns="0" rIns="0" bIns="0" rtlCol="0" anchor="t">
            <a:spAutoFit/>
          </a:bodyPr>
          <a:lstStyle/>
          <a:p>
            <a:pPr algn="l" indent="0" marL="0">
              <a:buNone/>
            </a:pPr>
            <a:r>
              <a:rPr lang="en-US" sz="900" b="1" dirty="0">
                <a:solidFill>
                  <a:srgbClr val="34495E"/>
                </a:solidFill>
                <a:latin typeface="Montserrat Bold" pitchFamily="34" charset="0"/>
                <a:ea typeface="Montserrat Bold" pitchFamily="34" charset="-122"/>
                <a:cs typeface="Montserrat Bold" pitchFamily="34" charset="-120"/>
              </a:rPr>
              <a:t>AI &amp; Data Science</a:t>
            </a:r>
            <a:endParaRPr lang="en-US" sz="900" dirty="0"/>
          </a:p>
        </p:txBody>
      </p:sp>
      <p:sp>
        <p:nvSpPr>
          <p:cNvPr id="17" name="Text 13"/>
          <p:cNvSpPr/>
          <p:nvPr/>
        </p:nvSpPr>
        <p:spPr>
          <a:xfrm>
            <a:off x="4720177" y="1641277"/>
            <a:ext cx="1793556" cy="378619"/>
          </a:xfrm>
          <a:prstGeom prst="rect">
            <a:avLst/>
          </a:prstGeom>
          <a:noFill/>
          <a:ln/>
        </p:spPr>
        <p:txBody>
          <a:bodyPr wrap="square" lIns="127508" tIns="127508" rIns="127508" bIns="127508" rtlCol="0" anchor="ctr">
            <a:spAutoFit/>
          </a:bodyPr>
          <a:lstStyle/>
          <a:p>
            <a:pPr algn="l" indent="0" marL="0">
              <a:buNone/>
            </a:pPr>
            <a:r>
              <a:rPr lang="en-US" sz="950" dirty="0">
                <a:solidFill>
                  <a:srgbClr val="34495E"/>
                </a:solidFill>
                <a:latin typeface="Montserrat" pitchFamily="34" charset="0"/>
                <a:ea typeface="Montserrat" pitchFamily="34" charset="-122"/>
                <a:cs typeface="Montserrat" pitchFamily="34" charset="-120"/>
              </a:rPr>
              <a:t>Web + DevOps</a:t>
            </a:r>
            <a:endParaRPr lang="en-US" sz="950" dirty="0"/>
          </a:p>
        </p:txBody>
      </p:sp>
      <p:sp>
        <p:nvSpPr>
          <p:cNvPr id="18" name="Text 14"/>
          <p:cNvSpPr/>
          <p:nvPr/>
        </p:nvSpPr>
        <p:spPr>
          <a:xfrm>
            <a:off x="6624461" y="1752005"/>
            <a:ext cx="1409105" cy="157163"/>
          </a:xfrm>
          <a:prstGeom prst="rect">
            <a:avLst/>
          </a:prstGeom>
          <a:noFill/>
          <a:ln/>
        </p:spPr>
        <p:txBody>
          <a:bodyPr wrap="square" lIns="0" tIns="0" rIns="0" bIns="0" rtlCol="0" anchor="t">
            <a:spAutoFit/>
          </a:bodyPr>
          <a:lstStyle/>
          <a:p>
            <a:pPr algn="l" indent="0" marL="0">
              <a:buNone/>
            </a:pPr>
            <a:r>
              <a:rPr lang="en-US" sz="900" b="1" dirty="0">
                <a:solidFill>
                  <a:srgbClr val="34495E"/>
                </a:solidFill>
                <a:latin typeface="Montserrat Bold" pitchFamily="34" charset="0"/>
                <a:ea typeface="Montserrat Bold" pitchFamily="34" charset="-122"/>
                <a:cs typeface="Montserrat Bold" pitchFamily="34" charset="-120"/>
              </a:rPr>
              <a:t>Web &amp; Infrastructure</a:t>
            </a:r>
            <a:endParaRPr lang="en-US" sz="900" dirty="0"/>
          </a:p>
        </p:txBody>
      </p:sp>
      <p:sp>
        <p:nvSpPr>
          <p:cNvPr id="19" name="Text 15"/>
          <p:cNvSpPr/>
          <p:nvPr/>
        </p:nvSpPr>
        <p:spPr>
          <a:xfrm>
            <a:off x="4720177" y="2019895"/>
            <a:ext cx="1793556" cy="378619"/>
          </a:xfrm>
          <a:prstGeom prst="rect">
            <a:avLst/>
          </a:prstGeom>
          <a:noFill/>
          <a:ln/>
        </p:spPr>
        <p:txBody>
          <a:bodyPr wrap="square" lIns="127508" tIns="127508" rIns="127508" bIns="127508" rtlCol="0" anchor="ctr">
            <a:spAutoFit/>
          </a:bodyPr>
          <a:lstStyle/>
          <a:p>
            <a:pPr algn="l" indent="0" marL="0">
              <a:buNone/>
            </a:pPr>
            <a:r>
              <a:rPr lang="en-US" sz="950" dirty="0">
                <a:solidFill>
                  <a:srgbClr val="34495E"/>
                </a:solidFill>
                <a:latin typeface="Montserrat" pitchFamily="34" charset="0"/>
                <a:ea typeface="Montserrat" pitchFamily="34" charset="-122"/>
                <a:cs typeface="Montserrat" pitchFamily="34" charset="-120"/>
              </a:rPr>
              <a:t>Mobile</a:t>
            </a:r>
            <a:endParaRPr lang="en-US" sz="950" dirty="0"/>
          </a:p>
        </p:txBody>
      </p:sp>
      <p:sp>
        <p:nvSpPr>
          <p:cNvPr id="20" name="Text 16"/>
          <p:cNvSpPr/>
          <p:nvPr/>
        </p:nvSpPr>
        <p:spPr>
          <a:xfrm>
            <a:off x="6624461" y="2130623"/>
            <a:ext cx="455414" cy="157163"/>
          </a:xfrm>
          <a:prstGeom prst="rect">
            <a:avLst/>
          </a:prstGeom>
          <a:noFill/>
          <a:ln/>
        </p:spPr>
        <p:txBody>
          <a:bodyPr wrap="none" lIns="0" tIns="0" rIns="0" bIns="0" rtlCol="0" anchor="t">
            <a:spAutoFit/>
          </a:bodyPr>
          <a:lstStyle/>
          <a:p>
            <a:pPr algn="l" indent="0" marL="0">
              <a:buNone/>
            </a:pPr>
            <a:r>
              <a:rPr lang="en-US" sz="900" b="1" dirty="0">
                <a:solidFill>
                  <a:srgbClr val="34495E"/>
                </a:solidFill>
                <a:latin typeface="Montserrat Bold" pitchFamily="34" charset="0"/>
                <a:ea typeface="Montserrat Bold" pitchFamily="34" charset="-122"/>
                <a:cs typeface="Montserrat Bold" pitchFamily="34" charset="-120"/>
              </a:rPr>
              <a:t>Mobile</a:t>
            </a:r>
            <a:endParaRPr lang="en-US" sz="900" dirty="0"/>
          </a:p>
        </p:txBody>
      </p:sp>
      <p:sp>
        <p:nvSpPr>
          <p:cNvPr id="21" name="Text 17"/>
          <p:cNvSpPr/>
          <p:nvPr/>
        </p:nvSpPr>
        <p:spPr>
          <a:xfrm>
            <a:off x="4716605" y="2844998"/>
            <a:ext cx="3998770" cy="157163"/>
          </a:xfrm>
          <a:prstGeom prst="rect">
            <a:avLst/>
          </a:prstGeom>
          <a:noFill/>
          <a:ln/>
        </p:spPr>
        <p:txBody>
          <a:bodyPr wrap="square" lIns="0" tIns="0" rIns="0" bIns="0" rtlCol="0" anchor="t">
            <a:spAutoFit/>
          </a:bodyPr>
          <a:lstStyle/>
          <a:p>
            <a:pPr algn="l" indent="0" marL="0">
              <a:buNone/>
            </a:pPr>
            <a:r>
              <a:rPr lang="en-US" sz="900" b="1" dirty="0">
                <a:solidFill>
                  <a:srgbClr val="7F8C8D"/>
                </a:solidFill>
                <a:latin typeface="Montserrat Bold" pitchFamily="34" charset="0"/>
                <a:ea typeface="Montserrat Bold" pitchFamily="34" charset="-122"/>
                <a:cs typeface="Montserrat Bold" pitchFamily="34" charset="-120"/>
              </a:rPr>
              <a:t>WEB CLASS RECALL IMPROVEMENT</a:t>
            </a:r>
            <a:endParaRPr lang="en-US" sz="900" dirty="0"/>
          </a:p>
        </p:txBody>
      </p:sp>
      <p:sp>
        <p:nvSpPr>
          <p:cNvPr id="22" name="Text 18"/>
          <p:cNvSpPr/>
          <p:nvPr/>
        </p:nvSpPr>
        <p:spPr>
          <a:xfrm>
            <a:off x="4716605" y="3002161"/>
            <a:ext cx="809030" cy="457200"/>
          </a:xfrm>
          <a:prstGeom prst="rect">
            <a:avLst/>
          </a:prstGeom>
          <a:noFill/>
          <a:ln/>
        </p:spPr>
        <p:txBody>
          <a:bodyPr wrap="none" lIns="0" tIns="0" rIns="0" bIns="0" rtlCol="0" anchor="t">
            <a:spAutoFit/>
          </a:bodyPr>
          <a:lstStyle/>
          <a:p>
            <a:pPr algn="l" indent="0" marL="0">
              <a:buNone/>
            </a:pPr>
            <a:r>
              <a:rPr lang="en-US" sz="2450" b="1" dirty="0">
                <a:solidFill>
                  <a:srgbClr val="2C3E50"/>
                </a:solidFill>
                <a:latin typeface="Playfair Display Bold" pitchFamily="34" charset="0"/>
                <a:ea typeface="Playfair Display Bold" pitchFamily="34" charset="-122"/>
                <a:cs typeface="Playfair Display Bold" pitchFamily="34" charset="-120"/>
              </a:rPr>
              <a:t>0.60</a:t>
            </a:r>
            <a:endParaRPr lang="en-US" sz="2450" dirty="0"/>
          </a:p>
        </p:txBody>
      </p:sp>
      <p:pic>
        <p:nvPicPr>
          <p:cNvPr id="23" name="Image 1" descr="preencoded.png">    </p:cNvPr>
          <p:cNvPicPr>
            <a:picLocks noChangeAspect="1"/>
          </p:cNvPicPr>
          <p:nvPr/>
        </p:nvPicPr>
        <p:blipFill>
          <a:blip r:embed="rId2"/>
          <a:stretch>
            <a:fillRect/>
          </a:stretch>
        </p:blipFill>
        <p:spPr>
          <a:xfrm>
            <a:off x="5632791" y="3223617"/>
            <a:ext cx="150019" cy="171450"/>
          </a:xfrm>
          <a:prstGeom prst="rect">
            <a:avLst/>
          </a:prstGeom>
        </p:spPr>
      </p:pic>
      <p:sp>
        <p:nvSpPr>
          <p:cNvPr id="24" name="Text 19"/>
          <p:cNvSpPr/>
          <p:nvPr/>
        </p:nvSpPr>
        <p:spPr>
          <a:xfrm>
            <a:off x="5889966" y="3002161"/>
            <a:ext cx="780455" cy="457200"/>
          </a:xfrm>
          <a:prstGeom prst="rect">
            <a:avLst/>
          </a:prstGeom>
          <a:noFill/>
          <a:ln/>
        </p:spPr>
        <p:txBody>
          <a:bodyPr wrap="none" lIns="0" tIns="0" rIns="0" bIns="0" rtlCol="0" anchor="t">
            <a:spAutoFit/>
          </a:bodyPr>
          <a:lstStyle/>
          <a:p>
            <a:pPr algn="l" indent="0" marL="0">
              <a:buNone/>
            </a:pPr>
            <a:r>
              <a:rPr lang="en-US" sz="2450" b="1" dirty="0">
                <a:solidFill>
                  <a:srgbClr val="2C3E50"/>
                </a:solidFill>
                <a:latin typeface="Playfair Display Bold" pitchFamily="34" charset="0"/>
                <a:ea typeface="Playfair Display Bold" pitchFamily="34" charset="-122"/>
                <a:cs typeface="Playfair Display Bold" pitchFamily="34" charset="-120"/>
              </a:rPr>
              <a:t>0.68</a:t>
            </a:r>
            <a:endParaRPr lang="en-US" sz="2450" dirty="0"/>
          </a:p>
        </p:txBody>
      </p:sp>
      <p:sp>
        <p:nvSpPr>
          <p:cNvPr id="25" name="Text 20"/>
          <p:cNvSpPr/>
          <p:nvPr/>
        </p:nvSpPr>
        <p:spPr>
          <a:xfrm>
            <a:off x="4716605" y="3530798"/>
            <a:ext cx="3998770" cy="278606"/>
          </a:xfrm>
          <a:prstGeom prst="rect">
            <a:avLst/>
          </a:prstGeom>
          <a:noFill/>
          <a:ln/>
        </p:spPr>
        <p:txBody>
          <a:bodyPr wrap="square" lIns="0" tIns="0" rIns="0" bIns="0" rtlCol="0" anchor="t">
            <a:spAutoFit/>
          </a:bodyPr>
          <a:lstStyle/>
          <a:p>
            <a:pPr algn="l" indent="0" marL="0">
              <a:buNone/>
            </a:pPr>
            <a:r>
              <a:rPr lang="en-US" sz="850" dirty="0">
                <a:solidFill>
                  <a:srgbClr val="34495E"/>
                </a:solidFill>
                <a:latin typeface="Montserrat" pitchFamily="34" charset="0"/>
                <a:ea typeface="Montserrat" pitchFamily="34" charset="-122"/>
                <a:cs typeface="Montserrat" pitchFamily="34" charset="-120"/>
              </a:rPr>
              <a:t>Larger support for minority classes significantly reduced performance variance.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4141589" cy="1234390"/>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2C3E50"/>
                </a:solidFill>
                <a:latin typeface="Playfair Display Bold" pitchFamily="34" charset="0"/>
                <a:ea typeface="Playfair Display Bold" pitchFamily="34" charset="-122"/>
                <a:cs typeface="Playfair Display Bold" pitchFamily="34" charset="-120"/>
              </a:rPr>
              <a:t>Stabilizing Training with Focal Loss and Random Oversampling</a:t>
            </a:r>
            <a:endParaRPr lang="en-US" sz="2450" dirty="0"/>
          </a:p>
        </p:txBody>
      </p:sp>
      <p:pic>
        <p:nvPicPr>
          <p:cNvPr id="5" name="Image 1" descr="preencoded.png">    </p:cNvPr>
          <p:cNvPicPr>
            <a:picLocks noChangeAspect="1"/>
          </p:cNvPicPr>
          <p:nvPr/>
        </p:nvPicPr>
        <p:blipFill>
          <a:blip r:embed="rId2"/>
          <a:stretch>
            <a:fillRect/>
          </a:stretch>
        </p:blipFill>
        <p:spPr>
          <a:xfrm>
            <a:off x="428625" y="1967517"/>
            <a:ext cx="171450" cy="171450"/>
          </a:xfrm>
          <a:prstGeom prst="rect">
            <a:avLst/>
          </a:prstGeom>
        </p:spPr>
      </p:pic>
      <p:sp>
        <p:nvSpPr>
          <p:cNvPr id="6" name="Text 1"/>
          <p:cNvSpPr/>
          <p:nvPr/>
        </p:nvSpPr>
        <p:spPr>
          <a:xfrm>
            <a:off x="707231" y="1948765"/>
            <a:ext cx="1593056" cy="208955"/>
          </a:xfrm>
          <a:prstGeom prst="rect">
            <a:avLst/>
          </a:prstGeom>
          <a:noFill/>
          <a:ln/>
        </p:spPr>
        <p:txBody>
          <a:bodyPr wrap="square" lIns="0" tIns="0" rIns="0" bIns="0" rtlCol="0" anchor="t">
            <a:spAutoFit/>
          </a:bodyPr>
          <a:lstStyle/>
          <a:p>
            <a:pPr algn="l" indent="0" marL="0">
              <a:buNone/>
            </a:pPr>
            <a:r>
              <a:rPr lang="en-US" sz="1200" b="1" dirty="0">
                <a:solidFill>
                  <a:srgbClr val="E74C3C"/>
                </a:solidFill>
                <a:latin typeface="Montserrat Bold" pitchFamily="34" charset="0"/>
                <a:ea typeface="Montserrat Bold" pitchFamily="34" charset="-122"/>
                <a:cs typeface="Montserrat Bold" pitchFamily="34" charset="-120"/>
              </a:rPr>
              <a:t>Focal Loss (Exp 4)</a:t>
            </a:r>
            <a:endParaRPr lang="en-US" sz="1200" dirty="0"/>
          </a:p>
        </p:txBody>
      </p:sp>
      <p:sp>
        <p:nvSpPr>
          <p:cNvPr id="7" name="Text 2"/>
          <p:cNvSpPr/>
          <p:nvPr/>
        </p:nvSpPr>
        <p:spPr>
          <a:xfrm>
            <a:off x="428625" y="2264876"/>
            <a:ext cx="4141589" cy="610791"/>
          </a:xfrm>
          <a:prstGeom prst="rect">
            <a:avLst/>
          </a:prstGeom>
          <a:noFill/>
          <a:ln/>
        </p:spPr>
        <p:txBody>
          <a:bodyPr wrap="square" lIns="0" tIns="0" rIns="0" bIns="0" rtlCol="0" anchor="t">
            <a:spAutoFit/>
          </a:bodyPr>
          <a:lstStyle/>
          <a:p>
            <a:pPr algn="l" indent="0" marL="0">
              <a:lnSpc>
                <a:spcPct val="120000"/>
              </a:lnSpc>
              <a:buNone/>
            </a:pPr>
            <a:r>
              <a:rPr lang="en-US" sz="1000" dirty="0">
                <a:solidFill>
                  <a:srgbClr val="34495E"/>
                </a:solidFill>
                <a:latin typeface="Montserrat" pitchFamily="34" charset="0"/>
                <a:ea typeface="Montserrat" pitchFamily="34" charset="-122"/>
                <a:cs typeface="Montserrat" pitchFamily="34" charset="-120"/>
              </a:rPr>
              <a:t>Replaced standard CrossEntropy with Focal Loss (gamma = 2.0) to down-weight easy examples and focus on hard-to-classify minority samples.</a:t>
            </a:r>
            <a:endParaRPr lang="en-US" sz="1000" dirty="0"/>
          </a:p>
        </p:txBody>
      </p:sp>
      <p:sp>
        <p:nvSpPr>
          <p:cNvPr id="8" name="Shape 3"/>
          <p:cNvSpPr/>
          <p:nvPr/>
        </p:nvSpPr>
        <p:spPr>
          <a:xfrm>
            <a:off x="428625" y="3018541"/>
            <a:ext cx="4141589" cy="432197"/>
          </a:xfrm>
          <a:prstGeom prst="rect">
            <a:avLst/>
          </a:prstGeom>
          <a:solidFill>
            <a:srgbClr val="2C3E50"/>
          </a:solidFill>
          <a:ln/>
        </p:spPr>
      </p:sp>
      <p:sp>
        <p:nvSpPr>
          <p:cNvPr id="9" name="Text 4"/>
          <p:cNvSpPr/>
          <p:nvPr/>
        </p:nvSpPr>
        <p:spPr>
          <a:xfrm>
            <a:off x="428625" y="3018541"/>
            <a:ext cx="4141589" cy="432197"/>
          </a:xfrm>
          <a:prstGeom prst="rect">
            <a:avLst/>
          </a:prstGeom>
          <a:noFill/>
          <a:ln/>
        </p:spPr>
        <p:txBody>
          <a:bodyPr wrap="square" lIns="170053" tIns="170053" rIns="170053" bIns="170053" rtlCol="0" anchor="t">
            <a:spAutoFit/>
          </a:bodyPr>
          <a:lstStyle/>
          <a:p>
            <a:pPr algn="ctr" indent="0" marL="0">
              <a:buNone/>
            </a:pPr>
            <a:r>
              <a:rPr lang="en-US" sz="950" dirty="0">
                <a:solidFill>
                  <a:srgbClr val="F0F4F8"/>
                </a:solidFill>
                <a:latin typeface="Courier New" pitchFamily="34" charset="0"/>
                <a:ea typeface="Courier New" pitchFamily="34" charset="-122"/>
                <a:cs typeface="Courier New" pitchFamily="34" charset="-120"/>
              </a:rPr>
              <a:t>FL(pt) = -(1-pt)^γ log(pt)</a:t>
            </a:r>
            <a:endParaRPr lang="en-US" sz="950" dirty="0"/>
          </a:p>
        </p:txBody>
      </p:sp>
      <p:pic>
        <p:nvPicPr>
          <p:cNvPr id="10" name="Image 2" descr="preencoded.png">    </p:cNvPr>
          <p:cNvPicPr>
            <a:picLocks noChangeAspect="1"/>
          </p:cNvPicPr>
          <p:nvPr/>
        </p:nvPicPr>
        <p:blipFill>
          <a:blip r:embed="rId3"/>
          <a:stretch>
            <a:fillRect/>
          </a:stretch>
        </p:blipFill>
        <p:spPr>
          <a:xfrm>
            <a:off x="428625" y="3755241"/>
            <a:ext cx="214313" cy="171450"/>
          </a:xfrm>
          <a:prstGeom prst="rect">
            <a:avLst/>
          </a:prstGeom>
        </p:spPr>
      </p:pic>
      <p:sp>
        <p:nvSpPr>
          <p:cNvPr id="11" name="Text 5"/>
          <p:cNvSpPr/>
          <p:nvPr/>
        </p:nvSpPr>
        <p:spPr>
          <a:xfrm>
            <a:off x="750094" y="3736488"/>
            <a:ext cx="1571625" cy="208955"/>
          </a:xfrm>
          <a:prstGeom prst="rect">
            <a:avLst/>
          </a:prstGeom>
          <a:noFill/>
          <a:ln/>
        </p:spPr>
        <p:txBody>
          <a:bodyPr wrap="square" lIns="0" tIns="0" rIns="0" bIns="0" rtlCol="0" anchor="t">
            <a:spAutoFit/>
          </a:bodyPr>
          <a:lstStyle/>
          <a:p>
            <a:pPr algn="l" indent="0" marL="0">
              <a:buNone/>
            </a:pPr>
            <a:r>
              <a:rPr lang="en-US" sz="1200" b="1" dirty="0">
                <a:solidFill>
                  <a:srgbClr val="E74C3C"/>
                </a:solidFill>
                <a:latin typeface="Montserrat Bold" pitchFamily="34" charset="0"/>
                <a:ea typeface="Montserrat Bold" pitchFamily="34" charset="-122"/>
                <a:cs typeface="Montserrat Bold" pitchFamily="34" charset="-120"/>
              </a:rPr>
              <a:t>Threshold Tuning</a:t>
            </a:r>
            <a:endParaRPr lang="en-US" sz="1200" dirty="0"/>
          </a:p>
        </p:txBody>
      </p:sp>
      <p:sp>
        <p:nvSpPr>
          <p:cNvPr id="12" name="Text 6"/>
          <p:cNvSpPr/>
          <p:nvPr/>
        </p:nvSpPr>
        <p:spPr>
          <a:xfrm>
            <a:off x="428625" y="4052599"/>
            <a:ext cx="4141589" cy="610791"/>
          </a:xfrm>
          <a:prstGeom prst="rect">
            <a:avLst/>
          </a:prstGeom>
          <a:noFill/>
          <a:ln/>
        </p:spPr>
        <p:txBody>
          <a:bodyPr wrap="square" lIns="0" tIns="0" rIns="0" bIns="0" rtlCol="0" anchor="t">
            <a:spAutoFit/>
          </a:bodyPr>
          <a:lstStyle/>
          <a:p>
            <a:pPr algn="l" indent="0" marL="0">
              <a:lnSpc>
                <a:spcPct val="120000"/>
              </a:lnSpc>
              <a:buNone/>
            </a:pPr>
            <a:r>
              <a:rPr lang="en-US" sz="1000" dirty="0">
                <a:solidFill>
                  <a:srgbClr val="34495E"/>
                </a:solidFill>
                <a:latin typeface="Montserrat" pitchFamily="34" charset="0"/>
                <a:ea typeface="Montserrat" pitchFamily="34" charset="-122"/>
                <a:cs typeface="Montserrat" pitchFamily="34" charset="-120"/>
              </a:rPr>
              <a:t>Optimized classification thresholds on the validation set to maximize Macro F1, significantly improving minority class recall.</a:t>
            </a:r>
            <a:endParaRPr lang="en-US" sz="1000" dirty="0"/>
          </a:p>
        </p:txBody>
      </p:sp>
      <p:pic>
        <p:nvPicPr>
          <p:cNvPr id="13" name="Image 3" descr="preencoded.png">    </p:cNvPr>
          <p:cNvPicPr>
            <a:picLocks noChangeAspect="1"/>
          </p:cNvPicPr>
          <p:nvPr/>
        </p:nvPicPr>
        <p:blipFill>
          <a:blip r:embed="rId4"/>
          <a:stretch>
            <a:fillRect/>
          </a:stretch>
        </p:blipFill>
        <p:spPr>
          <a:xfrm>
            <a:off x="4573786" y="447377"/>
            <a:ext cx="171450" cy="171450"/>
          </a:xfrm>
          <a:prstGeom prst="rect">
            <a:avLst/>
          </a:prstGeom>
        </p:spPr>
      </p:pic>
      <p:sp>
        <p:nvSpPr>
          <p:cNvPr id="14" name="Text 7"/>
          <p:cNvSpPr/>
          <p:nvPr/>
        </p:nvSpPr>
        <p:spPr>
          <a:xfrm>
            <a:off x="4852392" y="428625"/>
            <a:ext cx="2723555" cy="208955"/>
          </a:xfrm>
          <a:prstGeom prst="rect">
            <a:avLst/>
          </a:prstGeom>
          <a:noFill/>
          <a:ln/>
        </p:spPr>
        <p:txBody>
          <a:bodyPr wrap="square" lIns="0" tIns="0" rIns="0" bIns="0" rtlCol="0" anchor="t">
            <a:spAutoFit/>
          </a:bodyPr>
          <a:lstStyle/>
          <a:p>
            <a:pPr algn="l" indent="0" marL="0">
              <a:buNone/>
            </a:pPr>
            <a:r>
              <a:rPr lang="en-US" sz="1200" b="1" dirty="0">
                <a:solidFill>
                  <a:srgbClr val="E74C3C"/>
                </a:solidFill>
                <a:latin typeface="Montserrat Bold" pitchFamily="34" charset="0"/>
                <a:ea typeface="Montserrat Bold" pitchFamily="34" charset="-122"/>
                <a:cs typeface="Montserrat Bold" pitchFamily="34" charset="-120"/>
              </a:rPr>
              <a:t>Random Oversampling (Exp 5)</a:t>
            </a:r>
            <a:endParaRPr lang="en-US" sz="1200" dirty="0"/>
          </a:p>
        </p:txBody>
      </p:sp>
      <p:sp>
        <p:nvSpPr>
          <p:cNvPr id="15" name="Text 8"/>
          <p:cNvSpPr/>
          <p:nvPr/>
        </p:nvSpPr>
        <p:spPr>
          <a:xfrm>
            <a:off x="4573786" y="744736"/>
            <a:ext cx="4141589" cy="407194"/>
          </a:xfrm>
          <a:prstGeom prst="rect">
            <a:avLst/>
          </a:prstGeom>
          <a:noFill/>
          <a:ln/>
        </p:spPr>
        <p:txBody>
          <a:bodyPr wrap="square" lIns="0" tIns="0" rIns="0" bIns="0" rtlCol="0" anchor="t">
            <a:spAutoFit/>
          </a:bodyPr>
          <a:lstStyle/>
          <a:p>
            <a:pPr algn="l" indent="0" marL="0">
              <a:lnSpc>
                <a:spcPct val="120000"/>
              </a:lnSpc>
              <a:buNone/>
            </a:pPr>
            <a:r>
              <a:rPr lang="en-US" sz="1000" dirty="0">
                <a:solidFill>
                  <a:srgbClr val="34495E"/>
                </a:solidFill>
                <a:latin typeface="Montserrat" pitchFamily="34" charset="0"/>
                <a:ea typeface="Montserrat" pitchFamily="34" charset="-122"/>
                <a:cs typeface="Montserrat" pitchFamily="34" charset="-120"/>
              </a:rPr>
              <a:t>Addressed pattern scarcity by raising Mobile and Web classes to 200 training samples each.</a:t>
            </a:r>
            <a:endParaRPr lang="en-US" sz="1000" dirty="0"/>
          </a:p>
        </p:txBody>
      </p:sp>
      <p:sp>
        <p:nvSpPr>
          <p:cNvPr id="16" name="Shape 9"/>
          <p:cNvSpPr/>
          <p:nvPr/>
        </p:nvSpPr>
        <p:spPr>
          <a:xfrm>
            <a:off x="4573786" y="1580555"/>
            <a:ext cx="4141589" cy="2143125"/>
          </a:xfrm>
          <a:prstGeom prst="rect">
            <a:avLst/>
          </a:prstGeom>
          <a:solidFill>
            <a:srgbClr val="FFFFFF"/>
          </a:solidFill>
          <a:ln/>
        </p:spPr>
      </p:sp>
      <p:pic>
        <p:nvPicPr>
          <p:cNvPr id="17" name="Image 4" descr="preencoded.png">    </p:cNvPr>
          <p:cNvPicPr>
            <a:picLocks noChangeAspect="1"/>
          </p:cNvPicPr>
          <p:nvPr/>
        </p:nvPicPr>
        <p:blipFill>
          <a:blip r:embed="rId5"/>
          <a:stretch>
            <a:fillRect/>
          </a:stretch>
        </p:blipFill>
        <p:spPr>
          <a:xfrm>
            <a:off x="4716661" y="1723430"/>
            <a:ext cx="3855839" cy="1857375"/>
          </a:xfrm>
          <a:prstGeom prst="rect">
            <a:avLst/>
          </a:prstGeom>
        </p:spPr>
      </p:pic>
      <p:sp>
        <p:nvSpPr>
          <p:cNvPr id="18" name="Text 10"/>
          <p:cNvSpPr/>
          <p:nvPr/>
        </p:nvSpPr>
        <p:spPr>
          <a:xfrm>
            <a:off x="4573786" y="3830836"/>
            <a:ext cx="4141589" cy="139303"/>
          </a:xfrm>
          <a:prstGeom prst="rect">
            <a:avLst/>
          </a:prstGeom>
          <a:noFill/>
          <a:ln/>
        </p:spPr>
        <p:txBody>
          <a:bodyPr wrap="square" lIns="0" tIns="0" rIns="0" bIns="0" rtlCol="0" anchor="t">
            <a:spAutoFit/>
          </a:bodyPr>
          <a:lstStyle/>
          <a:p>
            <a:pPr algn="ctr" indent="0" marL="0">
              <a:buNone/>
            </a:pPr>
            <a:r>
              <a:rPr lang="en-US" sz="850" dirty="0">
                <a:solidFill>
                  <a:srgbClr val="7F8C8D"/>
                </a:solidFill>
                <a:latin typeface="Montserrat" pitchFamily="34" charset="0"/>
                <a:ea typeface="Montserrat" pitchFamily="34" charset="-122"/>
                <a:cs typeface="Montserrat" pitchFamily="34" charset="-120"/>
              </a:rPr>
              <a:t>Training Sample Distribution (Before vs. After Oversampling)</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828675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2C3E50"/>
                </a:solidFill>
                <a:latin typeface="Playfair Display Bold" pitchFamily="34" charset="0"/>
                <a:ea typeface="Playfair Display Bold" pitchFamily="34" charset="-122"/>
                <a:cs typeface="Playfair Display Bold" pitchFamily="34" charset="-120"/>
              </a:rPr>
              <a:t>Comparative Analysis of Experimental Outcomes</a:t>
            </a:r>
            <a:endParaRPr lang="en-US" sz="2450" dirty="0"/>
          </a:p>
        </p:txBody>
      </p:sp>
      <p:sp>
        <p:nvSpPr>
          <p:cNvPr id="5" name="Shape 1"/>
          <p:cNvSpPr/>
          <p:nvPr/>
        </p:nvSpPr>
        <p:spPr>
          <a:xfrm>
            <a:off x="428625" y="1197276"/>
            <a:ext cx="8286750" cy="2643076"/>
          </a:xfrm>
          <a:prstGeom prst="rect">
            <a:avLst/>
          </a:prstGeom>
          <a:solidFill>
            <a:srgbClr val="FFFFFF"/>
          </a:solidFill>
          <a:ln/>
        </p:spPr>
      </p:sp>
      <p:sp>
        <p:nvSpPr>
          <p:cNvPr id="6" name="Shape 2"/>
          <p:cNvSpPr/>
          <p:nvPr/>
        </p:nvSpPr>
        <p:spPr>
          <a:xfrm>
            <a:off x="428625" y="1197276"/>
            <a:ext cx="8286750" cy="28575"/>
          </a:xfrm>
          <a:prstGeom prst="rect">
            <a:avLst/>
          </a:prstGeom>
          <a:solidFill>
            <a:srgbClr val="E74C3C"/>
          </a:solidFill>
          <a:ln/>
        </p:spPr>
      </p:sp>
      <p:sp>
        <p:nvSpPr>
          <p:cNvPr id="7" name="Shape 3"/>
          <p:cNvSpPr/>
          <p:nvPr/>
        </p:nvSpPr>
        <p:spPr>
          <a:xfrm>
            <a:off x="428625" y="1197276"/>
            <a:ext cx="1276136" cy="442913"/>
          </a:xfrm>
          <a:prstGeom prst="rect">
            <a:avLst/>
          </a:prstGeom>
          <a:solidFill>
            <a:srgbClr val="2C3E50"/>
          </a:solidFill>
          <a:ln/>
        </p:spPr>
      </p:sp>
      <p:sp>
        <p:nvSpPr>
          <p:cNvPr id="8" name="Text 4"/>
          <p:cNvSpPr/>
          <p:nvPr/>
        </p:nvSpPr>
        <p:spPr>
          <a:xfrm>
            <a:off x="428625" y="1197276"/>
            <a:ext cx="1276136" cy="442913"/>
          </a:xfrm>
          <a:prstGeom prst="rect">
            <a:avLst/>
          </a:prstGeom>
          <a:noFill/>
          <a:ln/>
        </p:spPr>
        <p:txBody>
          <a:bodyPr wrap="none" lIns="170053" tIns="170053" rIns="170053" bIns="170053" rtlCol="0" anchor="ctr">
            <a:spAutoFit/>
          </a:bodyPr>
          <a:lstStyle/>
          <a:p>
            <a:pPr algn="l" indent="0" marL="0">
              <a:buNone/>
            </a:pPr>
            <a:r>
              <a:rPr lang="en-US" sz="900" b="1" spc="1" kern="0" dirty="0">
                <a:solidFill>
                  <a:srgbClr val="F0F4F8"/>
                </a:solidFill>
                <a:latin typeface="Montserrat Bold" pitchFamily="34" charset="0"/>
                <a:ea typeface="Montserrat Bold" pitchFamily="34" charset="-122"/>
                <a:cs typeface="Montserrat Bold" pitchFamily="34" charset="-120"/>
              </a:rPr>
              <a:t>EXPERIMENT</a:t>
            </a:r>
            <a:endParaRPr lang="en-US" sz="900" dirty="0"/>
          </a:p>
        </p:txBody>
      </p:sp>
      <p:sp>
        <p:nvSpPr>
          <p:cNvPr id="9" name="Shape 5"/>
          <p:cNvSpPr/>
          <p:nvPr/>
        </p:nvSpPr>
        <p:spPr>
          <a:xfrm>
            <a:off x="1704761" y="1197276"/>
            <a:ext cx="1757223" cy="442913"/>
          </a:xfrm>
          <a:prstGeom prst="rect">
            <a:avLst/>
          </a:prstGeom>
          <a:solidFill>
            <a:srgbClr val="2C3E50"/>
          </a:solidFill>
          <a:ln/>
        </p:spPr>
      </p:sp>
      <p:sp>
        <p:nvSpPr>
          <p:cNvPr id="10" name="Text 6"/>
          <p:cNvSpPr/>
          <p:nvPr/>
        </p:nvSpPr>
        <p:spPr>
          <a:xfrm>
            <a:off x="1704761" y="1197276"/>
            <a:ext cx="1757223" cy="442913"/>
          </a:xfrm>
          <a:prstGeom prst="rect">
            <a:avLst/>
          </a:prstGeom>
          <a:noFill/>
          <a:ln/>
        </p:spPr>
        <p:txBody>
          <a:bodyPr wrap="square" lIns="170053" tIns="170053" rIns="170053" bIns="170053" rtlCol="0" anchor="ctr">
            <a:spAutoFit/>
          </a:bodyPr>
          <a:lstStyle/>
          <a:p>
            <a:pPr algn="l" indent="0" marL="0">
              <a:buNone/>
            </a:pPr>
            <a:r>
              <a:rPr lang="en-US" sz="900" b="1" spc="1" kern="0" dirty="0">
                <a:solidFill>
                  <a:srgbClr val="F0F4F8"/>
                </a:solidFill>
                <a:latin typeface="Montserrat Bold" pitchFamily="34" charset="0"/>
                <a:ea typeface="Montserrat Bold" pitchFamily="34" charset="-122"/>
                <a:cs typeface="Montserrat Bold" pitchFamily="34" charset="-120"/>
              </a:rPr>
              <a:t>MAIN TECHNIQUE</a:t>
            </a:r>
            <a:endParaRPr lang="en-US" sz="900" dirty="0"/>
          </a:p>
        </p:txBody>
      </p:sp>
      <p:sp>
        <p:nvSpPr>
          <p:cNvPr id="11" name="Shape 7"/>
          <p:cNvSpPr/>
          <p:nvPr/>
        </p:nvSpPr>
        <p:spPr>
          <a:xfrm>
            <a:off x="3461984" y="1197276"/>
            <a:ext cx="1057638" cy="442913"/>
          </a:xfrm>
          <a:prstGeom prst="rect">
            <a:avLst/>
          </a:prstGeom>
          <a:solidFill>
            <a:srgbClr val="2C3E50"/>
          </a:solidFill>
          <a:ln/>
        </p:spPr>
      </p:sp>
      <p:sp>
        <p:nvSpPr>
          <p:cNvPr id="12" name="Text 8"/>
          <p:cNvSpPr/>
          <p:nvPr/>
        </p:nvSpPr>
        <p:spPr>
          <a:xfrm>
            <a:off x="3461984" y="1197276"/>
            <a:ext cx="1057638" cy="442913"/>
          </a:xfrm>
          <a:prstGeom prst="rect">
            <a:avLst/>
          </a:prstGeom>
          <a:noFill/>
          <a:ln/>
        </p:spPr>
        <p:txBody>
          <a:bodyPr wrap="none" lIns="170053" tIns="170053" rIns="170053" bIns="170053" rtlCol="0" anchor="ctr">
            <a:spAutoFit/>
          </a:bodyPr>
          <a:lstStyle/>
          <a:p>
            <a:pPr algn="l" indent="0" marL="0">
              <a:buNone/>
            </a:pPr>
            <a:r>
              <a:rPr lang="en-US" sz="900" b="1" spc="1" kern="0" dirty="0">
                <a:solidFill>
                  <a:srgbClr val="F0F4F8"/>
                </a:solidFill>
                <a:latin typeface="Montserrat Bold" pitchFamily="34" charset="0"/>
                <a:ea typeface="Montserrat Bold" pitchFamily="34" charset="-122"/>
                <a:cs typeface="Montserrat Bold" pitchFamily="34" charset="-120"/>
              </a:rPr>
              <a:t>MACRO F1</a:t>
            </a:r>
            <a:endParaRPr lang="en-US" sz="900" dirty="0"/>
          </a:p>
        </p:txBody>
      </p:sp>
      <p:sp>
        <p:nvSpPr>
          <p:cNvPr id="13" name="Shape 9"/>
          <p:cNvSpPr/>
          <p:nvPr/>
        </p:nvSpPr>
        <p:spPr>
          <a:xfrm>
            <a:off x="4519622" y="1197276"/>
            <a:ext cx="1125587" cy="442913"/>
          </a:xfrm>
          <a:prstGeom prst="rect">
            <a:avLst/>
          </a:prstGeom>
          <a:solidFill>
            <a:srgbClr val="2C3E50"/>
          </a:solidFill>
          <a:ln/>
        </p:spPr>
      </p:sp>
      <p:sp>
        <p:nvSpPr>
          <p:cNvPr id="14" name="Text 10"/>
          <p:cNvSpPr/>
          <p:nvPr/>
        </p:nvSpPr>
        <p:spPr>
          <a:xfrm>
            <a:off x="4519622" y="1197276"/>
            <a:ext cx="1125587" cy="442913"/>
          </a:xfrm>
          <a:prstGeom prst="rect">
            <a:avLst/>
          </a:prstGeom>
          <a:noFill/>
          <a:ln/>
        </p:spPr>
        <p:txBody>
          <a:bodyPr wrap="none" lIns="170053" tIns="170053" rIns="170053" bIns="170053" rtlCol="0" anchor="ctr">
            <a:spAutoFit/>
          </a:bodyPr>
          <a:lstStyle/>
          <a:p>
            <a:pPr algn="l" indent="0" marL="0">
              <a:buNone/>
            </a:pPr>
            <a:r>
              <a:rPr lang="en-US" sz="900" b="1" spc="1" kern="0" dirty="0">
                <a:solidFill>
                  <a:srgbClr val="F0F4F8"/>
                </a:solidFill>
                <a:latin typeface="Montserrat Bold" pitchFamily="34" charset="0"/>
                <a:ea typeface="Montserrat Bold" pitchFamily="34" charset="-122"/>
                <a:cs typeface="Montserrat Bold" pitchFamily="34" charset="-120"/>
              </a:rPr>
              <a:t>ACCURACY</a:t>
            </a:r>
            <a:endParaRPr lang="en-US" sz="900" dirty="0"/>
          </a:p>
        </p:txBody>
      </p:sp>
      <p:sp>
        <p:nvSpPr>
          <p:cNvPr id="15" name="Shape 11"/>
          <p:cNvSpPr/>
          <p:nvPr/>
        </p:nvSpPr>
        <p:spPr>
          <a:xfrm>
            <a:off x="5645209" y="1197276"/>
            <a:ext cx="3070166" cy="442913"/>
          </a:xfrm>
          <a:prstGeom prst="rect">
            <a:avLst/>
          </a:prstGeom>
          <a:solidFill>
            <a:srgbClr val="2C3E50"/>
          </a:solidFill>
          <a:ln/>
        </p:spPr>
      </p:sp>
      <p:sp>
        <p:nvSpPr>
          <p:cNvPr id="16" name="Text 12"/>
          <p:cNvSpPr/>
          <p:nvPr/>
        </p:nvSpPr>
        <p:spPr>
          <a:xfrm>
            <a:off x="5645209" y="1197276"/>
            <a:ext cx="3070166" cy="442913"/>
          </a:xfrm>
          <a:prstGeom prst="rect">
            <a:avLst/>
          </a:prstGeom>
          <a:noFill/>
          <a:ln/>
        </p:spPr>
        <p:txBody>
          <a:bodyPr wrap="square" lIns="170053" tIns="170053" rIns="170053" bIns="170053" rtlCol="0" anchor="ctr">
            <a:spAutoFit/>
          </a:bodyPr>
          <a:lstStyle/>
          <a:p>
            <a:pPr algn="l" indent="0" marL="0">
              <a:buNone/>
            </a:pPr>
            <a:r>
              <a:rPr lang="en-US" sz="900" b="1" spc="1" kern="0" dirty="0">
                <a:solidFill>
                  <a:srgbClr val="F0F4F8"/>
                </a:solidFill>
                <a:latin typeface="Montserrat Bold" pitchFamily="34" charset="0"/>
                <a:ea typeface="Montserrat Bold" pitchFamily="34" charset="-122"/>
                <a:cs typeface="Montserrat Bold" pitchFamily="34" charset="-120"/>
              </a:rPr>
              <a:t>KEY INSIGHT</a:t>
            </a:r>
            <a:endParaRPr lang="en-US" sz="900" dirty="0"/>
          </a:p>
        </p:txBody>
      </p:sp>
      <p:sp>
        <p:nvSpPr>
          <p:cNvPr id="17" name="Text 13"/>
          <p:cNvSpPr/>
          <p:nvPr/>
        </p:nvSpPr>
        <p:spPr>
          <a:xfrm>
            <a:off x="428625" y="1640188"/>
            <a:ext cx="1276136" cy="430746"/>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2C3E50"/>
                </a:solidFill>
                <a:latin typeface="Montserrat Bold" pitchFamily="34" charset="0"/>
                <a:ea typeface="Montserrat Bold" pitchFamily="34" charset="-122"/>
                <a:cs typeface="Montserrat Bold" pitchFamily="34" charset="-120"/>
              </a:rPr>
              <a:t>1. Baseline</a:t>
            </a:r>
            <a:endParaRPr lang="en-US" sz="850" dirty="0"/>
          </a:p>
        </p:txBody>
      </p:sp>
      <p:sp>
        <p:nvSpPr>
          <p:cNvPr id="18" name="Text 14"/>
          <p:cNvSpPr/>
          <p:nvPr/>
        </p:nvSpPr>
        <p:spPr>
          <a:xfrm>
            <a:off x="1704761" y="1640188"/>
            <a:ext cx="1757223" cy="430746"/>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Standard DistilBERT</a:t>
            </a:r>
            <a:endParaRPr lang="en-US" sz="900" dirty="0"/>
          </a:p>
        </p:txBody>
      </p:sp>
      <p:sp>
        <p:nvSpPr>
          <p:cNvPr id="19" name="Text 15"/>
          <p:cNvSpPr/>
          <p:nvPr/>
        </p:nvSpPr>
        <p:spPr>
          <a:xfrm>
            <a:off x="3461984" y="1640188"/>
            <a:ext cx="1057638" cy="430746"/>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E74C3C"/>
                </a:solidFill>
                <a:latin typeface="Montserrat Bold" pitchFamily="34" charset="0"/>
                <a:ea typeface="Montserrat Bold" pitchFamily="34" charset="-122"/>
                <a:cs typeface="Montserrat Bold" pitchFamily="34" charset="-120"/>
              </a:rPr>
              <a:t>0.6832</a:t>
            </a:r>
            <a:endParaRPr lang="en-US" sz="850" dirty="0"/>
          </a:p>
        </p:txBody>
      </p:sp>
      <p:sp>
        <p:nvSpPr>
          <p:cNvPr id="20" name="Text 16"/>
          <p:cNvSpPr/>
          <p:nvPr/>
        </p:nvSpPr>
        <p:spPr>
          <a:xfrm>
            <a:off x="4519622" y="1640188"/>
            <a:ext cx="1125587" cy="430746"/>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0.8700</a:t>
            </a:r>
            <a:endParaRPr lang="en-US" sz="900" dirty="0"/>
          </a:p>
        </p:txBody>
      </p:sp>
      <p:sp>
        <p:nvSpPr>
          <p:cNvPr id="21" name="Text 17"/>
          <p:cNvSpPr/>
          <p:nvPr/>
        </p:nvSpPr>
        <p:spPr>
          <a:xfrm>
            <a:off x="5645209" y="1640188"/>
            <a:ext cx="3070166" cy="430746"/>
          </a:xfrm>
          <a:prstGeom prst="rect">
            <a:avLst/>
          </a:prstGeom>
          <a:noFill/>
          <a:ln/>
        </p:spPr>
        <p:txBody>
          <a:bodyPr wrap="square" lIns="170053" tIns="153035" rIns="170053" bIns="153035" rtlCol="0" anchor="ctr">
            <a:spAutoFit/>
          </a:bodyPr>
          <a:lstStyle/>
          <a:p>
            <a:pPr algn="l" indent="0" marL="0">
              <a:lnSpc>
                <a:spcPct val="112000"/>
              </a:lnSpc>
              <a:buNone/>
            </a:pPr>
            <a:r>
              <a:rPr lang="en-US" sz="900" i="1" dirty="0">
                <a:solidFill>
                  <a:srgbClr val="7F8C8D"/>
                </a:solidFill>
                <a:latin typeface="Montserrat" pitchFamily="34" charset="0"/>
                <a:ea typeface="Montserrat" pitchFamily="34" charset="-122"/>
                <a:cs typeface="Montserrat" pitchFamily="34" charset="-120"/>
              </a:rPr>
              <a:t>Heavily biased toward majority AI class.</a:t>
            </a:r>
            <a:endParaRPr lang="en-US" sz="900" dirty="0"/>
          </a:p>
        </p:txBody>
      </p:sp>
      <p:sp>
        <p:nvSpPr>
          <p:cNvPr id="22" name="Text 18"/>
          <p:cNvSpPr/>
          <p:nvPr/>
        </p:nvSpPr>
        <p:spPr>
          <a:xfrm>
            <a:off x="428625" y="2070934"/>
            <a:ext cx="1276136"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2C3E50"/>
                </a:solidFill>
                <a:latin typeface="Montserrat Bold" pitchFamily="34" charset="0"/>
                <a:ea typeface="Montserrat Bold" pitchFamily="34" charset="-122"/>
                <a:cs typeface="Montserrat Bold" pitchFamily="34" charset="-120"/>
              </a:rPr>
              <a:t>2. LoRA Trial</a:t>
            </a:r>
            <a:endParaRPr lang="en-US" sz="850" dirty="0"/>
          </a:p>
        </p:txBody>
      </p:sp>
      <p:sp>
        <p:nvSpPr>
          <p:cNvPr id="23" name="Text 19"/>
          <p:cNvSpPr/>
          <p:nvPr/>
        </p:nvSpPr>
        <p:spPr>
          <a:xfrm>
            <a:off x="1704761" y="2070934"/>
            <a:ext cx="1757223"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PEFT (r=16)</a:t>
            </a:r>
            <a:endParaRPr lang="en-US" sz="900" dirty="0"/>
          </a:p>
        </p:txBody>
      </p:sp>
      <p:sp>
        <p:nvSpPr>
          <p:cNvPr id="24" name="Text 20"/>
          <p:cNvSpPr/>
          <p:nvPr/>
        </p:nvSpPr>
        <p:spPr>
          <a:xfrm>
            <a:off x="3461984" y="2070934"/>
            <a:ext cx="1057638"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E74C3C"/>
                </a:solidFill>
                <a:latin typeface="Montserrat Bold" pitchFamily="34" charset="0"/>
                <a:ea typeface="Montserrat Bold" pitchFamily="34" charset="-122"/>
                <a:cs typeface="Montserrat Bold" pitchFamily="34" charset="-120"/>
              </a:rPr>
              <a:t>0.6126</a:t>
            </a:r>
            <a:endParaRPr lang="en-US" sz="850" dirty="0"/>
          </a:p>
        </p:txBody>
      </p:sp>
      <p:sp>
        <p:nvSpPr>
          <p:cNvPr id="25" name="Text 21"/>
          <p:cNvSpPr/>
          <p:nvPr/>
        </p:nvSpPr>
        <p:spPr>
          <a:xfrm>
            <a:off x="4519622" y="2070934"/>
            <a:ext cx="1125587"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0.7100</a:t>
            </a:r>
            <a:endParaRPr lang="en-US" sz="900" dirty="0"/>
          </a:p>
        </p:txBody>
      </p:sp>
      <p:sp>
        <p:nvSpPr>
          <p:cNvPr id="26" name="Text 22"/>
          <p:cNvSpPr/>
          <p:nvPr/>
        </p:nvSpPr>
        <p:spPr>
          <a:xfrm>
            <a:off x="5645209" y="2070934"/>
            <a:ext cx="3070166"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i="1" dirty="0">
                <a:solidFill>
                  <a:srgbClr val="7F8C8D"/>
                </a:solidFill>
                <a:latin typeface="Montserrat" pitchFamily="34" charset="0"/>
                <a:ea typeface="Montserrat" pitchFamily="34" charset="-122"/>
                <a:cs typeface="Montserrat" pitchFamily="34" charset="-120"/>
              </a:rPr>
              <a:t>Reduced capacity led to underfitting.</a:t>
            </a:r>
            <a:endParaRPr lang="en-US" sz="900" dirty="0"/>
          </a:p>
        </p:txBody>
      </p:sp>
      <p:sp>
        <p:nvSpPr>
          <p:cNvPr id="27" name="Text 23"/>
          <p:cNvSpPr/>
          <p:nvPr/>
        </p:nvSpPr>
        <p:spPr>
          <a:xfrm>
            <a:off x="428625" y="2505252"/>
            <a:ext cx="1276136"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2C3E50"/>
                </a:solidFill>
                <a:latin typeface="Montserrat Bold" pitchFamily="34" charset="0"/>
                <a:ea typeface="Montserrat Bold" pitchFamily="34" charset="-122"/>
                <a:cs typeface="Montserrat Bold" pitchFamily="34" charset="-120"/>
              </a:rPr>
              <a:t>3. Merged</a:t>
            </a:r>
            <a:endParaRPr lang="en-US" sz="850" dirty="0"/>
          </a:p>
        </p:txBody>
      </p:sp>
      <p:sp>
        <p:nvSpPr>
          <p:cNvPr id="28" name="Text 24"/>
          <p:cNvSpPr/>
          <p:nvPr/>
        </p:nvSpPr>
        <p:spPr>
          <a:xfrm>
            <a:off x="1704761" y="2505252"/>
            <a:ext cx="1757223"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3-Class Strategy</a:t>
            </a:r>
            <a:endParaRPr lang="en-US" sz="900" dirty="0"/>
          </a:p>
        </p:txBody>
      </p:sp>
      <p:sp>
        <p:nvSpPr>
          <p:cNvPr id="29" name="Text 25"/>
          <p:cNvSpPr/>
          <p:nvPr/>
        </p:nvSpPr>
        <p:spPr>
          <a:xfrm>
            <a:off x="3461984" y="2505252"/>
            <a:ext cx="1057638"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E74C3C"/>
                </a:solidFill>
                <a:latin typeface="Montserrat Bold" pitchFamily="34" charset="0"/>
                <a:ea typeface="Montserrat Bold" pitchFamily="34" charset="-122"/>
                <a:cs typeface="Montserrat Bold" pitchFamily="34" charset="-120"/>
              </a:rPr>
              <a:t>0.7906</a:t>
            </a:r>
            <a:endParaRPr lang="en-US" sz="850" dirty="0"/>
          </a:p>
        </p:txBody>
      </p:sp>
      <p:sp>
        <p:nvSpPr>
          <p:cNvPr id="30" name="Text 26"/>
          <p:cNvSpPr/>
          <p:nvPr/>
        </p:nvSpPr>
        <p:spPr>
          <a:xfrm>
            <a:off x="4519622" y="2505252"/>
            <a:ext cx="1125587"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0.8286</a:t>
            </a:r>
            <a:endParaRPr lang="en-US" sz="900" dirty="0"/>
          </a:p>
        </p:txBody>
      </p:sp>
      <p:sp>
        <p:nvSpPr>
          <p:cNvPr id="31" name="Text 27"/>
          <p:cNvSpPr/>
          <p:nvPr/>
        </p:nvSpPr>
        <p:spPr>
          <a:xfrm>
            <a:off x="5645209" y="2505252"/>
            <a:ext cx="3070166"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i="1" dirty="0">
                <a:solidFill>
                  <a:srgbClr val="7F8C8D"/>
                </a:solidFill>
                <a:latin typeface="Montserrat" pitchFamily="34" charset="0"/>
                <a:ea typeface="Montserrat" pitchFamily="34" charset="-122"/>
                <a:cs typeface="Montserrat" pitchFamily="34" charset="-120"/>
              </a:rPr>
              <a:t>Class consolidation improved stability.</a:t>
            </a:r>
            <a:endParaRPr lang="en-US" sz="900" dirty="0"/>
          </a:p>
        </p:txBody>
      </p:sp>
      <p:sp>
        <p:nvSpPr>
          <p:cNvPr id="32" name="Text 28"/>
          <p:cNvSpPr/>
          <p:nvPr/>
        </p:nvSpPr>
        <p:spPr>
          <a:xfrm>
            <a:off x="428625" y="2939569"/>
            <a:ext cx="1276136"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2C3E50"/>
                </a:solidFill>
                <a:latin typeface="Montserrat Bold" pitchFamily="34" charset="0"/>
                <a:ea typeface="Montserrat Bold" pitchFamily="34" charset="-122"/>
                <a:cs typeface="Montserrat Bold" pitchFamily="34" charset="-120"/>
              </a:rPr>
              <a:t>4. Focal Loss</a:t>
            </a:r>
            <a:endParaRPr lang="en-US" sz="850" dirty="0"/>
          </a:p>
        </p:txBody>
      </p:sp>
      <p:sp>
        <p:nvSpPr>
          <p:cNvPr id="33" name="Text 29"/>
          <p:cNvSpPr/>
          <p:nvPr/>
        </p:nvSpPr>
        <p:spPr>
          <a:xfrm>
            <a:off x="1704761" y="2939569"/>
            <a:ext cx="1757223"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Gamma = 2.0</a:t>
            </a:r>
            <a:endParaRPr lang="en-US" sz="900" dirty="0"/>
          </a:p>
        </p:txBody>
      </p:sp>
      <p:sp>
        <p:nvSpPr>
          <p:cNvPr id="34" name="Text 30"/>
          <p:cNvSpPr/>
          <p:nvPr/>
        </p:nvSpPr>
        <p:spPr>
          <a:xfrm>
            <a:off x="3461984" y="2939569"/>
            <a:ext cx="1057638"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E74C3C"/>
                </a:solidFill>
                <a:latin typeface="Montserrat Bold" pitchFamily="34" charset="0"/>
                <a:ea typeface="Montserrat Bold" pitchFamily="34" charset="-122"/>
                <a:cs typeface="Montserrat Bold" pitchFamily="34" charset="-120"/>
              </a:rPr>
              <a:t>0.7906</a:t>
            </a:r>
            <a:endParaRPr lang="en-US" sz="850" dirty="0"/>
          </a:p>
        </p:txBody>
      </p:sp>
      <p:sp>
        <p:nvSpPr>
          <p:cNvPr id="35" name="Text 31"/>
          <p:cNvSpPr/>
          <p:nvPr/>
        </p:nvSpPr>
        <p:spPr>
          <a:xfrm>
            <a:off x="4519622" y="2939569"/>
            <a:ext cx="1125587"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0.8286</a:t>
            </a:r>
            <a:endParaRPr lang="en-US" sz="900" dirty="0"/>
          </a:p>
        </p:txBody>
      </p:sp>
      <p:sp>
        <p:nvSpPr>
          <p:cNvPr id="36" name="Text 32"/>
          <p:cNvSpPr/>
          <p:nvPr/>
        </p:nvSpPr>
        <p:spPr>
          <a:xfrm>
            <a:off x="5645209" y="2939569"/>
            <a:ext cx="3070166"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i="1" dirty="0">
                <a:solidFill>
                  <a:srgbClr val="7F8C8D"/>
                </a:solidFill>
                <a:latin typeface="Montserrat" pitchFamily="34" charset="0"/>
                <a:ea typeface="Montserrat" pitchFamily="34" charset="-122"/>
                <a:cs typeface="Montserrat" pitchFamily="34" charset="-120"/>
              </a:rPr>
              <a:t>Reduced majority class gradient dominance.</a:t>
            </a:r>
            <a:endParaRPr lang="en-US" sz="900" dirty="0"/>
          </a:p>
        </p:txBody>
      </p:sp>
      <p:sp>
        <p:nvSpPr>
          <p:cNvPr id="37" name="Shape 33"/>
          <p:cNvSpPr/>
          <p:nvPr/>
        </p:nvSpPr>
        <p:spPr>
          <a:xfrm>
            <a:off x="428625" y="3373887"/>
            <a:ext cx="8286750" cy="434318"/>
          </a:xfrm>
          <a:prstGeom prst="rect">
            <a:avLst/>
          </a:prstGeom>
          <a:solidFill>
            <a:srgbClr val="E74C3C">
              <a:alpha val="5000"/>
            </a:srgbClr>
          </a:solidFill>
          <a:ln/>
        </p:spPr>
      </p:sp>
      <p:sp>
        <p:nvSpPr>
          <p:cNvPr id="38" name="Text 34"/>
          <p:cNvSpPr/>
          <p:nvPr/>
        </p:nvSpPr>
        <p:spPr>
          <a:xfrm>
            <a:off x="428625" y="3373887"/>
            <a:ext cx="1276136"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2C3E50"/>
                </a:solidFill>
                <a:latin typeface="Montserrat Bold" pitchFamily="34" charset="0"/>
                <a:ea typeface="Montserrat Bold" pitchFamily="34" charset="-122"/>
                <a:cs typeface="Montserrat Bold" pitchFamily="34" charset="-120"/>
              </a:rPr>
              <a:t>5. Final Best</a:t>
            </a:r>
            <a:endParaRPr lang="en-US" sz="850" dirty="0"/>
          </a:p>
        </p:txBody>
      </p:sp>
      <p:sp>
        <p:nvSpPr>
          <p:cNvPr id="39" name="Text 35"/>
          <p:cNvSpPr/>
          <p:nvPr/>
        </p:nvSpPr>
        <p:spPr>
          <a:xfrm>
            <a:off x="1704761" y="3373887"/>
            <a:ext cx="1757223"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Oversampling + Tuning</a:t>
            </a:r>
            <a:endParaRPr lang="en-US" sz="900" dirty="0"/>
          </a:p>
        </p:txBody>
      </p:sp>
      <p:sp>
        <p:nvSpPr>
          <p:cNvPr id="40" name="Text 36"/>
          <p:cNvSpPr/>
          <p:nvPr/>
        </p:nvSpPr>
        <p:spPr>
          <a:xfrm>
            <a:off x="3461984" y="3373887"/>
            <a:ext cx="1057638"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850" b="1" dirty="0">
                <a:solidFill>
                  <a:srgbClr val="E74C3C"/>
                </a:solidFill>
                <a:latin typeface="Montserrat Bold" pitchFamily="34" charset="0"/>
                <a:ea typeface="Montserrat Bold" pitchFamily="34" charset="-122"/>
                <a:cs typeface="Montserrat Bold" pitchFamily="34" charset="-120"/>
              </a:rPr>
              <a:t>0.8198</a:t>
            </a:r>
            <a:endParaRPr lang="en-US" sz="850" dirty="0"/>
          </a:p>
        </p:txBody>
      </p:sp>
      <p:sp>
        <p:nvSpPr>
          <p:cNvPr id="41" name="Text 37"/>
          <p:cNvSpPr/>
          <p:nvPr/>
        </p:nvSpPr>
        <p:spPr>
          <a:xfrm>
            <a:off x="4519622" y="3373887"/>
            <a:ext cx="1125587"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dirty="0">
                <a:solidFill>
                  <a:srgbClr val="34495E"/>
                </a:solidFill>
                <a:latin typeface="Montserrat" pitchFamily="34" charset="0"/>
                <a:ea typeface="Montserrat" pitchFamily="34" charset="-122"/>
                <a:cs typeface="Montserrat" pitchFamily="34" charset="-120"/>
              </a:rPr>
              <a:t>0.8551</a:t>
            </a:r>
            <a:endParaRPr lang="en-US" sz="900" dirty="0"/>
          </a:p>
        </p:txBody>
      </p:sp>
      <p:sp>
        <p:nvSpPr>
          <p:cNvPr id="42" name="Text 38"/>
          <p:cNvSpPr/>
          <p:nvPr/>
        </p:nvSpPr>
        <p:spPr>
          <a:xfrm>
            <a:off x="5645209" y="3373887"/>
            <a:ext cx="3070166" cy="434318"/>
          </a:xfrm>
          <a:prstGeom prst="rect">
            <a:avLst/>
          </a:prstGeom>
          <a:noFill/>
          <a:ln/>
        </p:spPr>
        <p:txBody>
          <a:bodyPr wrap="square" lIns="170053" tIns="153035" rIns="170053" bIns="153035" rtlCol="0" anchor="ctr">
            <a:spAutoFit/>
          </a:bodyPr>
          <a:lstStyle/>
          <a:p>
            <a:pPr algn="l" indent="0" marL="0">
              <a:lnSpc>
                <a:spcPct val="112000"/>
              </a:lnSpc>
              <a:buNone/>
            </a:pPr>
            <a:r>
              <a:rPr lang="en-US" sz="900" i="1" dirty="0">
                <a:solidFill>
                  <a:srgbClr val="7F8C8D"/>
                </a:solidFill>
                <a:latin typeface="Montserrat" pitchFamily="34" charset="0"/>
                <a:ea typeface="Montserrat" pitchFamily="34" charset="-122"/>
                <a:cs typeface="Montserrat" pitchFamily="34" charset="-120"/>
              </a:rPr>
              <a:t>Best balance of precision and recall.</a:t>
            </a:r>
            <a:endParaRPr lang="en-US" sz="900" dirty="0"/>
          </a:p>
        </p:txBody>
      </p:sp>
      <p:sp>
        <p:nvSpPr>
          <p:cNvPr id="43" name="Text 39"/>
          <p:cNvSpPr/>
          <p:nvPr/>
        </p:nvSpPr>
        <p:spPr>
          <a:xfrm>
            <a:off x="574374" y="4118958"/>
            <a:ext cx="8141001"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34495E"/>
                </a:solidFill>
                <a:latin typeface="Montserrat Bold" pitchFamily="34" charset="0"/>
                <a:ea typeface="Montserrat Bold" pitchFamily="34" charset="-122"/>
                <a:cs typeface="Montserrat Bold" pitchFamily="34" charset="-120"/>
              </a:rPr>
              <a:t>Conclusion:</a:t>
            </a:r>
            <a:r>
              <a:rPr lang="en-US" sz="950" dirty="0">
                <a:solidFill>
                  <a:srgbClr val="34495E"/>
                </a:solidFill>
                <a:latin typeface="Montserrat" pitchFamily="34" charset="0"/>
                <a:ea typeface="Montserrat" pitchFamily="34" charset="-122"/>
                <a:cs typeface="Montserrat" pitchFamily="34" charset="-120"/>
              </a:rPr>
              <a:t> The final model achieved a </a:t>
            </a:r>
            <a:r>
              <a:rPr lang="en-US" sz="900" b="1" dirty="0">
                <a:solidFill>
                  <a:srgbClr val="34495E"/>
                </a:solidFill>
                <a:latin typeface="Montserrat Bold" pitchFamily="34" charset="0"/>
                <a:ea typeface="Montserrat Bold" pitchFamily="34" charset="-122"/>
                <a:cs typeface="Montserrat Bold" pitchFamily="34" charset="-120"/>
              </a:rPr>
              <a:t>20.0% improvement</a:t>
            </a:r>
            <a:r>
              <a:rPr lang="en-US" sz="950" dirty="0">
                <a:solidFill>
                  <a:srgbClr val="34495E"/>
                </a:solidFill>
                <a:latin typeface="Montserrat" pitchFamily="34" charset="0"/>
                <a:ea typeface="Montserrat" pitchFamily="34" charset="-122"/>
                <a:cs typeface="Montserrat" pitchFamily="34" charset="-120"/>
              </a:rPr>
              <a:t> in Macro F1 over the baseline by shifting focus from raw accuracy </a:t>
            </a:r>
            <a:r>
              <a:rPr lang="en-US" sz="950" dirty="0">
                <a:solidFill>
                  <a:srgbClr val="34495E"/>
                </a:solidFill>
                <a:latin typeface="Montserrat" pitchFamily="34" charset="0"/>
                <a:ea typeface="Montserrat" pitchFamily="34" charset="-122"/>
                <a:cs typeface="Montserrat" pitchFamily="34" charset="-120"/>
              </a:rPr>
              <a:t>to class-balanced performance.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3557532" cy="1234390"/>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2C3E50"/>
                </a:solidFill>
                <a:latin typeface="Playfair Display Bold" pitchFamily="34" charset="0"/>
                <a:ea typeface="Playfair Display Bold" pitchFamily="34" charset="-122"/>
                <a:cs typeface="Playfair Display Bold" pitchFamily="34" charset="-120"/>
              </a:rPr>
              <a:t>Superior Recall and Balanced Confusion Matrix</a:t>
            </a:r>
            <a:endParaRPr lang="en-US" sz="2450" dirty="0"/>
          </a:p>
        </p:txBody>
      </p:sp>
      <p:sp>
        <p:nvSpPr>
          <p:cNvPr id="5" name="Text 1"/>
          <p:cNvSpPr/>
          <p:nvPr/>
        </p:nvSpPr>
        <p:spPr>
          <a:xfrm>
            <a:off x="428625" y="2091640"/>
            <a:ext cx="3557532" cy="514350"/>
          </a:xfrm>
          <a:prstGeom prst="rect">
            <a:avLst/>
          </a:prstGeom>
          <a:noFill/>
          <a:ln/>
        </p:spPr>
        <p:txBody>
          <a:bodyPr wrap="none" lIns="0" tIns="0" rIns="0" bIns="0" rtlCol="0" anchor="t">
            <a:spAutoFit/>
          </a:bodyPr>
          <a:lstStyle/>
          <a:p>
            <a:pPr algn="l" indent="0" marL="0">
              <a:lnSpc>
                <a:spcPct val="80000"/>
              </a:lnSpc>
              <a:buNone/>
            </a:pPr>
            <a:r>
              <a:rPr lang="en-US" sz="3750" b="1" dirty="0">
                <a:solidFill>
                  <a:srgbClr val="E74C3C"/>
                </a:solidFill>
                <a:latin typeface="Playfair Display Bold" pitchFamily="34" charset="0"/>
                <a:ea typeface="Playfair Display Bold" pitchFamily="34" charset="-122"/>
                <a:cs typeface="Playfair Display Bold" pitchFamily="34" charset="-120"/>
              </a:rPr>
              <a:t>0.8198</a:t>
            </a:r>
            <a:endParaRPr lang="en-US" sz="3750" dirty="0"/>
          </a:p>
        </p:txBody>
      </p:sp>
      <p:sp>
        <p:nvSpPr>
          <p:cNvPr id="6" name="Text 2"/>
          <p:cNvSpPr/>
          <p:nvPr/>
        </p:nvSpPr>
        <p:spPr>
          <a:xfrm>
            <a:off x="428625" y="2677427"/>
            <a:ext cx="3557532" cy="208955"/>
          </a:xfrm>
          <a:prstGeom prst="rect">
            <a:avLst/>
          </a:prstGeom>
          <a:noFill/>
          <a:ln/>
        </p:spPr>
        <p:txBody>
          <a:bodyPr wrap="square" lIns="0" tIns="0" rIns="0" bIns="0" rtlCol="0" anchor="t">
            <a:spAutoFit/>
          </a:bodyPr>
          <a:lstStyle/>
          <a:p>
            <a:pPr algn="l" indent="0" marL="0">
              <a:buNone/>
            </a:pPr>
            <a:r>
              <a:rPr lang="en-US" sz="1200" b="1" spc="1" kern="0" dirty="0">
                <a:solidFill>
                  <a:srgbClr val="2C3E50"/>
                </a:solidFill>
                <a:latin typeface="Montserrat Bold" pitchFamily="34" charset="0"/>
                <a:ea typeface="Montserrat Bold" pitchFamily="34" charset="-122"/>
                <a:cs typeface="Montserrat Bold" pitchFamily="34" charset="-120"/>
              </a:rPr>
              <a:t>FINAL MACRO F1</a:t>
            </a:r>
            <a:endParaRPr lang="en-US" sz="1200" dirty="0"/>
          </a:p>
        </p:txBody>
      </p:sp>
      <p:sp>
        <p:nvSpPr>
          <p:cNvPr id="7" name="Text 3"/>
          <p:cNvSpPr/>
          <p:nvPr/>
        </p:nvSpPr>
        <p:spPr>
          <a:xfrm>
            <a:off x="428625" y="3172132"/>
            <a:ext cx="3557532" cy="514350"/>
          </a:xfrm>
          <a:prstGeom prst="rect">
            <a:avLst/>
          </a:prstGeom>
          <a:noFill/>
          <a:ln/>
        </p:spPr>
        <p:txBody>
          <a:bodyPr wrap="none" lIns="0" tIns="0" rIns="0" bIns="0" rtlCol="0" anchor="t">
            <a:spAutoFit/>
          </a:bodyPr>
          <a:lstStyle/>
          <a:p>
            <a:pPr algn="l" indent="0" marL="0">
              <a:lnSpc>
                <a:spcPct val="80000"/>
              </a:lnSpc>
              <a:buNone/>
            </a:pPr>
            <a:r>
              <a:rPr lang="en-US" sz="3750" b="1" dirty="0">
                <a:solidFill>
                  <a:srgbClr val="E74C3C"/>
                </a:solidFill>
                <a:latin typeface="Playfair Display Bold" pitchFamily="34" charset="0"/>
                <a:ea typeface="Playfair Display Bold" pitchFamily="34" charset="-122"/>
                <a:cs typeface="Playfair Display Bold" pitchFamily="34" charset="-120"/>
              </a:rPr>
              <a:t>85.5%</a:t>
            </a:r>
            <a:endParaRPr lang="en-US" sz="3750" dirty="0"/>
          </a:p>
        </p:txBody>
      </p:sp>
      <p:sp>
        <p:nvSpPr>
          <p:cNvPr id="8" name="Text 4"/>
          <p:cNvSpPr/>
          <p:nvPr/>
        </p:nvSpPr>
        <p:spPr>
          <a:xfrm>
            <a:off x="428625" y="3757919"/>
            <a:ext cx="3557532" cy="208955"/>
          </a:xfrm>
          <a:prstGeom prst="rect">
            <a:avLst/>
          </a:prstGeom>
          <a:noFill/>
          <a:ln/>
        </p:spPr>
        <p:txBody>
          <a:bodyPr wrap="square" lIns="0" tIns="0" rIns="0" bIns="0" rtlCol="0" anchor="t">
            <a:spAutoFit/>
          </a:bodyPr>
          <a:lstStyle/>
          <a:p>
            <a:pPr algn="l" indent="0" marL="0">
              <a:buNone/>
            </a:pPr>
            <a:r>
              <a:rPr lang="en-US" sz="1200" b="1" spc="1" kern="0" dirty="0">
                <a:solidFill>
                  <a:srgbClr val="2C3E50"/>
                </a:solidFill>
                <a:latin typeface="Montserrat Bold" pitchFamily="34" charset="0"/>
                <a:ea typeface="Montserrat Bold" pitchFamily="34" charset="-122"/>
                <a:cs typeface="Montserrat Bold" pitchFamily="34" charset="-120"/>
              </a:rPr>
              <a:t>STABLE ACCURACY</a:t>
            </a:r>
            <a:endParaRPr lang="en-US" sz="1200" dirty="0"/>
          </a:p>
        </p:txBody>
      </p:sp>
      <p:sp>
        <p:nvSpPr>
          <p:cNvPr id="9" name="Text 5"/>
          <p:cNvSpPr/>
          <p:nvPr/>
        </p:nvSpPr>
        <p:spPr>
          <a:xfrm>
            <a:off x="428625" y="4252624"/>
            <a:ext cx="3557532"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7F8C8D"/>
                </a:solidFill>
                <a:latin typeface="Montserrat" pitchFamily="34" charset="0"/>
                <a:ea typeface="Montserrat" pitchFamily="34" charset="-122"/>
                <a:cs typeface="Montserrat" pitchFamily="34" charset="-120"/>
              </a:rPr>
              <a:t>The final model achieved the best balance by prioritizing minority class recall through oversampling and threshold tuning, reaching a peak F1 of 0.8198.</a:t>
            </a:r>
            <a:endParaRPr lang="en-US" sz="950" dirty="0"/>
          </a:p>
        </p:txBody>
      </p:sp>
      <p:sp>
        <p:nvSpPr>
          <p:cNvPr id="10" name="Text 6"/>
          <p:cNvSpPr/>
          <p:nvPr/>
        </p:nvSpPr>
        <p:spPr>
          <a:xfrm>
            <a:off x="4275367" y="428625"/>
            <a:ext cx="4440008" cy="173236"/>
          </a:xfrm>
          <a:prstGeom prst="rect">
            <a:avLst/>
          </a:prstGeom>
          <a:noFill/>
          <a:ln/>
        </p:spPr>
        <p:txBody>
          <a:bodyPr wrap="square" lIns="0" tIns="0" rIns="0" bIns="0" rtlCol="0" anchor="t">
            <a:spAutoFit/>
          </a:bodyPr>
          <a:lstStyle/>
          <a:p>
            <a:pPr algn="ctr" indent="0" marL="0">
              <a:buNone/>
            </a:pPr>
            <a:r>
              <a:rPr lang="en-US" sz="1000" b="1" dirty="0">
                <a:solidFill>
                  <a:srgbClr val="2C3E50"/>
                </a:solidFill>
                <a:latin typeface="Montserrat Bold" pitchFamily="34" charset="0"/>
                <a:ea typeface="Montserrat Bold" pitchFamily="34" charset="-122"/>
                <a:cs typeface="Montserrat Bold" pitchFamily="34" charset="-120"/>
              </a:rPr>
              <a:t>Final Model Confusion Matrix</a:t>
            </a:r>
            <a:endParaRPr lang="en-US" sz="1000" dirty="0"/>
          </a:p>
        </p:txBody>
      </p:sp>
      <p:sp>
        <p:nvSpPr>
          <p:cNvPr id="11" name="Shape 7"/>
          <p:cNvSpPr/>
          <p:nvPr/>
        </p:nvSpPr>
        <p:spPr>
          <a:xfrm>
            <a:off x="4275367" y="744736"/>
            <a:ext cx="4440008" cy="3021806"/>
          </a:xfrm>
          <a:prstGeom prst="rect">
            <a:avLst/>
          </a:prstGeom>
          <a:solidFill>
            <a:srgbClr val="FFFFFF"/>
          </a:solidFill>
          <a:ln w="9144">
            <a:solidFill>
              <a:srgbClr val="BDC3C7"/>
            </a:solidFill>
            <a:prstDash val="solid"/>
          </a:ln>
        </p:spPr>
      </p:sp>
      <p:sp>
        <p:nvSpPr>
          <p:cNvPr id="12" name="Shape 8"/>
          <p:cNvSpPr/>
          <p:nvPr/>
        </p:nvSpPr>
        <p:spPr>
          <a:xfrm>
            <a:off x="5494297" y="962620"/>
            <a:ext cx="1001046" cy="642938"/>
          </a:xfrm>
          <a:prstGeom prst="rect">
            <a:avLst/>
          </a:prstGeom>
          <a:solidFill>
            <a:srgbClr val="2C3E50"/>
          </a:solidFill>
          <a:ln w="9144">
            <a:solidFill>
              <a:srgbClr val="BDC3C7"/>
            </a:solidFill>
            <a:prstDash val="solid"/>
          </a:ln>
        </p:spPr>
      </p:sp>
      <p:sp>
        <p:nvSpPr>
          <p:cNvPr id="13" name="Text 9"/>
          <p:cNvSpPr/>
          <p:nvPr/>
        </p:nvSpPr>
        <p:spPr>
          <a:xfrm>
            <a:off x="5494297" y="962620"/>
            <a:ext cx="1001046" cy="642938"/>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Montserrat" pitchFamily="34" charset="0"/>
                <a:ea typeface="Montserrat" pitchFamily="34" charset="-122"/>
                <a:cs typeface="Montserrat" pitchFamily="34" charset="-120"/>
              </a:rPr>
              <a:t>AI/ML</a:t>
            </a:r>
            <a:endParaRPr lang="en-US" sz="950" dirty="0"/>
          </a:p>
        </p:txBody>
      </p:sp>
      <p:sp>
        <p:nvSpPr>
          <p:cNvPr id="14" name="Shape 10"/>
          <p:cNvSpPr/>
          <p:nvPr/>
        </p:nvSpPr>
        <p:spPr>
          <a:xfrm>
            <a:off x="6495343" y="962620"/>
            <a:ext cx="1001046" cy="642938"/>
          </a:xfrm>
          <a:prstGeom prst="rect">
            <a:avLst/>
          </a:prstGeom>
          <a:solidFill>
            <a:srgbClr val="2C3E50"/>
          </a:solidFill>
          <a:ln w="9144">
            <a:solidFill>
              <a:srgbClr val="BDC3C7"/>
            </a:solidFill>
            <a:prstDash val="solid"/>
          </a:ln>
        </p:spPr>
      </p:sp>
      <p:sp>
        <p:nvSpPr>
          <p:cNvPr id="15" name="Text 11"/>
          <p:cNvSpPr/>
          <p:nvPr/>
        </p:nvSpPr>
        <p:spPr>
          <a:xfrm>
            <a:off x="6495343" y="962620"/>
            <a:ext cx="1001046" cy="642938"/>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Montserrat" pitchFamily="34" charset="0"/>
                <a:ea typeface="Montserrat" pitchFamily="34" charset="-122"/>
                <a:cs typeface="Montserrat" pitchFamily="34" charset="-120"/>
              </a:rPr>
              <a:t>Web</a:t>
            </a:r>
            <a:endParaRPr lang="en-US" sz="950" dirty="0"/>
          </a:p>
        </p:txBody>
      </p:sp>
      <p:sp>
        <p:nvSpPr>
          <p:cNvPr id="16" name="Shape 12"/>
          <p:cNvSpPr/>
          <p:nvPr/>
        </p:nvSpPr>
        <p:spPr>
          <a:xfrm>
            <a:off x="7496389" y="962620"/>
            <a:ext cx="1001102" cy="642938"/>
          </a:xfrm>
          <a:prstGeom prst="rect">
            <a:avLst/>
          </a:prstGeom>
          <a:solidFill>
            <a:srgbClr val="2C3E50"/>
          </a:solidFill>
          <a:ln w="9144">
            <a:solidFill>
              <a:srgbClr val="BDC3C7"/>
            </a:solidFill>
            <a:prstDash val="solid"/>
          </a:ln>
        </p:spPr>
      </p:sp>
      <p:sp>
        <p:nvSpPr>
          <p:cNvPr id="17" name="Text 13"/>
          <p:cNvSpPr/>
          <p:nvPr/>
        </p:nvSpPr>
        <p:spPr>
          <a:xfrm>
            <a:off x="7496389" y="962620"/>
            <a:ext cx="1001102" cy="642938"/>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Montserrat" pitchFamily="34" charset="0"/>
                <a:ea typeface="Montserrat" pitchFamily="34" charset="-122"/>
                <a:cs typeface="Montserrat" pitchFamily="34" charset="-120"/>
              </a:rPr>
              <a:t>Mobile</a:t>
            </a:r>
            <a:endParaRPr lang="en-US" sz="950" dirty="0"/>
          </a:p>
        </p:txBody>
      </p:sp>
      <p:sp>
        <p:nvSpPr>
          <p:cNvPr id="18" name="Shape 14"/>
          <p:cNvSpPr/>
          <p:nvPr/>
        </p:nvSpPr>
        <p:spPr>
          <a:xfrm>
            <a:off x="4493251" y="1601986"/>
            <a:ext cx="1001046" cy="642938"/>
          </a:xfrm>
          <a:prstGeom prst="rect">
            <a:avLst/>
          </a:prstGeom>
          <a:solidFill>
            <a:srgbClr val="2C3E50"/>
          </a:solidFill>
          <a:ln w="9144">
            <a:solidFill>
              <a:srgbClr val="BDC3C7"/>
            </a:solidFill>
            <a:prstDash val="solid"/>
          </a:ln>
        </p:spPr>
      </p:sp>
      <p:sp>
        <p:nvSpPr>
          <p:cNvPr id="19" name="Text 15"/>
          <p:cNvSpPr/>
          <p:nvPr/>
        </p:nvSpPr>
        <p:spPr>
          <a:xfrm>
            <a:off x="4493251" y="1601986"/>
            <a:ext cx="1001046" cy="642938"/>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Montserrat" pitchFamily="34" charset="0"/>
                <a:ea typeface="Montserrat" pitchFamily="34" charset="-122"/>
                <a:cs typeface="Montserrat" pitchFamily="34" charset="-120"/>
              </a:rPr>
              <a:t>AI/ML</a:t>
            </a:r>
            <a:endParaRPr lang="en-US" sz="950" dirty="0"/>
          </a:p>
        </p:txBody>
      </p:sp>
      <p:sp>
        <p:nvSpPr>
          <p:cNvPr id="20" name="Shape 16"/>
          <p:cNvSpPr/>
          <p:nvPr/>
        </p:nvSpPr>
        <p:spPr>
          <a:xfrm>
            <a:off x="5494297" y="1601986"/>
            <a:ext cx="1001046" cy="642938"/>
          </a:xfrm>
          <a:prstGeom prst="rect">
            <a:avLst/>
          </a:prstGeom>
          <a:solidFill>
            <a:srgbClr val="E74C3C">
              <a:alpha val="15000"/>
            </a:srgbClr>
          </a:solidFill>
          <a:ln w="9144">
            <a:solidFill>
              <a:srgbClr val="BDC3C7"/>
            </a:solidFill>
            <a:prstDash val="solid"/>
          </a:ln>
        </p:spPr>
      </p:sp>
      <p:sp>
        <p:nvSpPr>
          <p:cNvPr id="21" name="Text 17"/>
          <p:cNvSpPr/>
          <p:nvPr/>
        </p:nvSpPr>
        <p:spPr>
          <a:xfrm>
            <a:off x="5494297" y="1601986"/>
            <a:ext cx="1001046" cy="642938"/>
          </a:xfrm>
          <a:prstGeom prst="rect">
            <a:avLst/>
          </a:prstGeom>
          <a:noFill/>
          <a:ln/>
        </p:spPr>
        <p:txBody>
          <a:bodyPr wrap="none" lIns="0" tIns="0" rIns="0" bIns="0" rtlCol="0" anchor="ctr">
            <a:spAutoFit/>
          </a:bodyPr>
          <a:lstStyle/>
          <a:p>
            <a:pPr algn="ctr" indent="0" marL="0">
              <a:buNone/>
            </a:pPr>
            <a:r>
              <a:rPr lang="en-US" sz="900" b="1" dirty="0">
                <a:solidFill>
                  <a:srgbClr val="2C3E50"/>
                </a:solidFill>
                <a:latin typeface="Montserrat Bold" pitchFamily="34" charset="0"/>
                <a:ea typeface="Montserrat Bold" pitchFamily="34" charset="-122"/>
                <a:cs typeface="Montserrat Bold" pitchFamily="34" charset="-120"/>
              </a:rPr>
              <a:t>0.89</a:t>
            </a:r>
            <a:endParaRPr lang="en-US" sz="900" dirty="0"/>
          </a:p>
        </p:txBody>
      </p:sp>
      <p:sp>
        <p:nvSpPr>
          <p:cNvPr id="22" name="Text 18"/>
          <p:cNvSpPr/>
          <p:nvPr/>
        </p:nvSpPr>
        <p:spPr>
          <a:xfrm>
            <a:off x="6495343" y="1601986"/>
            <a:ext cx="1001046" cy="642938"/>
          </a:xfrm>
          <a:prstGeom prst="rect">
            <a:avLst/>
          </a:prstGeom>
          <a:noFill/>
          <a:ln/>
        </p:spPr>
        <p:txBody>
          <a:bodyPr wrap="none" lIns="0" tIns="0" rIns="0" bIns="0" rtlCol="0" anchor="ctr">
            <a:spAutoFit/>
          </a:bodyPr>
          <a:lstStyle/>
          <a:p>
            <a:pPr algn="ctr" indent="0" marL="0">
              <a:buNone/>
            </a:pPr>
            <a:r>
              <a:rPr lang="en-US" sz="950" dirty="0">
                <a:solidFill>
                  <a:srgbClr val="7F8C8D"/>
                </a:solidFill>
                <a:latin typeface="Montserrat" pitchFamily="34" charset="0"/>
                <a:ea typeface="Montserrat" pitchFamily="34" charset="-122"/>
                <a:cs typeface="Montserrat" pitchFamily="34" charset="-120"/>
              </a:rPr>
              <a:t>0.07</a:t>
            </a:r>
            <a:endParaRPr lang="en-US" sz="950" dirty="0"/>
          </a:p>
        </p:txBody>
      </p:sp>
      <p:sp>
        <p:nvSpPr>
          <p:cNvPr id="23" name="Text 19"/>
          <p:cNvSpPr/>
          <p:nvPr/>
        </p:nvSpPr>
        <p:spPr>
          <a:xfrm>
            <a:off x="7496389" y="1601986"/>
            <a:ext cx="1001102" cy="642938"/>
          </a:xfrm>
          <a:prstGeom prst="rect">
            <a:avLst/>
          </a:prstGeom>
          <a:noFill/>
          <a:ln/>
        </p:spPr>
        <p:txBody>
          <a:bodyPr wrap="none" lIns="0" tIns="0" rIns="0" bIns="0" rtlCol="0" anchor="ctr">
            <a:spAutoFit/>
          </a:bodyPr>
          <a:lstStyle/>
          <a:p>
            <a:pPr algn="ctr" indent="0" marL="0">
              <a:buNone/>
            </a:pPr>
            <a:r>
              <a:rPr lang="en-US" sz="950" dirty="0">
                <a:solidFill>
                  <a:srgbClr val="7F8C8D"/>
                </a:solidFill>
                <a:latin typeface="Montserrat" pitchFamily="34" charset="0"/>
                <a:ea typeface="Montserrat" pitchFamily="34" charset="-122"/>
                <a:cs typeface="Montserrat" pitchFamily="34" charset="-120"/>
              </a:rPr>
              <a:t>0.04</a:t>
            </a:r>
            <a:endParaRPr lang="en-US" sz="950" dirty="0"/>
          </a:p>
        </p:txBody>
      </p:sp>
      <p:sp>
        <p:nvSpPr>
          <p:cNvPr id="24" name="Shape 20"/>
          <p:cNvSpPr/>
          <p:nvPr/>
        </p:nvSpPr>
        <p:spPr>
          <a:xfrm>
            <a:off x="4493251" y="2244923"/>
            <a:ext cx="1001046" cy="642938"/>
          </a:xfrm>
          <a:prstGeom prst="rect">
            <a:avLst/>
          </a:prstGeom>
          <a:solidFill>
            <a:srgbClr val="2C3E50"/>
          </a:solidFill>
          <a:ln w="9144">
            <a:solidFill>
              <a:srgbClr val="BDC3C7"/>
            </a:solidFill>
            <a:prstDash val="solid"/>
          </a:ln>
        </p:spPr>
      </p:sp>
      <p:sp>
        <p:nvSpPr>
          <p:cNvPr id="25" name="Text 21"/>
          <p:cNvSpPr/>
          <p:nvPr/>
        </p:nvSpPr>
        <p:spPr>
          <a:xfrm>
            <a:off x="4493251" y="2244923"/>
            <a:ext cx="1001046" cy="642938"/>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Montserrat" pitchFamily="34" charset="0"/>
                <a:ea typeface="Montserrat" pitchFamily="34" charset="-122"/>
                <a:cs typeface="Montserrat" pitchFamily="34" charset="-120"/>
              </a:rPr>
              <a:t>Web</a:t>
            </a:r>
            <a:endParaRPr lang="en-US" sz="950" dirty="0"/>
          </a:p>
        </p:txBody>
      </p:sp>
      <p:sp>
        <p:nvSpPr>
          <p:cNvPr id="26" name="Text 22"/>
          <p:cNvSpPr/>
          <p:nvPr/>
        </p:nvSpPr>
        <p:spPr>
          <a:xfrm>
            <a:off x="5494297" y="2244923"/>
            <a:ext cx="1001046" cy="642938"/>
          </a:xfrm>
          <a:prstGeom prst="rect">
            <a:avLst/>
          </a:prstGeom>
          <a:noFill/>
          <a:ln/>
        </p:spPr>
        <p:txBody>
          <a:bodyPr wrap="none" lIns="0" tIns="0" rIns="0" bIns="0" rtlCol="0" anchor="ctr">
            <a:spAutoFit/>
          </a:bodyPr>
          <a:lstStyle/>
          <a:p>
            <a:pPr algn="ctr" indent="0" marL="0">
              <a:buNone/>
            </a:pPr>
            <a:r>
              <a:rPr lang="en-US" sz="950" dirty="0">
                <a:solidFill>
                  <a:srgbClr val="7F8C8D"/>
                </a:solidFill>
                <a:latin typeface="Montserrat" pitchFamily="34" charset="0"/>
                <a:ea typeface="Montserrat" pitchFamily="34" charset="-122"/>
                <a:cs typeface="Montserrat" pitchFamily="34" charset="-120"/>
              </a:rPr>
              <a:t>0.10</a:t>
            </a:r>
            <a:endParaRPr lang="en-US" sz="950" dirty="0"/>
          </a:p>
        </p:txBody>
      </p:sp>
      <p:sp>
        <p:nvSpPr>
          <p:cNvPr id="27" name="Shape 23"/>
          <p:cNvSpPr/>
          <p:nvPr/>
        </p:nvSpPr>
        <p:spPr>
          <a:xfrm>
            <a:off x="6495343" y="2244923"/>
            <a:ext cx="1001046" cy="642938"/>
          </a:xfrm>
          <a:prstGeom prst="rect">
            <a:avLst/>
          </a:prstGeom>
          <a:solidFill>
            <a:srgbClr val="E74C3C">
              <a:alpha val="15000"/>
            </a:srgbClr>
          </a:solidFill>
          <a:ln w="9144">
            <a:solidFill>
              <a:srgbClr val="BDC3C7"/>
            </a:solidFill>
            <a:prstDash val="solid"/>
          </a:ln>
        </p:spPr>
      </p:sp>
      <p:sp>
        <p:nvSpPr>
          <p:cNvPr id="28" name="Text 24"/>
          <p:cNvSpPr/>
          <p:nvPr/>
        </p:nvSpPr>
        <p:spPr>
          <a:xfrm>
            <a:off x="6495343" y="2244923"/>
            <a:ext cx="1001046" cy="642938"/>
          </a:xfrm>
          <a:prstGeom prst="rect">
            <a:avLst/>
          </a:prstGeom>
          <a:noFill/>
          <a:ln/>
        </p:spPr>
        <p:txBody>
          <a:bodyPr wrap="none" lIns="0" tIns="0" rIns="0" bIns="0" rtlCol="0" anchor="ctr">
            <a:spAutoFit/>
          </a:bodyPr>
          <a:lstStyle/>
          <a:p>
            <a:pPr algn="ctr" indent="0" marL="0">
              <a:buNone/>
            </a:pPr>
            <a:r>
              <a:rPr lang="en-US" sz="900" b="1" dirty="0">
                <a:solidFill>
                  <a:srgbClr val="2C3E50"/>
                </a:solidFill>
                <a:latin typeface="Montserrat Bold" pitchFamily="34" charset="0"/>
                <a:ea typeface="Montserrat Bold" pitchFamily="34" charset="-122"/>
                <a:cs typeface="Montserrat Bold" pitchFamily="34" charset="-120"/>
              </a:rPr>
              <a:t>0.83</a:t>
            </a:r>
            <a:endParaRPr lang="en-US" sz="900" dirty="0"/>
          </a:p>
        </p:txBody>
      </p:sp>
      <p:sp>
        <p:nvSpPr>
          <p:cNvPr id="29" name="Text 25"/>
          <p:cNvSpPr/>
          <p:nvPr/>
        </p:nvSpPr>
        <p:spPr>
          <a:xfrm>
            <a:off x="7496389" y="2244923"/>
            <a:ext cx="1001102" cy="642938"/>
          </a:xfrm>
          <a:prstGeom prst="rect">
            <a:avLst/>
          </a:prstGeom>
          <a:noFill/>
          <a:ln/>
        </p:spPr>
        <p:txBody>
          <a:bodyPr wrap="none" lIns="0" tIns="0" rIns="0" bIns="0" rtlCol="0" anchor="ctr">
            <a:spAutoFit/>
          </a:bodyPr>
          <a:lstStyle/>
          <a:p>
            <a:pPr algn="ctr" indent="0" marL="0">
              <a:buNone/>
            </a:pPr>
            <a:r>
              <a:rPr lang="en-US" sz="950" dirty="0">
                <a:solidFill>
                  <a:srgbClr val="7F8C8D"/>
                </a:solidFill>
                <a:latin typeface="Montserrat" pitchFamily="34" charset="0"/>
                <a:ea typeface="Montserrat" pitchFamily="34" charset="-122"/>
                <a:cs typeface="Montserrat" pitchFamily="34" charset="-120"/>
              </a:rPr>
              <a:t>0.07</a:t>
            </a:r>
            <a:endParaRPr lang="en-US" sz="950" dirty="0"/>
          </a:p>
        </p:txBody>
      </p:sp>
      <p:sp>
        <p:nvSpPr>
          <p:cNvPr id="30" name="Shape 26"/>
          <p:cNvSpPr/>
          <p:nvPr/>
        </p:nvSpPr>
        <p:spPr>
          <a:xfrm>
            <a:off x="4493251" y="2887861"/>
            <a:ext cx="1001046" cy="642938"/>
          </a:xfrm>
          <a:prstGeom prst="rect">
            <a:avLst/>
          </a:prstGeom>
          <a:solidFill>
            <a:srgbClr val="2C3E50"/>
          </a:solidFill>
          <a:ln w="9144">
            <a:solidFill>
              <a:srgbClr val="BDC3C7"/>
            </a:solidFill>
            <a:prstDash val="solid"/>
          </a:ln>
        </p:spPr>
      </p:sp>
      <p:sp>
        <p:nvSpPr>
          <p:cNvPr id="31" name="Text 27"/>
          <p:cNvSpPr/>
          <p:nvPr/>
        </p:nvSpPr>
        <p:spPr>
          <a:xfrm>
            <a:off x="4493251" y="2887861"/>
            <a:ext cx="1001046" cy="642938"/>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Montserrat" pitchFamily="34" charset="0"/>
                <a:ea typeface="Montserrat" pitchFamily="34" charset="-122"/>
                <a:cs typeface="Montserrat" pitchFamily="34" charset="-120"/>
              </a:rPr>
              <a:t>Mobile</a:t>
            </a:r>
            <a:endParaRPr lang="en-US" sz="950" dirty="0"/>
          </a:p>
        </p:txBody>
      </p:sp>
      <p:sp>
        <p:nvSpPr>
          <p:cNvPr id="32" name="Text 28"/>
          <p:cNvSpPr/>
          <p:nvPr/>
        </p:nvSpPr>
        <p:spPr>
          <a:xfrm>
            <a:off x="5491618" y="2887861"/>
            <a:ext cx="1001939" cy="642938"/>
          </a:xfrm>
          <a:prstGeom prst="rect">
            <a:avLst/>
          </a:prstGeom>
          <a:noFill/>
          <a:ln/>
        </p:spPr>
        <p:txBody>
          <a:bodyPr wrap="none" lIns="0" tIns="0" rIns="0" bIns="0" rtlCol="0" anchor="ctr">
            <a:spAutoFit/>
          </a:bodyPr>
          <a:lstStyle/>
          <a:p>
            <a:pPr algn="ctr" indent="0" marL="0">
              <a:buNone/>
            </a:pPr>
            <a:r>
              <a:rPr lang="en-US" sz="950" dirty="0">
                <a:solidFill>
                  <a:srgbClr val="7F8C8D"/>
                </a:solidFill>
                <a:latin typeface="Montserrat" pitchFamily="34" charset="0"/>
                <a:ea typeface="Montserrat" pitchFamily="34" charset="-122"/>
                <a:cs typeface="Montserrat" pitchFamily="34" charset="-120"/>
              </a:rPr>
              <a:t>0.05</a:t>
            </a:r>
            <a:endParaRPr lang="en-US" sz="950" dirty="0"/>
          </a:p>
        </p:txBody>
      </p:sp>
      <p:sp>
        <p:nvSpPr>
          <p:cNvPr id="33" name="Text 29"/>
          <p:cNvSpPr/>
          <p:nvPr/>
        </p:nvSpPr>
        <p:spPr>
          <a:xfrm>
            <a:off x="6493557" y="2887861"/>
            <a:ext cx="1001939" cy="642938"/>
          </a:xfrm>
          <a:prstGeom prst="rect">
            <a:avLst/>
          </a:prstGeom>
          <a:noFill/>
          <a:ln/>
        </p:spPr>
        <p:txBody>
          <a:bodyPr wrap="none" lIns="0" tIns="0" rIns="0" bIns="0" rtlCol="0" anchor="ctr">
            <a:spAutoFit/>
          </a:bodyPr>
          <a:lstStyle/>
          <a:p>
            <a:pPr algn="ctr" indent="0" marL="0">
              <a:buNone/>
            </a:pPr>
            <a:r>
              <a:rPr lang="en-US" sz="950" dirty="0">
                <a:solidFill>
                  <a:srgbClr val="7F8C8D"/>
                </a:solidFill>
                <a:latin typeface="Montserrat" pitchFamily="34" charset="0"/>
                <a:ea typeface="Montserrat" pitchFamily="34" charset="-122"/>
                <a:cs typeface="Montserrat" pitchFamily="34" charset="-120"/>
              </a:rPr>
              <a:t>0.13</a:t>
            </a:r>
            <a:endParaRPr lang="en-US" sz="950" dirty="0"/>
          </a:p>
        </p:txBody>
      </p:sp>
      <p:sp>
        <p:nvSpPr>
          <p:cNvPr id="34" name="Shape 30"/>
          <p:cNvSpPr/>
          <p:nvPr/>
        </p:nvSpPr>
        <p:spPr>
          <a:xfrm>
            <a:off x="7495496" y="2887861"/>
            <a:ext cx="1001995" cy="642938"/>
          </a:xfrm>
          <a:prstGeom prst="rect">
            <a:avLst/>
          </a:prstGeom>
          <a:solidFill>
            <a:srgbClr val="E74C3C">
              <a:alpha val="15000"/>
            </a:srgbClr>
          </a:solidFill>
          <a:ln w="9144">
            <a:solidFill>
              <a:srgbClr val="BDC3C7"/>
            </a:solidFill>
            <a:prstDash val="solid"/>
          </a:ln>
        </p:spPr>
      </p:sp>
      <p:sp>
        <p:nvSpPr>
          <p:cNvPr id="35" name="Text 31"/>
          <p:cNvSpPr/>
          <p:nvPr/>
        </p:nvSpPr>
        <p:spPr>
          <a:xfrm>
            <a:off x="7495496" y="2887861"/>
            <a:ext cx="1001995" cy="642938"/>
          </a:xfrm>
          <a:prstGeom prst="rect">
            <a:avLst/>
          </a:prstGeom>
          <a:noFill/>
          <a:ln/>
        </p:spPr>
        <p:txBody>
          <a:bodyPr wrap="none" lIns="0" tIns="0" rIns="0" bIns="0" rtlCol="0" anchor="ctr">
            <a:spAutoFit/>
          </a:bodyPr>
          <a:lstStyle/>
          <a:p>
            <a:pPr algn="ctr" indent="0" marL="0">
              <a:buNone/>
            </a:pPr>
            <a:r>
              <a:rPr lang="en-US" sz="900" b="1" dirty="0">
                <a:solidFill>
                  <a:srgbClr val="2C3E50"/>
                </a:solidFill>
                <a:latin typeface="Montserrat Bold" pitchFamily="34" charset="0"/>
                <a:ea typeface="Montserrat Bold" pitchFamily="34" charset="-122"/>
                <a:cs typeface="Montserrat Bold" pitchFamily="34" charset="-120"/>
              </a:rPr>
              <a:t>0.82</a:t>
            </a:r>
            <a:endParaRPr lang="en-US" sz="900" dirty="0"/>
          </a:p>
        </p:txBody>
      </p:sp>
      <p:pic>
        <p:nvPicPr>
          <p:cNvPr id="36" name="Image 1" descr="preencoded.png">    </p:cNvPr>
          <p:cNvPicPr>
            <a:picLocks noChangeAspect="1"/>
          </p:cNvPicPr>
          <p:nvPr/>
        </p:nvPicPr>
        <p:blipFill>
          <a:blip r:embed="rId2"/>
          <a:stretch>
            <a:fillRect/>
          </a:stretch>
        </p:blipFill>
        <p:spPr>
          <a:xfrm>
            <a:off x="4275367" y="4150519"/>
            <a:ext cx="128588" cy="128588"/>
          </a:xfrm>
          <a:prstGeom prst="rect">
            <a:avLst/>
          </a:prstGeom>
        </p:spPr>
      </p:pic>
      <p:sp>
        <p:nvSpPr>
          <p:cNvPr id="37" name="Text 32"/>
          <p:cNvSpPr/>
          <p:nvPr/>
        </p:nvSpPr>
        <p:spPr>
          <a:xfrm>
            <a:off x="4509325" y="4138017"/>
            <a:ext cx="857250" cy="157163"/>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4495E"/>
                </a:solidFill>
                <a:latin typeface="Montserrat Bold" pitchFamily="34" charset="0"/>
                <a:ea typeface="Montserrat Bold" pitchFamily="34" charset="-122"/>
                <a:cs typeface="Montserrat Bold" pitchFamily="34" charset="-120"/>
              </a:rPr>
              <a:t>Key Success:</a:t>
            </a:r>
            <a:endParaRPr lang="en-US" sz="900" dirty="0"/>
          </a:p>
        </p:txBody>
      </p:sp>
      <p:sp>
        <p:nvSpPr>
          <p:cNvPr id="38" name="Text 33"/>
          <p:cNvSpPr/>
          <p:nvPr/>
        </p:nvSpPr>
        <p:spPr>
          <a:xfrm>
            <a:off x="5366575" y="4138017"/>
            <a:ext cx="3211116" cy="157163"/>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34495E"/>
                </a:solidFill>
                <a:latin typeface="Montserrat" pitchFamily="34" charset="0"/>
                <a:ea typeface="Montserrat" pitchFamily="34" charset="-122"/>
                <a:cs typeface="Montserrat" pitchFamily="34" charset="-120"/>
              </a:rPr>
              <a:t>Final accuracy reached 85.5% while maintaining a</a:t>
            </a:r>
            <a:endParaRPr lang="en-US" sz="950" dirty="0"/>
          </a:p>
        </p:txBody>
      </p:sp>
      <p:sp>
        <p:nvSpPr>
          <p:cNvPr id="39" name="Text 34"/>
          <p:cNvSpPr/>
          <p:nvPr/>
        </p:nvSpPr>
        <p:spPr>
          <a:xfrm>
            <a:off x="4275367" y="4330898"/>
            <a:ext cx="4336256" cy="157163"/>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34495E"/>
                </a:solidFill>
                <a:latin typeface="Montserrat" pitchFamily="34" charset="0"/>
                <a:ea typeface="Montserrat" pitchFamily="34" charset="-122"/>
                <a:cs typeface="Montserrat" pitchFamily="34" charset="-120"/>
              </a:rPr>
              <a:t>high Macro F1, proving the effectiveness of the iterative data-centric</a:t>
            </a:r>
            <a:endParaRPr lang="en-US" sz="950" dirty="0"/>
          </a:p>
        </p:txBody>
      </p:sp>
      <p:sp>
        <p:nvSpPr>
          <p:cNvPr id="40" name="Text 35"/>
          <p:cNvSpPr/>
          <p:nvPr/>
        </p:nvSpPr>
        <p:spPr>
          <a:xfrm>
            <a:off x="4275367" y="4523780"/>
            <a:ext cx="542925" cy="157163"/>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34495E"/>
                </a:solidFill>
                <a:latin typeface="Montserrat" pitchFamily="34" charset="0"/>
                <a:ea typeface="Montserrat" pitchFamily="34" charset="-122"/>
                <a:cs typeface="Montserrat" pitchFamily="34" charset="-120"/>
              </a:rPr>
              <a:t>strategy.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571500"/>
            <a:ext cx="2627672" cy="2640230"/>
          </a:xfrm>
          <a:prstGeom prst="rect">
            <a:avLst/>
          </a:prstGeom>
          <a:noFill/>
          <a:ln/>
        </p:spPr>
        <p:txBody>
          <a:bodyPr wrap="square" lIns="0" tIns="0" rIns="0" bIns="0" rtlCol="0" anchor="t">
            <a:spAutoFit/>
          </a:bodyPr>
          <a:lstStyle/>
          <a:p>
            <a:pPr algn="l" indent="0" marL="0">
              <a:lnSpc>
                <a:spcPct val="88000"/>
              </a:lnSpc>
              <a:buNone/>
            </a:pPr>
            <a:r>
              <a:rPr lang="en-US" sz="2850" b="1" dirty="0">
                <a:solidFill>
                  <a:srgbClr val="2C3E50"/>
                </a:solidFill>
                <a:latin typeface="Playfair Display Bold" pitchFamily="34" charset="0"/>
                <a:ea typeface="Playfair Display Bold" pitchFamily="34" charset="-122"/>
                <a:cs typeface="Playfair Display Bold" pitchFamily="34" charset="-120"/>
              </a:rPr>
              <a:t>Key Takeaways from the Model Improvement Journey</a:t>
            </a:r>
            <a:endParaRPr lang="en-US" sz="2850" dirty="0"/>
          </a:p>
        </p:txBody>
      </p:sp>
      <p:sp>
        <p:nvSpPr>
          <p:cNvPr id="5" name="Text 1"/>
          <p:cNvSpPr/>
          <p:nvPr/>
        </p:nvSpPr>
        <p:spPr>
          <a:xfrm>
            <a:off x="571500" y="3497480"/>
            <a:ext cx="2627672" cy="346472"/>
          </a:xfrm>
          <a:prstGeom prst="rect">
            <a:avLst/>
          </a:prstGeom>
          <a:noFill/>
          <a:ln/>
        </p:spPr>
        <p:txBody>
          <a:bodyPr wrap="square" lIns="0" tIns="0" rIns="0" bIns="0" rtlCol="0" anchor="t">
            <a:spAutoFit/>
          </a:bodyPr>
          <a:lstStyle/>
          <a:p>
            <a:pPr algn="l" indent="0" marL="0">
              <a:buNone/>
            </a:pPr>
            <a:r>
              <a:rPr lang="en-US" sz="1050" i="1" dirty="0">
                <a:solidFill>
                  <a:srgbClr val="7F8C8D"/>
                </a:solidFill>
                <a:latin typeface="Montserrat" pitchFamily="34" charset="0"/>
                <a:ea typeface="Montserrat" pitchFamily="34" charset="-122"/>
                <a:cs typeface="Montserrat" pitchFamily="34" charset="-120"/>
              </a:rPr>
              <a:t>"Engineering decisions are driven by metrics, not just intuition."</a:t>
            </a:r>
            <a:endParaRPr lang="en-US" sz="1050" dirty="0"/>
          </a:p>
        </p:txBody>
      </p:sp>
      <p:pic>
        <p:nvPicPr>
          <p:cNvPr id="6" name="Image 1" descr="preencoded.png">    </p:cNvPr>
          <p:cNvPicPr>
            <a:picLocks noChangeAspect="1"/>
          </p:cNvPicPr>
          <p:nvPr/>
        </p:nvPicPr>
        <p:blipFill>
          <a:blip r:embed="rId2"/>
          <a:stretch>
            <a:fillRect/>
          </a:stretch>
        </p:blipFill>
        <p:spPr>
          <a:xfrm>
            <a:off x="3488494" y="721519"/>
            <a:ext cx="228600" cy="228600"/>
          </a:xfrm>
          <a:prstGeom prst="rect">
            <a:avLst/>
          </a:prstGeom>
        </p:spPr>
      </p:pic>
      <p:sp>
        <p:nvSpPr>
          <p:cNvPr id="7" name="Text 2"/>
          <p:cNvSpPr/>
          <p:nvPr/>
        </p:nvSpPr>
        <p:spPr>
          <a:xfrm>
            <a:off x="3488494" y="1092994"/>
            <a:ext cx="2399128" cy="191095"/>
          </a:xfrm>
          <a:prstGeom prst="rect">
            <a:avLst/>
          </a:prstGeom>
          <a:noFill/>
          <a:ln/>
        </p:spPr>
        <p:txBody>
          <a:bodyPr wrap="square" lIns="0" tIns="0" rIns="0" bIns="0" rtlCol="0" anchor="t">
            <a:spAutoFit/>
          </a:bodyPr>
          <a:lstStyle/>
          <a:p>
            <a:pPr algn="l" indent="0" marL="0">
              <a:buNone/>
            </a:pPr>
            <a:r>
              <a:rPr lang="en-US" sz="1100" b="1" spc="1" kern="0" dirty="0">
                <a:solidFill>
                  <a:srgbClr val="2C3E50"/>
                </a:solidFill>
                <a:latin typeface="Montserrat Bold" pitchFamily="34" charset="0"/>
                <a:ea typeface="Montserrat Bold" pitchFamily="34" charset="-122"/>
                <a:cs typeface="Montserrat Bold" pitchFamily="34" charset="-120"/>
              </a:rPr>
              <a:t>ACCURACY IS A TRAP</a:t>
            </a:r>
            <a:endParaRPr lang="en-US" sz="1100" dirty="0"/>
          </a:p>
        </p:txBody>
      </p:sp>
      <p:sp>
        <p:nvSpPr>
          <p:cNvPr id="8" name="Text 3"/>
          <p:cNvSpPr/>
          <p:nvPr/>
        </p:nvSpPr>
        <p:spPr>
          <a:xfrm>
            <a:off x="3488494" y="1369814"/>
            <a:ext cx="2399128" cy="771525"/>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4495E"/>
                </a:solidFill>
                <a:latin typeface="Montserrat" pitchFamily="34" charset="0"/>
                <a:ea typeface="Montserrat" pitchFamily="34" charset="-122"/>
                <a:cs typeface="Montserrat" pitchFamily="34" charset="-120"/>
              </a:rPr>
              <a:t>In imbalanced datasets, high </a:t>
            </a:r>
            <a:r>
              <a:rPr lang="en-US" sz="950" dirty="0">
                <a:solidFill>
                  <a:srgbClr val="34495E"/>
                </a:solidFill>
                <a:latin typeface="Montserrat" pitchFamily="34" charset="0"/>
                <a:ea typeface="Montserrat" pitchFamily="34" charset="-122"/>
                <a:cs typeface="Montserrat" pitchFamily="34" charset="-120"/>
              </a:rPr>
              <a:t>accuracy often masks poor minority </a:t>
            </a:r>
            <a:r>
              <a:rPr lang="en-US" sz="950" dirty="0">
                <a:solidFill>
                  <a:srgbClr val="34495E"/>
                </a:solidFill>
                <a:latin typeface="Montserrat" pitchFamily="34" charset="0"/>
                <a:ea typeface="Montserrat" pitchFamily="34" charset="-122"/>
                <a:cs typeface="Montserrat" pitchFamily="34" charset="-120"/>
              </a:rPr>
              <a:t>class performance. Always prioritize </a:t>
            </a:r>
            <a:r>
              <a:rPr lang="en-US" sz="900" b="1" dirty="0">
                <a:solidFill>
                  <a:srgbClr val="34495E"/>
                </a:solidFill>
                <a:latin typeface="Montserrat Bold" pitchFamily="34" charset="0"/>
                <a:ea typeface="Montserrat Bold" pitchFamily="34" charset="-122"/>
                <a:cs typeface="Montserrat Bold" pitchFamily="34" charset="-120"/>
              </a:rPr>
              <a:t>Macro F1</a:t>
            </a:r>
            <a:r>
              <a:rPr lang="en-US" sz="950" dirty="0">
                <a:solidFill>
                  <a:srgbClr val="34495E"/>
                </a:solidFill>
                <a:latin typeface="Montserrat" pitchFamily="34" charset="0"/>
                <a:ea typeface="Montserrat" pitchFamily="34" charset="-122"/>
                <a:cs typeface="Montserrat" pitchFamily="34" charset="-120"/>
              </a:rPr>
              <a:t>.</a:t>
            </a:r>
            <a:endParaRPr lang="en-US" sz="950" dirty="0"/>
          </a:p>
        </p:txBody>
      </p:sp>
      <p:pic>
        <p:nvPicPr>
          <p:cNvPr id="9" name="Image 2" descr="preencoded.png">    </p:cNvPr>
          <p:cNvPicPr>
            <a:picLocks noChangeAspect="1"/>
          </p:cNvPicPr>
          <p:nvPr/>
        </p:nvPicPr>
        <p:blipFill>
          <a:blip r:embed="rId3"/>
          <a:stretch>
            <a:fillRect/>
          </a:stretch>
        </p:blipFill>
        <p:spPr>
          <a:xfrm>
            <a:off x="6173372" y="721519"/>
            <a:ext cx="200025" cy="228600"/>
          </a:xfrm>
          <a:prstGeom prst="rect">
            <a:avLst/>
          </a:prstGeom>
        </p:spPr>
      </p:pic>
      <p:sp>
        <p:nvSpPr>
          <p:cNvPr id="10" name="Text 4"/>
          <p:cNvSpPr/>
          <p:nvPr/>
        </p:nvSpPr>
        <p:spPr>
          <a:xfrm>
            <a:off x="6173372" y="1092994"/>
            <a:ext cx="2399128" cy="191095"/>
          </a:xfrm>
          <a:prstGeom prst="rect">
            <a:avLst/>
          </a:prstGeom>
          <a:noFill/>
          <a:ln/>
        </p:spPr>
        <p:txBody>
          <a:bodyPr wrap="square" lIns="0" tIns="0" rIns="0" bIns="0" rtlCol="0" anchor="t">
            <a:spAutoFit/>
          </a:bodyPr>
          <a:lstStyle/>
          <a:p>
            <a:pPr algn="l" indent="0" marL="0">
              <a:buNone/>
            </a:pPr>
            <a:r>
              <a:rPr lang="en-US" sz="1100" b="1" spc="1" kern="0" dirty="0">
                <a:solidFill>
                  <a:srgbClr val="2C3E50"/>
                </a:solidFill>
                <a:latin typeface="Montserrat Bold" pitchFamily="34" charset="0"/>
                <a:ea typeface="Montserrat Bold" pitchFamily="34" charset="-122"/>
                <a:cs typeface="Montserrat Bold" pitchFamily="34" charset="-120"/>
              </a:rPr>
              <a:t>DATA &gt; ARCHITECTURE</a:t>
            </a:r>
            <a:endParaRPr lang="en-US" sz="1100" dirty="0"/>
          </a:p>
        </p:txBody>
      </p:sp>
      <p:sp>
        <p:nvSpPr>
          <p:cNvPr id="11" name="Text 5"/>
          <p:cNvSpPr/>
          <p:nvPr/>
        </p:nvSpPr>
        <p:spPr>
          <a:xfrm>
            <a:off x="6173372" y="1369814"/>
            <a:ext cx="2399128" cy="771525"/>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4495E"/>
                </a:solidFill>
                <a:latin typeface="Montserrat" pitchFamily="34" charset="0"/>
                <a:ea typeface="Montserrat" pitchFamily="34" charset="-122"/>
                <a:cs typeface="Montserrat" pitchFamily="34" charset="-120"/>
              </a:rPr>
              <a:t>Strategic class merging and oversampling outperformed complex architectural changes like LoRA for this scale.</a:t>
            </a:r>
            <a:endParaRPr lang="en-US" sz="950" dirty="0"/>
          </a:p>
        </p:txBody>
      </p:sp>
      <p:pic>
        <p:nvPicPr>
          <p:cNvPr id="12" name="Image 3" descr="preencoded.png">    </p:cNvPr>
          <p:cNvPicPr>
            <a:picLocks noChangeAspect="1"/>
          </p:cNvPicPr>
          <p:nvPr/>
        </p:nvPicPr>
        <p:blipFill>
          <a:blip r:embed="rId4"/>
          <a:stretch>
            <a:fillRect/>
          </a:stretch>
        </p:blipFill>
        <p:spPr>
          <a:xfrm>
            <a:off x="3488494" y="2577108"/>
            <a:ext cx="228600" cy="228600"/>
          </a:xfrm>
          <a:prstGeom prst="rect">
            <a:avLst/>
          </a:prstGeom>
        </p:spPr>
      </p:pic>
      <p:sp>
        <p:nvSpPr>
          <p:cNvPr id="13" name="Text 6"/>
          <p:cNvSpPr/>
          <p:nvPr/>
        </p:nvSpPr>
        <p:spPr>
          <a:xfrm>
            <a:off x="3488494" y="2948583"/>
            <a:ext cx="2399128" cy="382191"/>
          </a:xfrm>
          <a:prstGeom prst="rect">
            <a:avLst/>
          </a:prstGeom>
          <a:noFill/>
          <a:ln/>
        </p:spPr>
        <p:txBody>
          <a:bodyPr wrap="square" lIns="0" tIns="0" rIns="0" bIns="0" rtlCol="0" anchor="t">
            <a:spAutoFit/>
          </a:bodyPr>
          <a:lstStyle/>
          <a:p>
            <a:pPr algn="l" indent="0" marL="0">
              <a:buNone/>
            </a:pPr>
            <a:r>
              <a:rPr lang="en-US" sz="1100" b="1" spc="1" kern="0" dirty="0">
                <a:solidFill>
                  <a:srgbClr val="2C3E50"/>
                </a:solidFill>
                <a:latin typeface="Montserrat Bold" pitchFamily="34" charset="0"/>
                <a:ea typeface="Montserrat Bold" pitchFamily="34" charset="-122"/>
                <a:cs typeface="Montserrat Bold" pitchFamily="34" charset="-120"/>
              </a:rPr>
              <a:t>SMALL DATA CONSTRAINTS</a:t>
            </a:r>
            <a:endParaRPr lang="en-US" sz="1100" dirty="0"/>
          </a:p>
        </p:txBody>
      </p:sp>
      <p:sp>
        <p:nvSpPr>
          <p:cNvPr id="14" name="Text 7"/>
          <p:cNvSpPr/>
          <p:nvPr/>
        </p:nvSpPr>
        <p:spPr>
          <a:xfrm>
            <a:off x="3488494" y="3416498"/>
            <a:ext cx="2399128"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4495E"/>
                </a:solidFill>
                <a:latin typeface="Montserrat" pitchFamily="34" charset="0"/>
                <a:ea typeface="Montserrat" pitchFamily="34" charset="-122"/>
                <a:cs typeface="Montserrat" pitchFamily="34" charset="-120"/>
              </a:rPr>
              <a:t>Parameter-efficient tuning (PEFT) </a:t>
            </a:r>
            <a:r>
              <a:rPr lang="en-US" sz="950" dirty="0">
                <a:solidFill>
                  <a:srgbClr val="34495E"/>
                </a:solidFill>
                <a:latin typeface="Montserrat" pitchFamily="34" charset="0"/>
                <a:ea typeface="Montserrat" pitchFamily="34" charset="-122"/>
                <a:cs typeface="Montserrat" pitchFamily="34" charset="-120"/>
              </a:rPr>
              <a:t>can underfit on very small datasets; </a:t>
            </a:r>
            <a:r>
              <a:rPr lang="en-US" sz="900" b="1" dirty="0">
                <a:solidFill>
                  <a:srgbClr val="34495E"/>
                </a:solidFill>
                <a:latin typeface="Montserrat Bold" pitchFamily="34" charset="0"/>
                <a:ea typeface="Montserrat Bold" pitchFamily="34" charset="-122"/>
                <a:cs typeface="Montserrat Bold" pitchFamily="34" charset="-120"/>
              </a:rPr>
              <a:t>Full Fine-Tuning</a:t>
            </a:r>
            <a:r>
              <a:rPr lang="en-US" sz="950" dirty="0">
                <a:solidFill>
                  <a:srgbClr val="34495E"/>
                </a:solidFill>
                <a:latin typeface="Montserrat" pitchFamily="34" charset="0"/>
                <a:ea typeface="Montserrat" pitchFamily="34" charset="-122"/>
                <a:cs typeface="Montserrat" pitchFamily="34" charset="-120"/>
              </a:rPr>
              <a:t> is often necessary.</a:t>
            </a:r>
            <a:endParaRPr lang="en-US" sz="950" dirty="0"/>
          </a:p>
        </p:txBody>
      </p:sp>
      <p:pic>
        <p:nvPicPr>
          <p:cNvPr id="15" name="Image 4" descr="preencoded.png">    </p:cNvPr>
          <p:cNvPicPr>
            <a:picLocks noChangeAspect="1"/>
          </p:cNvPicPr>
          <p:nvPr/>
        </p:nvPicPr>
        <p:blipFill>
          <a:blip r:embed="rId5"/>
          <a:stretch>
            <a:fillRect/>
          </a:stretch>
        </p:blipFill>
        <p:spPr>
          <a:xfrm>
            <a:off x="6173372" y="2577108"/>
            <a:ext cx="228600" cy="228600"/>
          </a:xfrm>
          <a:prstGeom prst="rect">
            <a:avLst/>
          </a:prstGeom>
        </p:spPr>
      </p:pic>
      <p:sp>
        <p:nvSpPr>
          <p:cNvPr id="16" name="Text 8"/>
          <p:cNvSpPr/>
          <p:nvPr/>
        </p:nvSpPr>
        <p:spPr>
          <a:xfrm>
            <a:off x="6173372" y="2948583"/>
            <a:ext cx="2399128" cy="191095"/>
          </a:xfrm>
          <a:prstGeom prst="rect">
            <a:avLst/>
          </a:prstGeom>
          <a:noFill/>
          <a:ln/>
        </p:spPr>
        <p:txBody>
          <a:bodyPr wrap="square" lIns="0" tIns="0" rIns="0" bIns="0" rtlCol="0" anchor="t">
            <a:spAutoFit/>
          </a:bodyPr>
          <a:lstStyle/>
          <a:p>
            <a:pPr algn="l" indent="0" marL="0">
              <a:buNone/>
            </a:pPr>
            <a:r>
              <a:rPr lang="en-US" sz="1100" b="1" spc="1" kern="0" dirty="0">
                <a:solidFill>
                  <a:srgbClr val="2C3E50"/>
                </a:solidFill>
                <a:latin typeface="Montserrat Bold" pitchFamily="34" charset="0"/>
                <a:ea typeface="Montserrat Bold" pitchFamily="34" charset="-122"/>
                <a:cs typeface="Montserrat Bold" pitchFamily="34" charset="-120"/>
              </a:rPr>
              <a:t>ITERATIVE TUNING</a:t>
            </a:r>
            <a:endParaRPr lang="en-US" sz="1100" dirty="0"/>
          </a:p>
        </p:txBody>
      </p:sp>
      <p:sp>
        <p:nvSpPr>
          <p:cNvPr id="17" name="Text 9"/>
          <p:cNvSpPr/>
          <p:nvPr/>
        </p:nvSpPr>
        <p:spPr>
          <a:xfrm>
            <a:off x="6173372" y="3225403"/>
            <a:ext cx="2399128"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4495E"/>
                </a:solidFill>
                <a:latin typeface="Montserrat" pitchFamily="34" charset="0"/>
                <a:ea typeface="Montserrat" pitchFamily="34" charset="-122"/>
                <a:cs typeface="Montserrat" pitchFamily="34" charset="-120"/>
              </a:rPr>
              <a:t>Post-processing steps like </a:t>
            </a:r>
            <a:r>
              <a:rPr lang="en-US" sz="900" b="1" dirty="0">
                <a:solidFill>
                  <a:srgbClr val="34495E"/>
                </a:solidFill>
                <a:latin typeface="Montserrat Bold" pitchFamily="34" charset="0"/>
                <a:ea typeface="Montserrat Bold" pitchFamily="34" charset="-122"/>
                <a:cs typeface="Montserrat Bold" pitchFamily="34" charset="-120"/>
              </a:rPr>
              <a:t>Threshold Tuning</a:t>
            </a:r>
            <a:r>
              <a:rPr lang="en-US" sz="950" dirty="0">
                <a:solidFill>
                  <a:srgbClr val="34495E"/>
                </a:solidFill>
                <a:latin typeface="Montserrat" pitchFamily="34" charset="0"/>
                <a:ea typeface="Montserrat" pitchFamily="34" charset="-122"/>
                <a:cs typeface="Montserrat" pitchFamily="34" charset="-120"/>
              </a:rPr>
              <a:t> provide high ROI for </a:t>
            </a:r>
            <a:r>
              <a:rPr lang="en-US" sz="950" dirty="0">
                <a:solidFill>
                  <a:srgbClr val="34495E"/>
                </a:solidFill>
                <a:latin typeface="Montserrat" pitchFamily="34" charset="0"/>
                <a:ea typeface="Montserrat" pitchFamily="34" charset="-122"/>
                <a:cs typeface="Montserrat" pitchFamily="34" charset="-120"/>
              </a:rPr>
              <a:t>improving recall without retraining.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487684"/>
          </a:xfrm>
          <a:prstGeom prst="rect">
            <a:avLst/>
          </a:prstGeom>
        </p:spPr>
      </p:pic>
      <p:sp>
        <p:nvSpPr>
          <p:cNvPr id="4" name="Shape 0"/>
          <p:cNvSpPr/>
          <p:nvPr/>
        </p:nvSpPr>
        <p:spPr>
          <a:xfrm>
            <a:off x="571500" y="571500"/>
            <a:ext cx="1078706" cy="235744"/>
          </a:xfrm>
          <a:prstGeom prst="rect">
            <a:avLst/>
          </a:prstGeom>
          <a:solidFill>
            <a:srgbClr val="2C3E50"/>
          </a:solidFill>
          <a:ln/>
        </p:spPr>
      </p:sp>
      <p:sp>
        <p:nvSpPr>
          <p:cNvPr id="5" name="Text 1"/>
          <p:cNvSpPr/>
          <p:nvPr/>
        </p:nvSpPr>
        <p:spPr>
          <a:xfrm>
            <a:off x="571500" y="571500"/>
            <a:ext cx="1078706" cy="235744"/>
          </a:xfrm>
          <a:prstGeom prst="rect">
            <a:avLst/>
          </a:prstGeom>
          <a:noFill/>
          <a:ln/>
        </p:spPr>
        <p:txBody>
          <a:bodyPr wrap="none" lIns="136017" tIns="68072" rIns="136017" bIns="68072" rtlCol="0" anchor="t">
            <a:spAutoFit/>
          </a:bodyPr>
          <a:lstStyle/>
          <a:p>
            <a:pPr algn="l" indent="0" marL="0">
              <a:buNone/>
            </a:pPr>
            <a:r>
              <a:rPr lang="en-US" sz="700" b="1" spc="2" kern="0" dirty="0">
                <a:solidFill>
                  <a:srgbClr val="FFFFFF"/>
                </a:solidFill>
                <a:latin typeface="Montserrat Bold" pitchFamily="34" charset="0"/>
                <a:ea typeface="Montserrat Bold" pitchFamily="34" charset="-122"/>
                <a:cs typeface="Montserrat Bold" pitchFamily="34" charset="-120"/>
              </a:rPr>
              <a:t>CONCLUSION</a:t>
            </a:r>
            <a:endParaRPr lang="en-US" sz="700" dirty="0"/>
          </a:p>
        </p:txBody>
      </p:sp>
      <p:sp>
        <p:nvSpPr>
          <p:cNvPr id="6" name="Text 2"/>
          <p:cNvSpPr/>
          <p:nvPr/>
        </p:nvSpPr>
        <p:spPr>
          <a:xfrm>
            <a:off x="571500" y="950119"/>
            <a:ext cx="3998714" cy="1760153"/>
          </a:xfrm>
          <a:prstGeom prst="rect">
            <a:avLst/>
          </a:prstGeom>
          <a:noFill/>
          <a:ln/>
        </p:spPr>
        <p:txBody>
          <a:bodyPr wrap="square" lIns="0" tIns="0" rIns="0" bIns="0" rtlCol="0" anchor="t">
            <a:spAutoFit/>
          </a:bodyPr>
          <a:lstStyle/>
          <a:p>
            <a:pPr algn="l" indent="0" marL="0">
              <a:lnSpc>
                <a:spcPct val="88000"/>
              </a:lnSpc>
              <a:buNone/>
            </a:pPr>
            <a:r>
              <a:rPr lang="en-US" sz="2850" b="1" dirty="0">
                <a:solidFill>
                  <a:srgbClr val="2C3E50"/>
                </a:solidFill>
                <a:latin typeface="Playfair Display Bold" pitchFamily="34" charset="0"/>
                <a:ea typeface="Playfair Display Bold" pitchFamily="34" charset="-122"/>
                <a:cs typeface="Playfair Display Bold" pitchFamily="34" charset="-120"/>
              </a:rPr>
              <a:t>Scaling BERT-Based Mining for Real-World Tech Stack Analytics</a:t>
            </a:r>
            <a:endParaRPr lang="en-US" sz="2850" dirty="0"/>
          </a:p>
        </p:txBody>
      </p:sp>
      <p:sp>
        <p:nvSpPr>
          <p:cNvPr id="7" name="Text 3"/>
          <p:cNvSpPr/>
          <p:nvPr/>
        </p:nvSpPr>
        <p:spPr>
          <a:xfrm>
            <a:off x="571500" y="2996022"/>
            <a:ext cx="3998714" cy="1097235"/>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34495E"/>
                </a:solidFill>
                <a:latin typeface="Montserrat" pitchFamily="34" charset="0"/>
                <a:ea typeface="Montserrat" pitchFamily="34" charset="-122"/>
                <a:cs typeface="Montserrat" pitchFamily="34" charset="-120"/>
              </a:rPr>
              <a:t>Iterative refinement through </a:t>
            </a:r>
            <a:r>
              <a:rPr lang="en-US" sz="1200" b="1" dirty="0">
                <a:solidFill>
                  <a:srgbClr val="34495E"/>
                </a:solidFill>
                <a:latin typeface="Montserrat Bold" pitchFamily="34" charset="0"/>
                <a:ea typeface="Montserrat Bold" pitchFamily="34" charset="-122"/>
                <a:cs typeface="Montserrat Bold" pitchFamily="34" charset="-120"/>
              </a:rPr>
              <a:t>Focal Loss</a:t>
            </a:r>
            <a:r>
              <a:rPr lang="en-US" sz="1250" dirty="0">
                <a:solidFill>
                  <a:srgbClr val="34495E"/>
                </a:solidFill>
                <a:latin typeface="Montserrat" pitchFamily="34" charset="0"/>
                <a:ea typeface="Montserrat" pitchFamily="34" charset="-122"/>
                <a:cs typeface="Montserrat" pitchFamily="34" charset="-120"/>
              </a:rPr>
              <a:t>, </a:t>
            </a:r>
            <a:r>
              <a:rPr lang="en-US" sz="1200" b="1" dirty="0">
                <a:solidFill>
                  <a:srgbClr val="34495E"/>
                </a:solidFill>
                <a:latin typeface="Montserrat Bold" pitchFamily="34" charset="0"/>
                <a:ea typeface="Montserrat Bold" pitchFamily="34" charset="-122"/>
                <a:cs typeface="Montserrat Bold" pitchFamily="34" charset="-120"/>
              </a:rPr>
              <a:t>Oversampling</a:t>
            </a:r>
            <a:r>
              <a:rPr lang="en-US" sz="1250" dirty="0">
                <a:solidFill>
                  <a:srgbClr val="34495E"/>
                </a:solidFill>
                <a:latin typeface="Montserrat" pitchFamily="34" charset="0"/>
                <a:ea typeface="Montserrat" pitchFamily="34" charset="-122"/>
                <a:cs typeface="Montserrat" pitchFamily="34" charset="-120"/>
              </a:rPr>
              <a:t>, and </a:t>
            </a:r>
            <a:r>
              <a:rPr lang="en-US" sz="1200" b="1" dirty="0">
                <a:solidFill>
                  <a:srgbClr val="34495E"/>
                </a:solidFill>
                <a:latin typeface="Montserrat Bold" pitchFamily="34" charset="0"/>
                <a:ea typeface="Montserrat Bold" pitchFamily="34" charset="-122"/>
                <a:cs typeface="Montserrat Bold" pitchFamily="34" charset="-120"/>
              </a:rPr>
              <a:t>Threshold Tuning</a:t>
            </a:r>
            <a:r>
              <a:rPr lang="en-US" sz="1250" dirty="0">
                <a:solidFill>
                  <a:srgbClr val="34495E"/>
                </a:solidFill>
                <a:latin typeface="Montserrat" pitchFamily="34" charset="0"/>
                <a:ea typeface="Montserrat" pitchFamily="34" charset="-122"/>
                <a:cs typeface="Montserrat" pitchFamily="34" charset="-120"/>
              </a:rPr>
              <a:t> transformed a biased baseline into a robust </a:t>
            </a:r>
            <a:r>
              <a:rPr lang="en-US" sz="1250" dirty="0">
                <a:solidFill>
                  <a:srgbClr val="34495E"/>
                </a:solidFill>
                <a:latin typeface="Montserrat" pitchFamily="34" charset="0"/>
                <a:ea typeface="Montserrat" pitchFamily="34" charset="-122"/>
                <a:cs typeface="Montserrat" pitchFamily="34" charset="-120"/>
              </a:rPr>
              <a:t>0.8198 Macro F1 classifier.</a:t>
            </a:r>
            <a:endParaRPr lang="en-US" sz="1250" dirty="0"/>
          </a:p>
        </p:txBody>
      </p:sp>
      <p:sp>
        <p:nvSpPr>
          <p:cNvPr id="8" name="Text 4"/>
          <p:cNvSpPr/>
          <p:nvPr/>
        </p:nvSpPr>
        <p:spPr>
          <a:xfrm>
            <a:off x="571500" y="4379007"/>
            <a:ext cx="3998714" cy="822927"/>
          </a:xfrm>
          <a:prstGeom prst="rect">
            <a:avLst/>
          </a:prstGeom>
          <a:noFill/>
          <a:ln/>
        </p:spPr>
        <p:txBody>
          <a:bodyPr wrap="square" lIns="170053" tIns="0" rIns="0" bIns="0" rtlCol="0" anchor="t">
            <a:spAutoFit/>
          </a:bodyPr>
          <a:lstStyle/>
          <a:p>
            <a:pPr algn="l" indent="0" marL="0">
              <a:lnSpc>
                <a:spcPct val="128000"/>
              </a:lnSpc>
              <a:buNone/>
            </a:pPr>
            <a:r>
              <a:rPr lang="en-US" sz="1250" i="1" dirty="0">
                <a:solidFill>
                  <a:srgbClr val="34495E"/>
                </a:solidFill>
                <a:latin typeface="Montserrat" pitchFamily="34" charset="0"/>
                <a:ea typeface="Montserrat" pitchFamily="34" charset="-122"/>
                <a:cs typeface="Montserrat" pitchFamily="34" charset="-120"/>
              </a:rPr>
              <a:t>"The journey proves that data-centric strategies often outperform architectural complexity in small-scale NLP tasks."</a:t>
            </a:r>
            <a:endParaRPr lang="en-US" sz="1250" dirty="0"/>
          </a:p>
        </p:txBody>
      </p:sp>
      <p:sp>
        <p:nvSpPr>
          <p:cNvPr id="9" name="Text 5"/>
          <p:cNvSpPr/>
          <p:nvPr/>
        </p:nvSpPr>
        <p:spPr>
          <a:xfrm>
            <a:off x="4573786" y="571500"/>
            <a:ext cx="3998714" cy="303609"/>
          </a:xfrm>
          <a:prstGeom prst="rect">
            <a:avLst/>
          </a:prstGeom>
          <a:noFill/>
          <a:ln/>
        </p:spPr>
        <p:txBody>
          <a:bodyPr wrap="square" lIns="0" tIns="0" rIns="0" bIns="0" rtlCol="0" anchor="t">
            <a:spAutoFit/>
          </a:bodyPr>
          <a:lstStyle/>
          <a:p>
            <a:pPr algn="l" indent="0" marL="0">
              <a:buNone/>
            </a:pPr>
            <a:r>
              <a:rPr lang="en-US" sz="1600" b="1" dirty="0">
                <a:solidFill>
                  <a:srgbClr val="E74C3C"/>
                </a:solidFill>
                <a:latin typeface="Playfair Display Bold" pitchFamily="34" charset="0"/>
                <a:ea typeface="Playfair Display Bold" pitchFamily="34" charset="-122"/>
                <a:cs typeface="Playfair Display Bold" pitchFamily="34" charset="-120"/>
              </a:rPr>
              <a:t>Future Roadmap</a:t>
            </a:r>
            <a:endParaRPr lang="en-US" sz="1600" dirty="0"/>
          </a:p>
        </p:txBody>
      </p:sp>
      <p:pic>
        <p:nvPicPr>
          <p:cNvPr id="10" name="Image 1" descr="preencoded.png">    </p:cNvPr>
          <p:cNvPicPr>
            <a:picLocks noChangeAspect="1"/>
          </p:cNvPicPr>
          <p:nvPr/>
        </p:nvPicPr>
        <p:blipFill>
          <a:blip r:embed="rId2"/>
          <a:stretch>
            <a:fillRect/>
          </a:stretch>
        </p:blipFill>
        <p:spPr>
          <a:xfrm>
            <a:off x="4573786" y="1141214"/>
            <a:ext cx="214313" cy="171450"/>
          </a:xfrm>
          <a:prstGeom prst="rect">
            <a:avLst/>
          </a:prstGeom>
        </p:spPr>
      </p:pic>
      <p:sp>
        <p:nvSpPr>
          <p:cNvPr id="11" name="Text 6"/>
          <p:cNvSpPr/>
          <p:nvPr/>
        </p:nvSpPr>
        <p:spPr>
          <a:xfrm>
            <a:off x="5002411" y="1089422"/>
            <a:ext cx="3570089" cy="173236"/>
          </a:xfrm>
          <a:prstGeom prst="rect">
            <a:avLst/>
          </a:prstGeom>
          <a:noFill/>
          <a:ln/>
        </p:spPr>
        <p:txBody>
          <a:bodyPr wrap="square" lIns="0" tIns="0" rIns="0" bIns="0" rtlCol="0" anchor="t">
            <a:spAutoFit/>
          </a:bodyPr>
          <a:lstStyle/>
          <a:p>
            <a:pPr algn="l" indent="0" marL="0">
              <a:buNone/>
            </a:pPr>
            <a:r>
              <a:rPr lang="en-US" sz="1000" b="1" dirty="0">
                <a:solidFill>
                  <a:srgbClr val="2C3E50"/>
                </a:solidFill>
                <a:latin typeface="Montserrat Bold" pitchFamily="34" charset="0"/>
                <a:ea typeface="Montserrat Bold" pitchFamily="34" charset="-122"/>
                <a:cs typeface="Montserrat Bold" pitchFamily="34" charset="-120"/>
              </a:rPr>
              <a:t>CodeBERT Integration</a:t>
            </a:r>
            <a:endParaRPr lang="en-US" sz="1000" dirty="0"/>
          </a:p>
        </p:txBody>
      </p:sp>
      <p:sp>
        <p:nvSpPr>
          <p:cNvPr id="12" name="Text 7"/>
          <p:cNvSpPr/>
          <p:nvPr/>
        </p:nvSpPr>
        <p:spPr>
          <a:xfrm>
            <a:off x="5002411" y="1298377"/>
            <a:ext cx="3570089" cy="314325"/>
          </a:xfrm>
          <a:prstGeom prst="rect">
            <a:avLst/>
          </a:prstGeom>
          <a:noFill/>
          <a:ln/>
        </p:spPr>
        <p:txBody>
          <a:bodyPr wrap="square" lIns="0" tIns="0" rIns="0" bIns="0" rtlCol="0" anchor="t">
            <a:spAutoFit/>
          </a:bodyPr>
          <a:lstStyle/>
          <a:p>
            <a:pPr algn="l" indent="0" marL="0">
              <a:buNone/>
            </a:pPr>
            <a:r>
              <a:rPr lang="en-US" sz="950" dirty="0">
                <a:solidFill>
                  <a:srgbClr val="7F8C8D"/>
                </a:solidFill>
                <a:latin typeface="Montserrat" pitchFamily="34" charset="0"/>
                <a:ea typeface="Montserrat" pitchFamily="34" charset="-122"/>
                <a:cs typeface="Montserrat" pitchFamily="34" charset="-120"/>
              </a:rPr>
              <a:t>Transitioning from text-only metadata to multi-modal analysis of actual source code files.</a:t>
            </a:r>
            <a:endParaRPr lang="en-US" sz="950" dirty="0"/>
          </a:p>
        </p:txBody>
      </p:sp>
      <p:pic>
        <p:nvPicPr>
          <p:cNvPr id="13" name="Image 2" descr="preencoded.png">    </p:cNvPr>
          <p:cNvPicPr>
            <a:picLocks noChangeAspect="1"/>
          </p:cNvPicPr>
          <p:nvPr/>
        </p:nvPicPr>
        <p:blipFill>
          <a:blip r:embed="rId3"/>
          <a:stretch>
            <a:fillRect/>
          </a:stretch>
        </p:blipFill>
        <p:spPr>
          <a:xfrm>
            <a:off x="4573786" y="1843088"/>
            <a:ext cx="171450" cy="171450"/>
          </a:xfrm>
          <a:prstGeom prst="rect">
            <a:avLst/>
          </a:prstGeom>
        </p:spPr>
      </p:pic>
      <p:sp>
        <p:nvSpPr>
          <p:cNvPr id="14" name="Text 8"/>
          <p:cNvSpPr/>
          <p:nvPr/>
        </p:nvSpPr>
        <p:spPr>
          <a:xfrm>
            <a:off x="5002411" y="1791295"/>
            <a:ext cx="3570089" cy="173236"/>
          </a:xfrm>
          <a:prstGeom prst="rect">
            <a:avLst/>
          </a:prstGeom>
          <a:noFill/>
          <a:ln/>
        </p:spPr>
        <p:txBody>
          <a:bodyPr wrap="square" lIns="0" tIns="0" rIns="0" bIns="0" rtlCol="0" anchor="t">
            <a:spAutoFit/>
          </a:bodyPr>
          <a:lstStyle/>
          <a:p>
            <a:pPr algn="l" indent="0" marL="0">
              <a:buNone/>
            </a:pPr>
            <a:r>
              <a:rPr lang="en-US" sz="1000" b="1" dirty="0">
                <a:solidFill>
                  <a:srgbClr val="2C3E50"/>
                </a:solidFill>
                <a:latin typeface="Montserrat Bold" pitchFamily="34" charset="0"/>
                <a:ea typeface="Montserrat Bold" pitchFamily="34" charset="-122"/>
                <a:cs typeface="Montserrat Bold" pitchFamily="34" charset="-120"/>
              </a:rPr>
              <a:t>Multi-Label Support</a:t>
            </a:r>
            <a:endParaRPr lang="en-US" sz="1000" dirty="0"/>
          </a:p>
        </p:txBody>
      </p:sp>
      <p:sp>
        <p:nvSpPr>
          <p:cNvPr id="15" name="Text 9"/>
          <p:cNvSpPr/>
          <p:nvPr/>
        </p:nvSpPr>
        <p:spPr>
          <a:xfrm>
            <a:off x="5002411" y="2000250"/>
            <a:ext cx="3570089" cy="314325"/>
          </a:xfrm>
          <a:prstGeom prst="rect">
            <a:avLst/>
          </a:prstGeom>
          <a:noFill/>
          <a:ln/>
        </p:spPr>
        <p:txBody>
          <a:bodyPr wrap="square" lIns="0" tIns="0" rIns="0" bIns="0" rtlCol="0" anchor="t">
            <a:spAutoFit/>
          </a:bodyPr>
          <a:lstStyle/>
          <a:p>
            <a:pPr algn="l" indent="0" marL="0">
              <a:buNone/>
            </a:pPr>
            <a:r>
              <a:rPr lang="en-US" sz="950" dirty="0">
                <a:solidFill>
                  <a:srgbClr val="7F8C8D"/>
                </a:solidFill>
                <a:latin typeface="Montserrat" pitchFamily="34" charset="0"/>
                <a:ea typeface="Montserrat" pitchFamily="34" charset="-122"/>
                <a:cs typeface="Montserrat" pitchFamily="34" charset="-120"/>
              </a:rPr>
              <a:t>Enabling repositories to belong to multiple domains for more realistic ecosystem mapping.</a:t>
            </a:r>
            <a:endParaRPr lang="en-US" sz="950" dirty="0"/>
          </a:p>
        </p:txBody>
      </p:sp>
      <p:pic>
        <p:nvPicPr>
          <p:cNvPr id="16" name="Image 3" descr="preencoded.png">    </p:cNvPr>
          <p:cNvPicPr>
            <a:picLocks noChangeAspect="1"/>
          </p:cNvPicPr>
          <p:nvPr/>
        </p:nvPicPr>
        <p:blipFill>
          <a:blip r:embed="rId4"/>
          <a:stretch>
            <a:fillRect/>
          </a:stretch>
        </p:blipFill>
        <p:spPr>
          <a:xfrm>
            <a:off x="4573786" y="2544961"/>
            <a:ext cx="192881" cy="171450"/>
          </a:xfrm>
          <a:prstGeom prst="rect">
            <a:avLst/>
          </a:prstGeom>
        </p:spPr>
      </p:pic>
      <p:sp>
        <p:nvSpPr>
          <p:cNvPr id="17" name="Text 10"/>
          <p:cNvSpPr/>
          <p:nvPr/>
        </p:nvSpPr>
        <p:spPr>
          <a:xfrm>
            <a:off x="5002411" y="2493169"/>
            <a:ext cx="3570089" cy="173236"/>
          </a:xfrm>
          <a:prstGeom prst="rect">
            <a:avLst/>
          </a:prstGeom>
          <a:noFill/>
          <a:ln/>
        </p:spPr>
        <p:txBody>
          <a:bodyPr wrap="square" lIns="0" tIns="0" rIns="0" bIns="0" rtlCol="0" anchor="t">
            <a:spAutoFit/>
          </a:bodyPr>
          <a:lstStyle/>
          <a:p>
            <a:pPr algn="l" indent="0" marL="0">
              <a:buNone/>
            </a:pPr>
            <a:r>
              <a:rPr lang="en-US" sz="1000" b="1" dirty="0">
                <a:solidFill>
                  <a:srgbClr val="2C3E50"/>
                </a:solidFill>
                <a:latin typeface="Montserrat Bold" pitchFamily="34" charset="0"/>
                <a:ea typeface="Montserrat Bold" pitchFamily="34" charset="-122"/>
                <a:cs typeface="Montserrat Bold" pitchFamily="34" charset="-120"/>
              </a:rPr>
              <a:t>Metadata Fusion</a:t>
            </a:r>
            <a:endParaRPr lang="en-US" sz="1000" dirty="0"/>
          </a:p>
        </p:txBody>
      </p:sp>
      <p:sp>
        <p:nvSpPr>
          <p:cNvPr id="18" name="Text 11"/>
          <p:cNvSpPr/>
          <p:nvPr/>
        </p:nvSpPr>
        <p:spPr>
          <a:xfrm>
            <a:off x="5002411" y="2702123"/>
            <a:ext cx="3570089" cy="314325"/>
          </a:xfrm>
          <a:prstGeom prst="rect">
            <a:avLst/>
          </a:prstGeom>
          <a:noFill/>
          <a:ln/>
        </p:spPr>
        <p:txBody>
          <a:bodyPr wrap="square" lIns="0" tIns="0" rIns="0" bIns="0" rtlCol="0" anchor="t">
            <a:spAutoFit/>
          </a:bodyPr>
          <a:lstStyle/>
          <a:p>
            <a:pPr algn="l" indent="0" marL="0">
              <a:buNone/>
            </a:pPr>
            <a:r>
              <a:rPr lang="en-US" sz="950" dirty="0">
                <a:solidFill>
                  <a:srgbClr val="7F8C8D"/>
                </a:solidFill>
                <a:latin typeface="Montserrat" pitchFamily="34" charset="0"/>
                <a:ea typeface="Montserrat" pitchFamily="34" charset="-122"/>
                <a:cs typeface="Montserrat" pitchFamily="34" charset="-120"/>
              </a:rPr>
              <a:t>Incorporating stars, forks, and language distributions into the feature set for higher precision.</a:t>
            </a:r>
            <a:endParaRPr lang="en-US" sz="950" dirty="0"/>
          </a:p>
        </p:txBody>
      </p:sp>
      <p:pic>
        <p:nvPicPr>
          <p:cNvPr id="19" name="Image 4" descr="preencoded.png">    </p:cNvPr>
          <p:cNvPicPr>
            <a:picLocks noChangeAspect="1"/>
          </p:cNvPicPr>
          <p:nvPr/>
        </p:nvPicPr>
        <p:blipFill>
          <a:blip r:embed="rId5"/>
          <a:stretch>
            <a:fillRect/>
          </a:stretch>
        </p:blipFill>
        <p:spPr>
          <a:xfrm>
            <a:off x="4573786" y="3246834"/>
            <a:ext cx="150019" cy="171450"/>
          </a:xfrm>
          <a:prstGeom prst="rect">
            <a:avLst/>
          </a:prstGeom>
        </p:spPr>
      </p:pic>
      <p:sp>
        <p:nvSpPr>
          <p:cNvPr id="20" name="Text 12"/>
          <p:cNvSpPr/>
          <p:nvPr/>
        </p:nvSpPr>
        <p:spPr>
          <a:xfrm>
            <a:off x="5002411" y="3195042"/>
            <a:ext cx="3570089" cy="173236"/>
          </a:xfrm>
          <a:prstGeom prst="rect">
            <a:avLst/>
          </a:prstGeom>
          <a:noFill/>
          <a:ln/>
        </p:spPr>
        <p:txBody>
          <a:bodyPr wrap="square" lIns="0" tIns="0" rIns="0" bIns="0" rtlCol="0" anchor="t">
            <a:spAutoFit/>
          </a:bodyPr>
          <a:lstStyle/>
          <a:p>
            <a:pPr algn="l" indent="0" marL="0">
              <a:buNone/>
            </a:pPr>
            <a:r>
              <a:rPr lang="en-US" sz="1000" b="1" dirty="0">
                <a:solidFill>
                  <a:srgbClr val="2C3E50"/>
                </a:solidFill>
                <a:latin typeface="Montserrat Bold" pitchFamily="34" charset="0"/>
                <a:ea typeface="Montserrat Bold" pitchFamily="34" charset="-122"/>
                <a:cs typeface="Montserrat Bold" pitchFamily="34" charset="-120"/>
              </a:rPr>
              <a:t>Dataset Scaling</a:t>
            </a:r>
            <a:endParaRPr lang="en-US" sz="1000" dirty="0"/>
          </a:p>
        </p:txBody>
      </p:sp>
      <p:sp>
        <p:nvSpPr>
          <p:cNvPr id="21" name="Text 13"/>
          <p:cNvSpPr/>
          <p:nvPr/>
        </p:nvSpPr>
        <p:spPr>
          <a:xfrm>
            <a:off x="5002411" y="3403997"/>
            <a:ext cx="3570089" cy="314325"/>
          </a:xfrm>
          <a:prstGeom prst="rect">
            <a:avLst/>
          </a:prstGeom>
          <a:noFill/>
          <a:ln/>
        </p:spPr>
        <p:txBody>
          <a:bodyPr wrap="square" lIns="0" tIns="0" rIns="0" bIns="0" rtlCol="0" anchor="t">
            <a:spAutoFit/>
          </a:bodyPr>
          <a:lstStyle/>
          <a:p>
            <a:pPr algn="l" indent="0" marL="0">
              <a:buNone/>
            </a:pPr>
            <a:r>
              <a:rPr lang="en-US" sz="950" dirty="0">
                <a:solidFill>
                  <a:srgbClr val="7F8C8D"/>
                </a:solidFill>
                <a:latin typeface="Montserrat" pitchFamily="34" charset="0"/>
                <a:ea typeface="Montserrat" pitchFamily="34" charset="-122"/>
                <a:cs typeface="Montserrat" pitchFamily="34" charset="-120"/>
              </a:rPr>
              <a:t>Expanding to 10,000+ samples to leverage larger Transformer models like RoBERTa.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2026-04-30T12:38:11Z</dcterms:created>
  <dcterms:modified xsi:type="dcterms:W3CDTF">2026-04-30T12:38:11Z</dcterms:modified>
</cp:coreProperties>
</file>