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exploring BERT, a revolutionary model in Natural Language Processing. We'll see how we applied it to classify GitHub repositories based on their textual descriptions. Our focus is on how BERT brings efficiency, accuracy, and a deep contextual understanding to this task. We'll dive into the specifics of this project and its implications for understanding software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before we dive into BERT, let's ground ourselves in what NLP truly is. It's not just about reading words; it's about understanding the intent and meaning behind them. This matters greatly for GitHub projects, because a 'Python' project could be a library, a tool, or even a tutorial. Traditional models often missed this nuance, treating words in isolation. But modern NLP, and especially BERT, understands the full context. This deeper understanding is crucial for accurately categorizing technical content. Now, let's look at how BERT achieves this advanced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BERT truly changed the game in 2018. Its full name, Bidirectional Encoder Representations from Transformers, hints at its power. The 'bidirectional' part is key here. Unlike older models that read text only from left to right, BERT processes the entire sequence of words at once. This means it understands a word's meaning by looking at all its surroundings, both before and after it, simultaneously. This comprehensive view allows for a much richer contextual understanding. So, how does BERT actually achieve this bidirectional magic? Let's break down its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BERT is built on the powerful Transformer architecture. The core component is the Transformer Encoder, which processes input data in parallel. This allows for faster training and a deeper grasp of complex patterns. A critical part of this is the Self-Attention mechanism. It's like a spotlight, allowing the model to focus on the most relevant words in a sentence when trying to understand a specific word. Finally, BERT uses input embeddings that combine token, position, and segment information. This creates a rich numerical representation of the text. But how does BERT actually prepare this text for its engine? Let's explore that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BERT doesn't see words directly; it processes them as numerical representations. We use WordPiece tokenization, which breaks down complex or rare words into smaller, more meaningful sub-units. This helps manage vocabulary size and handles words it hasn't seen before. We also use special tokens like [CLS] at the start of every sequence. Its final output is particularly important for classification tasks. The [SEP] token helps separate sentences or mark the end of a sequence. This careful input representation is vital for BERT to effectively process and understand text. Now, let's see how BERT uses this processed input for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actually get BERT to classify GitHub repositories? We don't change the core BERT model. Instead, we add a specific component on top, often called a "classification head." We take the special [CLS] token's output, which summarizes the entire input, and feed it into a linear layer. This layer, combined with a Softmax function, gives us probabilities for each category. We then pick the category with the highest probability as our prediction. This process is called fine-tuning; we adapt a pre-trained BERT to our specific task without starting from scratch. This makes the model highly effective for our classification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how BERT classifies, let's talk about why we chose DistilBERT for this project. It's all about balancing efficiency with performance. DistilBERT is a smaller, faster version of BERT. It learns from a larger "teacher" BERT model through a process called knowledge distillation. This means it retains about 97% of BERT's original performance. But here's the key: it has 40% fewer parameters and trains 60% faster. This trade-off was crucial for us, allowing us to achieve strong results within our project constraints. It gives us nearly the same power with much less computational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our model choice made, let's look at how we prepared our data and set up the training. Data quality is paramount for any machine learning project. We combined the repository description with its README content to give DistilBERT the richest possible context. We also cleaned the text, removing things like Markdown and HTML tags to reduce noise. For training, we used standard practices like the AdamW optimizer and set a maximum token length of 512. We also employed early stopping to prevent overfitting and used mixed precision for faster GPU training. This meticulous setup ensures our model learns effectively and generalizes well to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talk about how well our model performs, we can't just look at accuracy. It's a common trap, especially with imbalanced datasets. We used Macro F1-score as our main metric because it gives a much clearer picture of true performance. This metric makes sure our model isn't just good at guessing the most common categories. It tells us if we're doing well across all repository types, even the smaller ones. So, after all that data processing and training, this is how we really knew if our model was working. Now, let's talk about some of the hurdles we faced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its challenges, and ours was no different. One big hurdle was dealing with really long READMEs. We had to truncate them to 512 tokens, and deciding what to keep without losing important context was tough. We also dealt with class imbalance, where some categories had way more examples than others. But through these challenges, we gained some cool insights. We saw that the model could really understand technical jargon, even distinguishing between similar concepts like 'Frameworks' and 'Libraries.' This showed us the power of BERT's semantic understanding. These insights lead us to our main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the big takeaways from all this? First, context is king. BERT's ability to understand text bidirectionally is far superior to just matching keywords. Second, transfer learning is a game-changer. Using pre-trained models like DistilBERT makes advanced NLP accessible, even for projects with limited resources. And finally, efficiency matters. DistilBERT gave us that sweet spot of high accuracy and speed. Looking ahead, we're excited about exploring CodeBERT to classify based on actual code, not just documentation.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750094" y="850720"/>
            <a:ext cx="7643813" cy="3442032"/>
          </a:xfrm>
          <a:prstGeom prst="rect">
            <a:avLst/>
          </a:prstGeom>
          <a:solidFill>
            <a:srgbClr val="FFFFFF"/>
          </a:solidFill>
          <a:ln/>
        </p:spPr>
      </p:sp>
      <p:sp>
        <p:nvSpPr>
          <p:cNvPr id="5" name="Shape 1"/>
          <p:cNvSpPr/>
          <p:nvPr/>
        </p:nvSpPr>
        <p:spPr>
          <a:xfrm>
            <a:off x="750094" y="850720"/>
            <a:ext cx="71438" cy="3442032"/>
          </a:xfrm>
          <a:prstGeom prst="rect">
            <a:avLst/>
          </a:prstGeom>
          <a:solidFill>
            <a:srgbClr val="2EA043"/>
          </a:solidFill>
          <a:ln/>
        </p:spPr>
      </p:sp>
      <p:sp>
        <p:nvSpPr>
          <p:cNvPr id="6" name="Text 2"/>
          <p:cNvSpPr/>
          <p:nvPr/>
        </p:nvSpPr>
        <p:spPr>
          <a:xfrm>
            <a:off x="1357313" y="1585661"/>
            <a:ext cx="6429375" cy="1508727"/>
          </a:xfrm>
          <a:prstGeom prst="rect">
            <a:avLst/>
          </a:prstGeom>
          <a:noFill/>
          <a:ln/>
        </p:spPr>
        <p:txBody>
          <a:bodyPr wrap="square" lIns="0" tIns="0" rIns="0" bIns="0" rtlCol="0" anchor="t">
            <a:spAutoFit/>
          </a:bodyPr>
          <a:lstStyle/>
          <a:p>
            <a:pPr algn="l" indent="0" marL="0">
              <a:lnSpc>
                <a:spcPct val="88000"/>
              </a:lnSpc>
              <a:buNone/>
            </a:pPr>
            <a:r>
              <a:rPr lang="en-US" sz="3300" b="1" spc="-2" kern="0" dirty="0">
                <a:solidFill>
                  <a:srgbClr val="24292E"/>
                </a:solidFill>
                <a:latin typeface="Inter ExtraBold" pitchFamily="34" charset="0"/>
                <a:ea typeface="Inter ExtraBold" pitchFamily="34" charset="-122"/>
                <a:cs typeface="Inter ExtraBold" pitchFamily="34" charset="-120"/>
              </a:rPr>
              <a:t>BERT FOR GITHUB REPOSITORY CLASSIFICATION</a:t>
            </a:r>
            <a:endParaRPr lang="en-US" sz="3300" dirty="0"/>
          </a:p>
        </p:txBody>
      </p:sp>
      <p:sp>
        <p:nvSpPr>
          <p:cNvPr id="7" name="Text 3"/>
          <p:cNvSpPr/>
          <p:nvPr/>
        </p:nvSpPr>
        <p:spPr>
          <a:xfrm>
            <a:off x="1357313" y="3208688"/>
            <a:ext cx="6429375" cy="553641"/>
          </a:xfrm>
          <a:prstGeom prst="rect">
            <a:avLst/>
          </a:prstGeom>
          <a:noFill/>
          <a:ln/>
        </p:spPr>
        <p:txBody>
          <a:bodyPr wrap="square" lIns="0" tIns="0" rIns="0" bIns="0" rtlCol="0" anchor="t">
            <a:spAutoFit/>
          </a:bodyPr>
          <a:lstStyle/>
          <a:p>
            <a:pPr algn="l" indent="0" marL="0">
              <a:buNone/>
            </a:pPr>
            <a:r>
              <a:rPr lang="en-US" sz="1700" dirty="0">
                <a:solidFill>
                  <a:srgbClr val="586069"/>
                </a:solidFill>
                <a:latin typeface="Inter Light" pitchFamily="34" charset="0"/>
                <a:ea typeface="Inter Light" pitchFamily="34" charset="-122"/>
                <a:cs typeface="Inter Light" pitchFamily="34" charset="-120"/>
              </a:rPr>
              <a:t>Leveraging contextual embeddings for automated software project categorization.</a:t>
            </a:r>
            <a:endParaRPr lang="en-US" sz="1700" dirty="0"/>
          </a:p>
        </p:txBody>
      </p:sp>
      <p:pic>
        <p:nvPicPr>
          <p:cNvPr id="8" name="Image 1" descr="preencoded.png">    </p:cNvPr>
          <p:cNvPicPr>
            <a:picLocks noChangeAspect="1"/>
          </p:cNvPicPr>
          <p:nvPr/>
        </p:nvPicPr>
        <p:blipFill>
          <a:blip r:embed="rId2"/>
          <a:stretch>
            <a:fillRect/>
          </a:stretch>
        </p:blipFill>
        <p:spPr>
          <a:xfrm>
            <a:off x="1357313" y="3919491"/>
            <a:ext cx="125016" cy="142875"/>
          </a:xfrm>
          <a:prstGeom prst="rect">
            <a:avLst/>
          </a:prstGeom>
        </p:spPr>
      </p:pic>
      <p:sp>
        <p:nvSpPr>
          <p:cNvPr id="9" name="Text 4"/>
          <p:cNvSpPr/>
          <p:nvPr/>
        </p:nvSpPr>
        <p:spPr>
          <a:xfrm>
            <a:off x="1539478" y="3905203"/>
            <a:ext cx="1057275" cy="173236"/>
          </a:xfrm>
          <a:prstGeom prst="rect">
            <a:avLst/>
          </a:prstGeom>
          <a:noFill/>
          <a:ln/>
        </p:spPr>
        <p:txBody>
          <a:bodyPr wrap="none" lIns="0" tIns="0" rIns="0" bIns="0" rtlCol="0" anchor="t">
            <a:spAutoFit/>
          </a:bodyPr>
          <a:lstStyle/>
          <a:p>
            <a:pPr algn="l" indent="0" marL="0">
              <a:buNone/>
            </a:pPr>
            <a:r>
              <a:rPr lang="en-US" sz="1050" dirty="0">
                <a:solidFill>
                  <a:srgbClr val="24292E"/>
                </a:solidFill>
                <a:latin typeface="Inter Light" pitchFamily="34" charset="0"/>
                <a:ea typeface="Inter Light" pitchFamily="34" charset="-122"/>
                <a:cs typeface="Inter Light" pitchFamily="34" charset="-120"/>
              </a:rPr>
              <a:t>Student Project</a:t>
            </a:r>
            <a:endParaRPr lang="en-US" sz="1050" dirty="0"/>
          </a:p>
        </p:txBody>
      </p:sp>
      <p:pic>
        <p:nvPicPr>
          <p:cNvPr id="10" name="Image 2" descr="preencoded.png">    </p:cNvPr>
          <p:cNvPicPr>
            <a:picLocks noChangeAspect="1"/>
          </p:cNvPicPr>
          <p:nvPr/>
        </p:nvPicPr>
        <p:blipFill>
          <a:blip r:embed="rId3"/>
          <a:stretch>
            <a:fillRect/>
          </a:stretch>
        </p:blipFill>
        <p:spPr>
          <a:xfrm>
            <a:off x="2768203" y="3919491"/>
            <a:ext cx="142875" cy="142875"/>
          </a:xfrm>
          <a:prstGeom prst="rect">
            <a:avLst/>
          </a:prstGeom>
        </p:spPr>
      </p:pic>
      <p:sp>
        <p:nvSpPr>
          <p:cNvPr id="11" name="Text 5"/>
          <p:cNvSpPr/>
          <p:nvPr/>
        </p:nvSpPr>
        <p:spPr>
          <a:xfrm>
            <a:off x="2968228" y="3905203"/>
            <a:ext cx="1687711" cy="173236"/>
          </a:xfrm>
          <a:prstGeom prst="rect">
            <a:avLst/>
          </a:prstGeom>
          <a:noFill/>
          <a:ln/>
        </p:spPr>
        <p:txBody>
          <a:bodyPr wrap="square" lIns="0" tIns="0" rIns="0" bIns="0" rtlCol="0" anchor="t">
            <a:spAutoFit/>
          </a:bodyPr>
          <a:lstStyle/>
          <a:p>
            <a:pPr algn="l" indent="0" marL="0">
              <a:buNone/>
            </a:pPr>
            <a:r>
              <a:rPr lang="en-US" sz="1050" dirty="0">
                <a:solidFill>
                  <a:srgbClr val="24292E"/>
                </a:solidFill>
                <a:latin typeface="Inter Light" pitchFamily="34" charset="0"/>
                <a:ea typeface="Inter Light" pitchFamily="34" charset="-122"/>
                <a:cs typeface="Inter Light" pitchFamily="34" charset="-120"/>
              </a:rPr>
              <a:t>NLP &amp; Machine Learning</a:t>
            </a:r>
            <a:endParaRPr lang="en-US" sz="1050" dirty="0"/>
          </a:p>
        </p:txBody>
      </p:sp>
      <p:pic>
        <p:nvPicPr>
          <p:cNvPr id="12" name="Image 3" descr="preencoded.png">    </p:cNvPr>
          <p:cNvPicPr>
            <a:picLocks noChangeAspect="1"/>
          </p:cNvPicPr>
          <p:nvPr/>
        </p:nvPicPr>
        <p:blipFill>
          <a:blip r:embed="rId4"/>
          <a:stretch>
            <a:fillRect/>
          </a:stretch>
        </p:blipFill>
        <p:spPr>
          <a:xfrm>
            <a:off x="4827389" y="3919491"/>
            <a:ext cx="139303" cy="142875"/>
          </a:xfrm>
          <a:prstGeom prst="rect">
            <a:avLst/>
          </a:prstGeom>
        </p:spPr>
      </p:pic>
      <p:sp>
        <p:nvSpPr>
          <p:cNvPr id="13" name="Text 6"/>
          <p:cNvSpPr/>
          <p:nvPr/>
        </p:nvSpPr>
        <p:spPr>
          <a:xfrm>
            <a:off x="5023842" y="3905203"/>
            <a:ext cx="1094780" cy="173236"/>
          </a:xfrm>
          <a:prstGeom prst="rect">
            <a:avLst/>
          </a:prstGeom>
          <a:noFill/>
          <a:ln/>
        </p:spPr>
        <p:txBody>
          <a:bodyPr wrap="none" lIns="0" tIns="0" rIns="0" bIns="0" rtlCol="0" anchor="t">
            <a:spAutoFit/>
          </a:bodyPr>
          <a:lstStyle/>
          <a:p>
            <a:pPr algn="l" indent="0" marL="0">
              <a:buNone/>
            </a:pPr>
            <a:r>
              <a:rPr lang="en-US" sz="1050" dirty="0">
                <a:solidFill>
                  <a:srgbClr val="24292E"/>
                </a:solidFill>
                <a:latin typeface="Inter Light" pitchFamily="34" charset="0"/>
                <a:ea typeface="Inter Light" pitchFamily="34" charset="-122"/>
                <a:cs typeface="Inter Light" pitchFamily="34" charset="-120"/>
              </a:rPr>
              <a:t>GitHub Analysis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NLP &amp; TEXT UNDERSTANDING</a:t>
            </a:r>
            <a:endParaRPr lang="en-US" sz="2450" dirty="0"/>
          </a:p>
        </p:txBody>
      </p:sp>
      <p:sp>
        <p:nvSpPr>
          <p:cNvPr id="5" name="Text 1"/>
          <p:cNvSpPr/>
          <p:nvPr/>
        </p:nvSpPr>
        <p:spPr>
          <a:xfrm>
            <a:off x="571500" y="1499043"/>
            <a:ext cx="38290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BRIDGING THE GAP</a:t>
            </a:r>
            <a:endParaRPr lang="en-US" sz="1200" dirty="0"/>
          </a:p>
        </p:txBody>
      </p:sp>
      <p:sp>
        <p:nvSpPr>
          <p:cNvPr id="6" name="Text 2"/>
          <p:cNvSpPr/>
          <p:nvPr/>
        </p:nvSpPr>
        <p:spPr>
          <a:xfrm>
            <a:off x="571500" y="1820512"/>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What is NLP?</a:t>
            </a:r>
            <a:endParaRPr lang="en-US" sz="1000" dirty="0"/>
          </a:p>
        </p:txBody>
      </p:sp>
      <p:sp>
        <p:nvSpPr>
          <p:cNvPr id="7" name="Text 3"/>
          <p:cNvSpPr/>
          <p:nvPr/>
        </p:nvSpPr>
        <p:spPr>
          <a:xfrm>
            <a:off x="571500" y="2050898"/>
            <a:ext cx="382905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Natural Language Processing enables computers to understand, interpret, and generate human language in a valuable way.</a:t>
            </a:r>
            <a:endParaRPr lang="en-US" sz="950" dirty="0"/>
          </a:p>
        </p:txBody>
      </p:sp>
      <p:sp>
        <p:nvSpPr>
          <p:cNvPr id="8" name="Text 4"/>
          <p:cNvSpPr/>
          <p:nvPr/>
        </p:nvSpPr>
        <p:spPr>
          <a:xfrm>
            <a:off x="571500" y="2743842"/>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The Challenge</a:t>
            </a:r>
            <a:endParaRPr lang="en-US" sz="1000" dirty="0"/>
          </a:p>
        </p:txBody>
      </p:sp>
      <p:sp>
        <p:nvSpPr>
          <p:cNvPr id="9" name="Text 5"/>
          <p:cNvSpPr/>
          <p:nvPr/>
        </p:nvSpPr>
        <p:spPr>
          <a:xfrm>
            <a:off x="571500" y="2974228"/>
            <a:ext cx="382905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Technical content like GitHub repositories requires deep semantic understanding, not just keyword matching.</a:t>
            </a:r>
            <a:endParaRPr lang="en-US" sz="950" dirty="0"/>
          </a:p>
        </p:txBody>
      </p:sp>
      <p:sp>
        <p:nvSpPr>
          <p:cNvPr id="10" name="Text 6"/>
          <p:cNvSpPr/>
          <p:nvPr/>
        </p:nvSpPr>
        <p:spPr>
          <a:xfrm>
            <a:off x="4743450" y="1499043"/>
            <a:ext cx="38290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THE POWER OF CONTEXT</a:t>
            </a:r>
            <a:endParaRPr lang="en-US" sz="1200" dirty="0"/>
          </a:p>
        </p:txBody>
      </p:sp>
      <p:sp>
        <p:nvSpPr>
          <p:cNvPr id="11" name="Text 7"/>
          <p:cNvSpPr/>
          <p:nvPr/>
        </p:nvSpPr>
        <p:spPr>
          <a:xfrm>
            <a:off x="4743450" y="1820512"/>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Beyond Isolation</a:t>
            </a:r>
            <a:endParaRPr lang="en-US" sz="1000" dirty="0"/>
          </a:p>
        </p:txBody>
      </p:sp>
      <p:sp>
        <p:nvSpPr>
          <p:cNvPr id="12" name="Text 8"/>
          <p:cNvSpPr/>
          <p:nvPr/>
        </p:nvSpPr>
        <p:spPr>
          <a:xfrm>
            <a:off x="4743450" y="2050898"/>
            <a:ext cx="382905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Traditional models treated words as independent units. Modern NLP captures the relationship between words.</a:t>
            </a:r>
            <a:endParaRPr lang="en-US" sz="950" dirty="0"/>
          </a:p>
        </p:txBody>
      </p:sp>
      <p:pic>
        <p:nvPicPr>
          <p:cNvPr id="13" name="Image 1" descr="preencoded.png">    </p:cNvPr>
          <p:cNvPicPr>
            <a:picLocks noChangeAspect="1"/>
          </p:cNvPicPr>
          <p:nvPr/>
        </p:nvPicPr>
        <p:blipFill>
          <a:blip r:embed="rId2"/>
          <a:stretch>
            <a:fillRect/>
          </a:stretch>
        </p:blipFill>
        <p:spPr>
          <a:xfrm>
            <a:off x="6229350" y="2802778"/>
            <a:ext cx="857250" cy="857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WHAT IS BERT?</a:t>
            </a:r>
            <a:endParaRPr lang="en-US" sz="2450" dirty="0"/>
          </a:p>
        </p:txBody>
      </p:sp>
      <p:sp>
        <p:nvSpPr>
          <p:cNvPr id="5" name="Text 1"/>
          <p:cNvSpPr/>
          <p:nvPr/>
        </p:nvSpPr>
        <p:spPr>
          <a:xfrm>
            <a:off x="571500" y="1413318"/>
            <a:ext cx="8001000" cy="274309"/>
          </a:xfrm>
          <a:prstGeom prst="rect">
            <a:avLst/>
          </a:prstGeom>
          <a:noFill/>
          <a:ln/>
        </p:spPr>
        <p:txBody>
          <a:bodyPr wrap="none" lIns="0" tIns="0" rIns="0" bIns="0" rtlCol="0" anchor="t">
            <a:spAutoFit/>
          </a:bodyPr>
          <a:lstStyle/>
          <a:p>
            <a:pPr algn="l" indent="0" marL="0">
              <a:lnSpc>
                <a:spcPct val="96000"/>
              </a:lnSpc>
              <a:buNone/>
            </a:pPr>
            <a:r>
              <a:rPr lang="en-US" sz="1600" b="1" dirty="0">
                <a:solidFill>
                  <a:srgbClr val="2EA043"/>
                </a:solidFill>
                <a:latin typeface="Inter ExtraBold" pitchFamily="34" charset="0"/>
                <a:ea typeface="Inter ExtraBold" pitchFamily="34" charset="-122"/>
                <a:cs typeface="Inter ExtraBold" pitchFamily="34" charset="-120"/>
              </a:rPr>
              <a:t>Bidirectional Encoder Representations from Transformers</a:t>
            </a:r>
            <a:endParaRPr lang="en-US" sz="1600" dirty="0"/>
          </a:p>
        </p:txBody>
      </p:sp>
      <p:sp>
        <p:nvSpPr>
          <p:cNvPr id="6" name="Text 2"/>
          <p:cNvSpPr/>
          <p:nvPr/>
        </p:nvSpPr>
        <p:spPr>
          <a:xfrm>
            <a:off x="571500" y="1859077"/>
            <a:ext cx="3871913"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THE KEY INNOVATION</a:t>
            </a:r>
            <a:endParaRPr lang="en-US" sz="1200" dirty="0"/>
          </a:p>
        </p:txBody>
      </p:sp>
      <p:sp>
        <p:nvSpPr>
          <p:cNvPr id="7" name="Text 3"/>
          <p:cNvSpPr/>
          <p:nvPr/>
        </p:nvSpPr>
        <p:spPr>
          <a:xfrm>
            <a:off x="571500" y="2151971"/>
            <a:ext cx="3871913"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Unlike traditional models that read text sequentially (left-to-right), BERT reads the entire sequence of words at once.</a:t>
            </a:r>
            <a:endParaRPr lang="en-US" sz="950" dirty="0"/>
          </a:p>
        </p:txBody>
      </p:sp>
      <p:sp>
        <p:nvSpPr>
          <p:cNvPr id="8" name="Text 4"/>
          <p:cNvSpPr/>
          <p:nvPr/>
        </p:nvSpPr>
        <p:spPr>
          <a:xfrm>
            <a:off x="4700588" y="1859077"/>
            <a:ext cx="3871913"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TRUE CONTEXT</a:t>
            </a:r>
            <a:endParaRPr lang="en-US" sz="1200" dirty="0"/>
          </a:p>
        </p:txBody>
      </p:sp>
      <p:sp>
        <p:nvSpPr>
          <p:cNvPr id="9" name="Text 5"/>
          <p:cNvSpPr/>
          <p:nvPr/>
        </p:nvSpPr>
        <p:spPr>
          <a:xfrm>
            <a:off x="4700588" y="2151971"/>
            <a:ext cx="3871913"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It captures the meaning of a word based on all of its surroundings—both to its left and its right—simultaneously.</a:t>
            </a:r>
            <a:endParaRPr lang="en-US" sz="950" dirty="0"/>
          </a:p>
        </p:txBody>
      </p:sp>
      <p:pic>
        <p:nvPicPr>
          <p:cNvPr id="10" name="Image 1" descr="preencoded.png">    </p:cNvPr>
          <p:cNvPicPr>
            <a:picLocks noChangeAspect="1"/>
          </p:cNvPicPr>
          <p:nvPr/>
        </p:nvPicPr>
        <p:blipFill>
          <a:blip r:embed="rId2"/>
          <a:stretch>
            <a:fillRect/>
          </a:stretch>
        </p:blipFill>
        <p:spPr>
          <a:xfrm>
            <a:off x="3032522" y="2751153"/>
            <a:ext cx="150019" cy="171450"/>
          </a:xfrm>
          <a:prstGeom prst="rect">
            <a:avLst/>
          </a:prstGeom>
        </p:spPr>
      </p:pic>
      <p:sp>
        <p:nvSpPr>
          <p:cNvPr id="11" name="Shape 6"/>
          <p:cNvSpPr/>
          <p:nvPr/>
        </p:nvSpPr>
        <p:spPr>
          <a:xfrm>
            <a:off x="3325416" y="2709183"/>
            <a:ext cx="812602" cy="255389"/>
          </a:xfrm>
          <a:prstGeom prst="rect">
            <a:avLst/>
          </a:prstGeom>
          <a:solidFill>
            <a:srgbClr val="FFFFFF"/>
          </a:solidFill>
          <a:ln/>
        </p:spPr>
      </p:sp>
      <p:sp>
        <p:nvSpPr>
          <p:cNvPr id="12" name="Shape 7"/>
          <p:cNvSpPr/>
          <p:nvPr/>
        </p:nvSpPr>
        <p:spPr>
          <a:xfrm>
            <a:off x="3325416" y="2935998"/>
            <a:ext cx="812602" cy="28575"/>
          </a:xfrm>
          <a:prstGeom prst="rect">
            <a:avLst/>
          </a:prstGeom>
          <a:solidFill>
            <a:srgbClr val="2EA043"/>
          </a:solidFill>
          <a:ln/>
        </p:spPr>
      </p:sp>
      <p:sp>
        <p:nvSpPr>
          <p:cNvPr id="13" name="Text 8"/>
          <p:cNvSpPr/>
          <p:nvPr/>
        </p:nvSpPr>
        <p:spPr>
          <a:xfrm>
            <a:off x="3325416" y="2709183"/>
            <a:ext cx="812602" cy="255389"/>
          </a:xfrm>
          <a:prstGeom prst="rect">
            <a:avLst/>
          </a:prstGeom>
          <a:noFill/>
          <a:ln/>
        </p:spPr>
        <p:txBody>
          <a:bodyPr wrap="none" lIns="102108" tIns="85090" rIns="102108" bIns="0" rtlCol="0" anchor="t">
            <a:spAutoFit/>
          </a:bodyPr>
          <a:lstStyle/>
          <a:p>
            <a:pPr algn="l" indent="0" marL="0">
              <a:buNone/>
            </a:pPr>
            <a:r>
              <a:rPr lang="en-US" sz="900" b="1" dirty="0">
                <a:solidFill>
                  <a:srgbClr val="24292E"/>
                </a:solidFill>
                <a:latin typeface="Inter ExtraBold" pitchFamily="34" charset="0"/>
                <a:ea typeface="Inter ExtraBold" pitchFamily="34" charset="-122"/>
                <a:cs typeface="Inter ExtraBold" pitchFamily="34" charset="-120"/>
              </a:rPr>
              <a:t>CONTEXT</a:t>
            </a:r>
            <a:endParaRPr lang="en-US" sz="900" dirty="0"/>
          </a:p>
        </p:txBody>
      </p:sp>
      <p:sp>
        <p:nvSpPr>
          <p:cNvPr id="14" name="Shape 9"/>
          <p:cNvSpPr/>
          <p:nvPr/>
        </p:nvSpPr>
        <p:spPr>
          <a:xfrm>
            <a:off x="4280892" y="2709183"/>
            <a:ext cx="582216" cy="255389"/>
          </a:xfrm>
          <a:prstGeom prst="rect">
            <a:avLst/>
          </a:prstGeom>
          <a:solidFill>
            <a:srgbClr val="2EA043"/>
          </a:solidFill>
          <a:ln/>
        </p:spPr>
      </p:sp>
      <p:sp>
        <p:nvSpPr>
          <p:cNvPr id="15" name="Shape 10"/>
          <p:cNvSpPr/>
          <p:nvPr/>
        </p:nvSpPr>
        <p:spPr>
          <a:xfrm>
            <a:off x="4280892" y="2935998"/>
            <a:ext cx="582216" cy="28575"/>
          </a:xfrm>
          <a:prstGeom prst="rect">
            <a:avLst/>
          </a:prstGeom>
          <a:solidFill>
            <a:srgbClr val="2EA043"/>
          </a:solidFill>
          <a:ln/>
        </p:spPr>
      </p:sp>
      <p:sp>
        <p:nvSpPr>
          <p:cNvPr id="16" name="Text 11"/>
          <p:cNvSpPr/>
          <p:nvPr/>
        </p:nvSpPr>
        <p:spPr>
          <a:xfrm>
            <a:off x="4280892" y="2709183"/>
            <a:ext cx="582216" cy="255389"/>
          </a:xfrm>
          <a:prstGeom prst="rect">
            <a:avLst/>
          </a:prstGeom>
          <a:noFill/>
          <a:ln/>
        </p:spPr>
        <p:txBody>
          <a:bodyPr wrap="none" lIns="102108" tIns="85090" rIns="102108" bIns="0" rtlCol="0" anchor="t">
            <a:spAutoFit/>
          </a:bodyPr>
          <a:lstStyle/>
          <a:p>
            <a:pPr algn="l" indent="0" marL="0">
              <a:buNone/>
            </a:pPr>
            <a:r>
              <a:rPr lang="en-US" sz="900" b="1" dirty="0">
                <a:solidFill>
                  <a:srgbClr val="FFFFFF"/>
                </a:solidFill>
                <a:latin typeface="Inter ExtraBold" pitchFamily="34" charset="0"/>
                <a:ea typeface="Inter ExtraBold" pitchFamily="34" charset="-122"/>
                <a:cs typeface="Inter ExtraBold" pitchFamily="34" charset="-120"/>
              </a:rPr>
              <a:t>WORD</a:t>
            </a:r>
            <a:endParaRPr lang="en-US" sz="900" dirty="0"/>
          </a:p>
        </p:txBody>
      </p:sp>
      <p:sp>
        <p:nvSpPr>
          <p:cNvPr id="17" name="Shape 12"/>
          <p:cNvSpPr/>
          <p:nvPr/>
        </p:nvSpPr>
        <p:spPr>
          <a:xfrm>
            <a:off x="5005983" y="2709183"/>
            <a:ext cx="812602" cy="255389"/>
          </a:xfrm>
          <a:prstGeom prst="rect">
            <a:avLst/>
          </a:prstGeom>
          <a:solidFill>
            <a:srgbClr val="FFFFFF"/>
          </a:solidFill>
          <a:ln/>
        </p:spPr>
      </p:sp>
      <p:sp>
        <p:nvSpPr>
          <p:cNvPr id="18" name="Shape 13"/>
          <p:cNvSpPr/>
          <p:nvPr/>
        </p:nvSpPr>
        <p:spPr>
          <a:xfrm>
            <a:off x="5005983" y="2935998"/>
            <a:ext cx="812602" cy="28575"/>
          </a:xfrm>
          <a:prstGeom prst="rect">
            <a:avLst/>
          </a:prstGeom>
          <a:solidFill>
            <a:srgbClr val="2EA043"/>
          </a:solidFill>
          <a:ln/>
        </p:spPr>
      </p:sp>
      <p:sp>
        <p:nvSpPr>
          <p:cNvPr id="19" name="Text 14"/>
          <p:cNvSpPr/>
          <p:nvPr/>
        </p:nvSpPr>
        <p:spPr>
          <a:xfrm>
            <a:off x="5005983" y="2709183"/>
            <a:ext cx="812602" cy="255389"/>
          </a:xfrm>
          <a:prstGeom prst="rect">
            <a:avLst/>
          </a:prstGeom>
          <a:noFill/>
          <a:ln/>
        </p:spPr>
        <p:txBody>
          <a:bodyPr wrap="none" lIns="102108" tIns="85090" rIns="102108" bIns="0" rtlCol="0" anchor="t">
            <a:spAutoFit/>
          </a:bodyPr>
          <a:lstStyle/>
          <a:p>
            <a:pPr algn="l" indent="0" marL="0">
              <a:buNone/>
            </a:pPr>
            <a:r>
              <a:rPr lang="en-US" sz="900" b="1" dirty="0">
                <a:solidFill>
                  <a:srgbClr val="24292E"/>
                </a:solidFill>
                <a:latin typeface="Inter ExtraBold" pitchFamily="34" charset="0"/>
                <a:ea typeface="Inter ExtraBold" pitchFamily="34" charset="-122"/>
                <a:cs typeface="Inter ExtraBold" pitchFamily="34" charset="-120"/>
              </a:rPr>
              <a:t>CONTEXT</a:t>
            </a:r>
            <a:endParaRPr lang="en-US" sz="900" dirty="0"/>
          </a:p>
        </p:txBody>
      </p:sp>
      <p:pic>
        <p:nvPicPr>
          <p:cNvPr id="20" name="Image 2" descr="preencoded.png">    </p:cNvPr>
          <p:cNvPicPr>
            <a:picLocks noChangeAspect="1"/>
          </p:cNvPicPr>
          <p:nvPr/>
        </p:nvPicPr>
        <p:blipFill>
          <a:blip r:embed="rId3"/>
          <a:stretch>
            <a:fillRect/>
          </a:stretch>
        </p:blipFill>
        <p:spPr>
          <a:xfrm>
            <a:off x="5961459" y="2736866"/>
            <a:ext cx="150019" cy="171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BERT ARCHITECTURE: THE ENGINE</a:t>
            </a:r>
            <a:endParaRPr lang="en-US" sz="2450" dirty="0"/>
          </a:p>
        </p:txBody>
      </p:sp>
      <p:pic>
        <p:nvPicPr>
          <p:cNvPr id="5" name="Image 1" descr="preencoded.png">    </p:cNvPr>
          <p:cNvPicPr>
            <a:picLocks noChangeAspect="1"/>
          </p:cNvPicPr>
          <p:nvPr/>
        </p:nvPicPr>
        <p:blipFill>
          <a:blip r:embed="rId2"/>
          <a:stretch>
            <a:fillRect/>
          </a:stretch>
        </p:blipFill>
        <p:spPr>
          <a:xfrm>
            <a:off x="571500" y="1588340"/>
            <a:ext cx="342900" cy="342900"/>
          </a:xfrm>
          <a:prstGeom prst="rect">
            <a:avLst/>
          </a:prstGeom>
        </p:spPr>
      </p:pic>
      <p:sp>
        <p:nvSpPr>
          <p:cNvPr id="6" name="Text 1"/>
          <p:cNvSpPr/>
          <p:nvPr/>
        </p:nvSpPr>
        <p:spPr>
          <a:xfrm>
            <a:off x="571500" y="2141981"/>
            <a:ext cx="2476481"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TRANSFORMER ENCODER</a:t>
            </a:r>
            <a:endParaRPr lang="en-US" sz="1200" dirty="0"/>
          </a:p>
        </p:txBody>
      </p:sp>
      <p:sp>
        <p:nvSpPr>
          <p:cNvPr id="7" name="Text 2"/>
          <p:cNvSpPr/>
          <p:nvPr/>
        </p:nvSpPr>
        <p:spPr>
          <a:xfrm>
            <a:off x="571500" y="2463450"/>
            <a:ext cx="2476481"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586069"/>
                </a:solidFill>
                <a:latin typeface="Inter Light" pitchFamily="34" charset="0"/>
                <a:ea typeface="Inter Light" pitchFamily="34" charset="-122"/>
                <a:cs typeface="Inter Light" pitchFamily="34" charset="-120"/>
              </a:rPr>
              <a:t>The core building block that processes input data in parallel, allowing for faster training and deeper understanding of complex patterns.</a:t>
            </a:r>
            <a:endParaRPr lang="en-US" sz="950" dirty="0"/>
          </a:p>
        </p:txBody>
      </p:sp>
      <p:sp>
        <p:nvSpPr>
          <p:cNvPr id="8" name="Text 3"/>
          <p:cNvSpPr/>
          <p:nvPr/>
        </p:nvSpPr>
        <p:spPr>
          <a:xfrm>
            <a:off x="571500" y="3586358"/>
            <a:ext cx="2476481" cy="137517"/>
          </a:xfrm>
          <a:prstGeom prst="rect">
            <a:avLst/>
          </a:prstGeom>
          <a:noFill/>
          <a:ln/>
        </p:spPr>
        <p:txBody>
          <a:bodyPr wrap="square" lIns="0" tIns="0" rIns="0" bIns="0" rtlCol="0" anchor="t">
            <a:spAutoFit/>
          </a:bodyPr>
          <a:lstStyle/>
          <a:p>
            <a:pPr algn="l" indent="0" marL="0">
              <a:buNone/>
            </a:pPr>
            <a:r>
              <a:rPr lang="en-US" sz="800" b="1" dirty="0">
                <a:solidFill>
                  <a:srgbClr val="2EA043"/>
                </a:solidFill>
                <a:latin typeface="Inter ExtraBold" pitchFamily="34" charset="0"/>
                <a:ea typeface="Inter ExtraBold" pitchFamily="34" charset="-122"/>
                <a:cs typeface="Inter ExtraBold" pitchFamily="34" charset="-120"/>
              </a:rPr>
              <a:t>PARALLEL PROCESSING</a:t>
            </a:r>
            <a:endParaRPr lang="en-US" sz="800" dirty="0"/>
          </a:p>
        </p:txBody>
      </p:sp>
      <p:pic>
        <p:nvPicPr>
          <p:cNvPr id="9" name="Image 2" descr="preencoded.png">    </p:cNvPr>
          <p:cNvPicPr>
            <a:picLocks noChangeAspect="1"/>
          </p:cNvPicPr>
          <p:nvPr/>
        </p:nvPicPr>
        <p:blipFill>
          <a:blip r:embed="rId3"/>
          <a:stretch>
            <a:fillRect/>
          </a:stretch>
        </p:blipFill>
        <p:spPr>
          <a:xfrm>
            <a:off x="3333731" y="1588340"/>
            <a:ext cx="342900" cy="342900"/>
          </a:xfrm>
          <a:prstGeom prst="rect">
            <a:avLst/>
          </a:prstGeom>
        </p:spPr>
      </p:pic>
      <p:sp>
        <p:nvSpPr>
          <p:cNvPr id="10" name="Text 4"/>
          <p:cNvSpPr/>
          <p:nvPr/>
        </p:nvSpPr>
        <p:spPr>
          <a:xfrm>
            <a:off x="3333731" y="2141981"/>
            <a:ext cx="2476509"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SELF-ATTENTION</a:t>
            </a:r>
            <a:endParaRPr lang="en-US" sz="1200" dirty="0"/>
          </a:p>
        </p:txBody>
      </p:sp>
      <p:sp>
        <p:nvSpPr>
          <p:cNvPr id="11" name="Text 5"/>
          <p:cNvSpPr/>
          <p:nvPr/>
        </p:nvSpPr>
        <p:spPr>
          <a:xfrm>
            <a:off x="3333731" y="2463450"/>
            <a:ext cx="2476509"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586069"/>
                </a:solidFill>
                <a:latin typeface="Inter Light" pitchFamily="34" charset="0"/>
                <a:ea typeface="Inter Light" pitchFamily="34" charset="-122"/>
                <a:cs typeface="Inter Light" pitchFamily="34" charset="-120"/>
              </a:rPr>
              <a:t>A mechanism that allows the model to weigh the importance of different words in a sentence when processing a specific token.</a:t>
            </a:r>
            <a:endParaRPr lang="en-US" sz="950" dirty="0"/>
          </a:p>
        </p:txBody>
      </p:sp>
      <p:sp>
        <p:nvSpPr>
          <p:cNvPr id="12" name="Text 6"/>
          <p:cNvSpPr/>
          <p:nvPr/>
        </p:nvSpPr>
        <p:spPr>
          <a:xfrm>
            <a:off x="3333731" y="3586358"/>
            <a:ext cx="2476509" cy="137517"/>
          </a:xfrm>
          <a:prstGeom prst="rect">
            <a:avLst/>
          </a:prstGeom>
          <a:noFill/>
          <a:ln/>
        </p:spPr>
        <p:txBody>
          <a:bodyPr wrap="square" lIns="0" tIns="0" rIns="0" bIns="0" rtlCol="0" anchor="t">
            <a:spAutoFit/>
          </a:bodyPr>
          <a:lstStyle/>
          <a:p>
            <a:pPr algn="l" indent="0" marL="0">
              <a:buNone/>
            </a:pPr>
            <a:r>
              <a:rPr lang="en-US" sz="800" b="1" dirty="0">
                <a:solidFill>
                  <a:srgbClr val="2EA043"/>
                </a:solidFill>
                <a:latin typeface="Inter ExtraBold" pitchFamily="34" charset="0"/>
                <a:ea typeface="Inter ExtraBold" pitchFamily="34" charset="-122"/>
                <a:cs typeface="Inter ExtraBold" pitchFamily="34" charset="-120"/>
              </a:rPr>
              <a:t>CONTEXTUAL WEIGHTING</a:t>
            </a:r>
            <a:endParaRPr lang="en-US" sz="800" dirty="0"/>
          </a:p>
        </p:txBody>
      </p:sp>
      <p:pic>
        <p:nvPicPr>
          <p:cNvPr id="13" name="Image 3" descr="preencoded.png">    </p:cNvPr>
          <p:cNvPicPr>
            <a:picLocks noChangeAspect="1"/>
          </p:cNvPicPr>
          <p:nvPr/>
        </p:nvPicPr>
        <p:blipFill>
          <a:blip r:embed="rId4"/>
          <a:stretch>
            <a:fillRect/>
          </a:stretch>
        </p:blipFill>
        <p:spPr>
          <a:xfrm>
            <a:off x="6095991" y="1588340"/>
            <a:ext cx="342900" cy="342900"/>
          </a:xfrm>
          <a:prstGeom prst="rect">
            <a:avLst/>
          </a:prstGeom>
        </p:spPr>
      </p:pic>
      <p:sp>
        <p:nvSpPr>
          <p:cNvPr id="14" name="Text 7"/>
          <p:cNvSpPr/>
          <p:nvPr/>
        </p:nvSpPr>
        <p:spPr>
          <a:xfrm>
            <a:off x="6095991" y="2141981"/>
            <a:ext cx="2476481"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INPUT EMBEDDINGS</a:t>
            </a:r>
            <a:endParaRPr lang="en-US" sz="1200" dirty="0"/>
          </a:p>
        </p:txBody>
      </p:sp>
      <p:sp>
        <p:nvSpPr>
          <p:cNvPr id="15" name="Text 8"/>
          <p:cNvSpPr/>
          <p:nvPr/>
        </p:nvSpPr>
        <p:spPr>
          <a:xfrm>
            <a:off x="6095991" y="2463450"/>
            <a:ext cx="2476481"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586069"/>
                </a:solidFill>
                <a:latin typeface="Inter Light" pitchFamily="34" charset="0"/>
                <a:ea typeface="Inter Light" pitchFamily="34" charset="-122"/>
                <a:cs typeface="Inter Light" pitchFamily="34" charset="-120"/>
              </a:rPr>
              <a:t>Combines Token, Position, and Segment embeddings to provide a rich numerical representation of the text and its structure.</a:t>
            </a:r>
            <a:endParaRPr lang="en-US" sz="950" dirty="0"/>
          </a:p>
        </p:txBody>
      </p:sp>
      <p:sp>
        <p:nvSpPr>
          <p:cNvPr id="16" name="Text 9"/>
          <p:cNvSpPr/>
          <p:nvPr/>
        </p:nvSpPr>
        <p:spPr>
          <a:xfrm>
            <a:off x="6095991" y="3586358"/>
            <a:ext cx="2476481" cy="137517"/>
          </a:xfrm>
          <a:prstGeom prst="rect">
            <a:avLst/>
          </a:prstGeom>
          <a:noFill/>
          <a:ln/>
        </p:spPr>
        <p:txBody>
          <a:bodyPr wrap="square" lIns="0" tIns="0" rIns="0" bIns="0" rtlCol="0" anchor="t">
            <a:spAutoFit/>
          </a:bodyPr>
          <a:lstStyle/>
          <a:p>
            <a:pPr algn="l" indent="0" marL="0">
              <a:buNone/>
            </a:pPr>
            <a:r>
              <a:rPr lang="en-US" sz="800" b="1" dirty="0">
                <a:solidFill>
                  <a:srgbClr val="2EA043"/>
                </a:solidFill>
                <a:latin typeface="Inter ExtraBold" pitchFamily="34" charset="0"/>
                <a:ea typeface="Inter ExtraBold" pitchFamily="34" charset="-122"/>
                <a:cs typeface="Inter ExtraBold" pitchFamily="34" charset="-120"/>
              </a:rPr>
              <a:t>MULTI-DIMENSIONAL DATA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INPUT REPRESENTATION</a:t>
            </a:r>
            <a:endParaRPr lang="en-US" sz="2450" dirty="0"/>
          </a:p>
        </p:txBody>
      </p:sp>
      <p:sp>
        <p:nvSpPr>
          <p:cNvPr id="5" name="Text 1"/>
          <p:cNvSpPr/>
          <p:nvPr/>
        </p:nvSpPr>
        <p:spPr>
          <a:xfrm>
            <a:off x="571500" y="1413318"/>
            <a:ext cx="38290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WORDPIECE TOKENIZATION</a:t>
            </a:r>
            <a:endParaRPr lang="en-US" sz="1200" dirty="0"/>
          </a:p>
        </p:txBody>
      </p:sp>
      <p:sp>
        <p:nvSpPr>
          <p:cNvPr id="6" name="Text 2"/>
          <p:cNvSpPr/>
          <p:nvPr/>
        </p:nvSpPr>
        <p:spPr>
          <a:xfrm>
            <a:off x="571500" y="1734787"/>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Sub-word Units</a:t>
            </a:r>
            <a:endParaRPr lang="en-US" sz="1000" dirty="0"/>
          </a:p>
        </p:txBody>
      </p:sp>
      <p:sp>
        <p:nvSpPr>
          <p:cNvPr id="7" name="Text 3"/>
          <p:cNvSpPr/>
          <p:nvPr/>
        </p:nvSpPr>
        <p:spPr>
          <a:xfrm>
            <a:off x="571500" y="1965173"/>
            <a:ext cx="382905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BERT breaks down complex or rare words into smaller meaningful pieces (e.g., "playing" → "play", "##ing").</a:t>
            </a:r>
            <a:endParaRPr lang="en-US" sz="950" dirty="0"/>
          </a:p>
        </p:txBody>
      </p:sp>
      <p:sp>
        <p:nvSpPr>
          <p:cNvPr id="8" name="Text 4"/>
          <p:cNvSpPr/>
          <p:nvPr/>
        </p:nvSpPr>
        <p:spPr>
          <a:xfrm>
            <a:off x="571500" y="2522386"/>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Vocabulary Efficiency</a:t>
            </a:r>
            <a:endParaRPr lang="en-US" sz="1000" dirty="0"/>
          </a:p>
        </p:txBody>
      </p:sp>
      <p:sp>
        <p:nvSpPr>
          <p:cNvPr id="9" name="Text 5"/>
          <p:cNvSpPr/>
          <p:nvPr/>
        </p:nvSpPr>
        <p:spPr>
          <a:xfrm>
            <a:off x="571500" y="2752772"/>
            <a:ext cx="382905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This reduces the vocabulary size while effectively handling out-of-vocabulary words.</a:t>
            </a:r>
            <a:endParaRPr lang="en-US" sz="950" dirty="0"/>
          </a:p>
        </p:txBody>
      </p:sp>
      <p:sp>
        <p:nvSpPr>
          <p:cNvPr id="10" name="Text 6"/>
          <p:cNvSpPr/>
          <p:nvPr/>
        </p:nvSpPr>
        <p:spPr>
          <a:xfrm>
            <a:off x="4743450" y="1413318"/>
            <a:ext cx="38290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SPECIAL TOKENS</a:t>
            </a:r>
            <a:endParaRPr lang="en-US" sz="1200" dirty="0"/>
          </a:p>
        </p:txBody>
      </p:sp>
      <p:sp>
        <p:nvSpPr>
          <p:cNvPr id="11" name="Text 7"/>
          <p:cNvSpPr/>
          <p:nvPr/>
        </p:nvSpPr>
        <p:spPr>
          <a:xfrm>
            <a:off x="4743450" y="1734787"/>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[CLS] Token</a:t>
            </a:r>
            <a:endParaRPr lang="en-US" sz="1000" dirty="0"/>
          </a:p>
        </p:txBody>
      </p:sp>
      <p:sp>
        <p:nvSpPr>
          <p:cNvPr id="12" name="Text 8"/>
          <p:cNvSpPr/>
          <p:nvPr/>
        </p:nvSpPr>
        <p:spPr>
          <a:xfrm>
            <a:off x="4743450" y="1965173"/>
            <a:ext cx="382905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Added at the start of every sequence. Its final hidden state is used for classification tasks.</a:t>
            </a:r>
            <a:endParaRPr lang="en-US" sz="950" dirty="0"/>
          </a:p>
        </p:txBody>
      </p:sp>
      <p:sp>
        <p:nvSpPr>
          <p:cNvPr id="13" name="Text 9"/>
          <p:cNvSpPr/>
          <p:nvPr/>
        </p:nvSpPr>
        <p:spPr>
          <a:xfrm>
            <a:off x="4743450" y="2522386"/>
            <a:ext cx="3829050"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[SEP] Token</a:t>
            </a:r>
            <a:endParaRPr lang="en-US" sz="1000" dirty="0"/>
          </a:p>
        </p:txBody>
      </p:sp>
      <p:sp>
        <p:nvSpPr>
          <p:cNvPr id="14" name="Text 10"/>
          <p:cNvSpPr/>
          <p:nvPr/>
        </p:nvSpPr>
        <p:spPr>
          <a:xfrm>
            <a:off x="4743450" y="2752772"/>
            <a:ext cx="3829050"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Used to separate two sentences or mark the end of a single sequence.</a:t>
            </a:r>
            <a:endParaRPr lang="en-US" sz="950" dirty="0"/>
          </a:p>
        </p:txBody>
      </p:sp>
      <p:sp>
        <p:nvSpPr>
          <p:cNvPr id="15" name="Shape 11"/>
          <p:cNvSpPr/>
          <p:nvPr/>
        </p:nvSpPr>
        <p:spPr>
          <a:xfrm>
            <a:off x="2490490" y="3595734"/>
            <a:ext cx="525066" cy="237530"/>
          </a:xfrm>
          <a:prstGeom prst="rect">
            <a:avLst/>
          </a:prstGeom>
          <a:solidFill>
            <a:srgbClr val="2EA043"/>
          </a:solidFill>
          <a:ln/>
        </p:spPr>
      </p:sp>
      <p:sp>
        <p:nvSpPr>
          <p:cNvPr id="16" name="Shape 12"/>
          <p:cNvSpPr/>
          <p:nvPr/>
        </p:nvSpPr>
        <p:spPr>
          <a:xfrm>
            <a:off x="2490490" y="3804689"/>
            <a:ext cx="525066" cy="28575"/>
          </a:xfrm>
          <a:prstGeom prst="rect">
            <a:avLst/>
          </a:prstGeom>
          <a:solidFill>
            <a:srgbClr val="24292E"/>
          </a:solidFill>
          <a:ln/>
        </p:spPr>
      </p:sp>
      <p:sp>
        <p:nvSpPr>
          <p:cNvPr id="17" name="Text 13"/>
          <p:cNvSpPr/>
          <p:nvPr/>
        </p:nvSpPr>
        <p:spPr>
          <a:xfrm>
            <a:off x="2490490" y="3595734"/>
            <a:ext cx="525066" cy="237530"/>
          </a:xfrm>
          <a:prstGeom prst="rect">
            <a:avLst/>
          </a:prstGeom>
          <a:noFill/>
          <a:ln/>
        </p:spPr>
        <p:txBody>
          <a:bodyPr wrap="none" lIns="127508" tIns="85090" rIns="127508" bIns="0" rtlCol="0" anchor="t">
            <a:spAutoFit/>
          </a:bodyPr>
          <a:lstStyle/>
          <a:p>
            <a:pPr algn="l" indent="0" marL="0">
              <a:buNone/>
            </a:pPr>
            <a:r>
              <a:rPr lang="en-US" sz="800" b="1" dirty="0">
                <a:solidFill>
                  <a:srgbClr val="FFFFFF"/>
                </a:solidFill>
                <a:latin typeface="Inter ExtraBold" pitchFamily="34" charset="0"/>
                <a:ea typeface="Inter ExtraBold" pitchFamily="34" charset="-122"/>
                <a:cs typeface="Inter ExtraBold" pitchFamily="34" charset="-120"/>
              </a:rPr>
              <a:t>[CLS]</a:t>
            </a:r>
            <a:endParaRPr lang="en-US" sz="800" dirty="0"/>
          </a:p>
        </p:txBody>
      </p:sp>
      <p:sp>
        <p:nvSpPr>
          <p:cNvPr id="18" name="Shape 14"/>
          <p:cNvSpPr/>
          <p:nvPr/>
        </p:nvSpPr>
        <p:spPr>
          <a:xfrm>
            <a:off x="3101280" y="3595734"/>
            <a:ext cx="607219" cy="237530"/>
          </a:xfrm>
          <a:prstGeom prst="rect">
            <a:avLst/>
          </a:prstGeom>
          <a:solidFill>
            <a:srgbClr val="FFFFFF"/>
          </a:solidFill>
          <a:ln/>
        </p:spPr>
      </p:sp>
      <p:sp>
        <p:nvSpPr>
          <p:cNvPr id="19" name="Shape 15"/>
          <p:cNvSpPr/>
          <p:nvPr/>
        </p:nvSpPr>
        <p:spPr>
          <a:xfrm>
            <a:off x="3101280" y="3804689"/>
            <a:ext cx="607219" cy="28575"/>
          </a:xfrm>
          <a:prstGeom prst="rect">
            <a:avLst/>
          </a:prstGeom>
          <a:solidFill>
            <a:srgbClr val="586069"/>
          </a:solidFill>
          <a:ln/>
        </p:spPr>
      </p:sp>
      <p:sp>
        <p:nvSpPr>
          <p:cNvPr id="20" name="Text 16"/>
          <p:cNvSpPr/>
          <p:nvPr/>
        </p:nvSpPr>
        <p:spPr>
          <a:xfrm>
            <a:off x="3101280" y="3595734"/>
            <a:ext cx="607219" cy="237530"/>
          </a:xfrm>
          <a:prstGeom prst="rect">
            <a:avLst/>
          </a:prstGeom>
          <a:noFill/>
          <a:ln/>
        </p:spPr>
        <p:txBody>
          <a:bodyPr wrap="none" lIns="127508" tIns="85090" rIns="127508"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GitHub</a:t>
            </a:r>
            <a:endParaRPr lang="en-US" sz="800" dirty="0"/>
          </a:p>
        </p:txBody>
      </p:sp>
      <p:sp>
        <p:nvSpPr>
          <p:cNvPr id="21" name="Shape 17"/>
          <p:cNvSpPr/>
          <p:nvPr/>
        </p:nvSpPr>
        <p:spPr>
          <a:xfrm>
            <a:off x="3794224" y="3595734"/>
            <a:ext cx="537567" cy="237530"/>
          </a:xfrm>
          <a:prstGeom prst="rect">
            <a:avLst/>
          </a:prstGeom>
          <a:solidFill>
            <a:srgbClr val="FFFFFF"/>
          </a:solidFill>
          <a:ln/>
        </p:spPr>
      </p:sp>
      <p:sp>
        <p:nvSpPr>
          <p:cNvPr id="22" name="Shape 18"/>
          <p:cNvSpPr/>
          <p:nvPr/>
        </p:nvSpPr>
        <p:spPr>
          <a:xfrm>
            <a:off x="3794224" y="3804689"/>
            <a:ext cx="537567" cy="28575"/>
          </a:xfrm>
          <a:prstGeom prst="rect">
            <a:avLst/>
          </a:prstGeom>
          <a:solidFill>
            <a:srgbClr val="586069"/>
          </a:solidFill>
          <a:ln/>
        </p:spPr>
      </p:sp>
      <p:sp>
        <p:nvSpPr>
          <p:cNvPr id="23" name="Text 19"/>
          <p:cNvSpPr/>
          <p:nvPr/>
        </p:nvSpPr>
        <p:spPr>
          <a:xfrm>
            <a:off x="3794224" y="3595734"/>
            <a:ext cx="537567" cy="237530"/>
          </a:xfrm>
          <a:prstGeom prst="rect">
            <a:avLst/>
          </a:prstGeom>
          <a:noFill/>
          <a:ln/>
        </p:spPr>
        <p:txBody>
          <a:bodyPr wrap="none" lIns="127508" tIns="85090" rIns="127508"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repos</a:t>
            </a:r>
            <a:endParaRPr lang="en-US" sz="800" dirty="0"/>
          </a:p>
        </p:txBody>
      </p:sp>
      <p:sp>
        <p:nvSpPr>
          <p:cNvPr id="24" name="Shape 20"/>
          <p:cNvSpPr/>
          <p:nvPr/>
        </p:nvSpPr>
        <p:spPr>
          <a:xfrm>
            <a:off x="4417516" y="3595734"/>
            <a:ext cx="394692" cy="237530"/>
          </a:xfrm>
          <a:prstGeom prst="rect">
            <a:avLst/>
          </a:prstGeom>
          <a:solidFill>
            <a:srgbClr val="FFFFFF"/>
          </a:solidFill>
          <a:ln/>
        </p:spPr>
      </p:sp>
      <p:sp>
        <p:nvSpPr>
          <p:cNvPr id="25" name="Shape 21"/>
          <p:cNvSpPr/>
          <p:nvPr/>
        </p:nvSpPr>
        <p:spPr>
          <a:xfrm>
            <a:off x="4417516" y="3804689"/>
            <a:ext cx="394692" cy="28575"/>
          </a:xfrm>
          <a:prstGeom prst="rect">
            <a:avLst/>
          </a:prstGeom>
          <a:solidFill>
            <a:srgbClr val="586069"/>
          </a:solidFill>
          <a:ln/>
        </p:spPr>
      </p:sp>
      <p:sp>
        <p:nvSpPr>
          <p:cNvPr id="26" name="Text 22"/>
          <p:cNvSpPr/>
          <p:nvPr/>
        </p:nvSpPr>
        <p:spPr>
          <a:xfrm>
            <a:off x="4417516" y="3595734"/>
            <a:ext cx="394692" cy="237530"/>
          </a:xfrm>
          <a:prstGeom prst="rect">
            <a:avLst/>
          </a:prstGeom>
          <a:noFill/>
          <a:ln/>
        </p:spPr>
        <p:txBody>
          <a:bodyPr wrap="none" lIns="127508" tIns="85090" rIns="127508"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are</a:t>
            </a:r>
            <a:endParaRPr lang="en-US" sz="800" dirty="0"/>
          </a:p>
        </p:txBody>
      </p:sp>
      <p:sp>
        <p:nvSpPr>
          <p:cNvPr id="27" name="Shape 23"/>
          <p:cNvSpPr/>
          <p:nvPr/>
        </p:nvSpPr>
        <p:spPr>
          <a:xfrm>
            <a:off x="4897934" y="3595734"/>
            <a:ext cx="521494" cy="237530"/>
          </a:xfrm>
          <a:prstGeom prst="rect">
            <a:avLst/>
          </a:prstGeom>
          <a:solidFill>
            <a:srgbClr val="FFFFFF"/>
          </a:solidFill>
          <a:ln/>
        </p:spPr>
      </p:sp>
      <p:sp>
        <p:nvSpPr>
          <p:cNvPr id="28" name="Shape 24"/>
          <p:cNvSpPr/>
          <p:nvPr/>
        </p:nvSpPr>
        <p:spPr>
          <a:xfrm>
            <a:off x="4897934" y="3804689"/>
            <a:ext cx="521494" cy="28575"/>
          </a:xfrm>
          <a:prstGeom prst="rect">
            <a:avLst/>
          </a:prstGeom>
          <a:solidFill>
            <a:srgbClr val="586069"/>
          </a:solidFill>
          <a:ln/>
        </p:spPr>
      </p:sp>
      <p:sp>
        <p:nvSpPr>
          <p:cNvPr id="29" name="Text 25"/>
          <p:cNvSpPr/>
          <p:nvPr/>
        </p:nvSpPr>
        <p:spPr>
          <a:xfrm>
            <a:off x="4897934" y="3595734"/>
            <a:ext cx="521494" cy="237530"/>
          </a:xfrm>
          <a:prstGeom prst="rect">
            <a:avLst/>
          </a:prstGeom>
          <a:noFill/>
          <a:ln/>
        </p:spPr>
        <p:txBody>
          <a:bodyPr wrap="none" lIns="127508" tIns="85090" rIns="127508"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amaz</a:t>
            </a:r>
            <a:endParaRPr lang="en-US" sz="800" dirty="0"/>
          </a:p>
        </p:txBody>
      </p:sp>
      <p:sp>
        <p:nvSpPr>
          <p:cNvPr id="30" name="Shape 26"/>
          <p:cNvSpPr/>
          <p:nvPr/>
        </p:nvSpPr>
        <p:spPr>
          <a:xfrm>
            <a:off x="5505152" y="3595734"/>
            <a:ext cx="542925" cy="237530"/>
          </a:xfrm>
          <a:prstGeom prst="rect">
            <a:avLst/>
          </a:prstGeom>
          <a:solidFill>
            <a:srgbClr val="FFFFFF"/>
          </a:solidFill>
          <a:ln/>
        </p:spPr>
      </p:sp>
      <p:sp>
        <p:nvSpPr>
          <p:cNvPr id="31" name="Shape 27"/>
          <p:cNvSpPr/>
          <p:nvPr/>
        </p:nvSpPr>
        <p:spPr>
          <a:xfrm>
            <a:off x="5505152" y="3804689"/>
            <a:ext cx="542925" cy="28575"/>
          </a:xfrm>
          <a:prstGeom prst="rect">
            <a:avLst/>
          </a:prstGeom>
          <a:solidFill>
            <a:srgbClr val="586069"/>
          </a:solidFill>
          <a:ln/>
        </p:spPr>
      </p:sp>
      <p:sp>
        <p:nvSpPr>
          <p:cNvPr id="32" name="Text 28"/>
          <p:cNvSpPr/>
          <p:nvPr/>
        </p:nvSpPr>
        <p:spPr>
          <a:xfrm>
            <a:off x="5505152" y="3595734"/>
            <a:ext cx="542925" cy="237530"/>
          </a:xfrm>
          <a:prstGeom prst="rect">
            <a:avLst/>
          </a:prstGeom>
          <a:noFill/>
          <a:ln/>
        </p:spPr>
        <p:txBody>
          <a:bodyPr wrap="none" lIns="127508" tIns="85090" rIns="127508" bIns="0" rtlCol="0" anchor="t">
            <a:spAutoFit/>
          </a:bodyPr>
          <a:lstStyle/>
          <a:p>
            <a:pPr algn="l" indent="0" marL="0">
              <a:buNone/>
            </a:pPr>
            <a:r>
              <a:rPr lang="en-US" sz="800" b="1" i="1" dirty="0">
                <a:solidFill>
                  <a:srgbClr val="2EA043"/>
                </a:solidFill>
                <a:latin typeface="Inter ExtraBold" pitchFamily="34" charset="0"/>
                <a:ea typeface="Inter ExtraBold" pitchFamily="34" charset="-122"/>
                <a:cs typeface="Inter ExtraBold" pitchFamily="34" charset="-120"/>
              </a:rPr>
              <a:t>##ing</a:t>
            </a:r>
            <a:endParaRPr lang="en-US" sz="800" dirty="0"/>
          </a:p>
        </p:txBody>
      </p:sp>
      <p:sp>
        <p:nvSpPr>
          <p:cNvPr id="33" name="Shape 29"/>
          <p:cNvSpPr/>
          <p:nvPr/>
        </p:nvSpPr>
        <p:spPr>
          <a:xfrm>
            <a:off x="6133802" y="3595734"/>
            <a:ext cx="519708" cy="237530"/>
          </a:xfrm>
          <a:prstGeom prst="rect">
            <a:avLst/>
          </a:prstGeom>
          <a:solidFill>
            <a:srgbClr val="2EA043"/>
          </a:solidFill>
          <a:ln/>
        </p:spPr>
      </p:sp>
      <p:sp>
        <p:nvSpPr>
          <p:cNvPr id="34" name="Shape 30"/>
          <p:cNvSpPr/>
          <p:nvPr/>
        </p:nvSpPr>
        <p:spPr>
          <a:xfrm>
            <a:off x="6133802" y="3804689"/>
            <a:ext cx="519708" cy="28575"/>
          </a:xfrm>
          <a:prstGeom prst="rect">
            <a:avLst/>
          </a:prstGeom>
          <a:solidFill>
            <a:srgbClr val="24292E"/>
          </a:solidFill>
          <a:ln/>
        </p:spPr>
      </p:sp>
      <p:sp>
        <p:nvSpPr>
          <p:cNvPr id="35" name="Text 31"/>
          <p:cNvSpPr/>
          <p:nvPr/>
        </p:nvSpPr>
        <p:spPr>
          <a:xfrm>
            <a:off x="6133802" y="3595734"/>
            <a:ext cx="519708" cy="237530"/>
          </a:xfrm>
          <a:prstGeom prst="rect">
            <a:avLst/>
          </a:prstGeom>
          <a:noFill/>
          <a:ln/>
        </p:spPr>
        <p:txBody>
          <a:bodyPr wrap="none" lIns="127508" tIns="85090" rIns="127508" bIns="0" rtlCol="0" anchor="t">
            <a:spAutoFit/>
          </a:bodyPr>
          <a:lstStyle/>
          <a:p>
            <a:pPr algn="l" indent="0" marL="0">
              <a:buNone/>
            </a:pPr>
            <a:r>
              <a:rPr lang="en-US" sz="800" b="1" dirty="0">
                <a:solidFill>
                  <a:srgbClr val="FFFFFF"/>
                </a:solidFill>
                <a:latin typeface="Inter ExtraBold" pitchFamily="34" charset="0"/>
                <a:ea typeface="Inter ExtraBold" pitchFamily="34" charset="-122"/>
                <a:cs typeface="Inter ExtraBold" pitchFamily="34" charset="-120"/>
              </a:rPr>
              <a:t>[SEP]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HOW BERT PERFORMS CLASSIFICATION</a:t>
            </a:r>
            <a:endParaRPr lang="en-US" sz="2450" dirty="0"/>
          </a:p>
        </p:txBody>
      </p:sp>
      <p:pic>
        <p:nvPicPr>
          <p:cNvPr id="5" name="Image 1" descr="preencoded.png">    </p:cNvPr>
          <p:cNvPicPr>
            <a:picLocks noChangeAspect="1"/>
          </p:cNvPicPr>
          <p:nvPr/>
        </p:nvPicPr>
        <p:blipFill>
          <a:blip r:embed="rId2"/>
          <a:stretch>
            <a:fillRect/>
          </a:stretch>
        </p:blipFill>
        <p:spPr>
          <a:xfrm>
            <a:off x="571500" y="1725857"/>
            <a:ext cx="285750" cy="285750"/>
          </a:xfrm>
          <a:prstGeom prst="rect">
            <a:avLst/>
          </a:prstGeom>
        </p:spPr>
      </p:pic>
      <p:sp>
        <p:nvSpPr>
          <p:cNvPr id="6" name="Text 1"/>
          <p:cNvSpPr/>
          <p:nvPr/>
        </p:nvSpPr>
        <p:spPr>
          <a:xfrm>
            <a:off x="571500" y="2188415"/>
            <a:ext cx="1966317"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CLASSIFICATION HEAD</a:t>
            </a:r>
            <a:endParaRPr lang="en-US" sz="1200" dirty="0"/>
          </a:p>
        </p:txBody>
      </p:sp>
      <p:sp>
        <p:nvSpPr>
          <p:cNvPr id="7" name="Text 2"/>
          <p:cNvSpPr/>
          <p:nvPr/>
        </p:nvSpPr>
        <p:spPr>
          <a:xfrm>
            <a:off x="571500" y="2509884"/>
            <a:ext cx="2666991" cy="578644"/>
          </a:xfrm>
          <a:prstGeom prst="rect">
            <a:avLst/>
          </a:prstGeom>
          <a:noFill/>
          <a:ln/>
        </p:spPr>
        <p:txBody>
          <a:bodyPr wrap="square" lIns="0" tIns="0" rIns="340233"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We extract the output of the [CLS] token, which acts as a summary of the entire input sequence.</a:t>
            </a:r>
            <a:endParaRPr lang="en-US" sz="950" dirty="0"/>
          </a:p>
        </p:txBody>
      </p:sp>
      <p:pic>
        <p:nvPicPr>
          <p:cNvPr id="8" name="Image 2" descr="preencoded.png">    </p:cNvPr>
          <p:cNvPicPr>
            <a:picLocks noChangeAspect="1"/>
          </p:cNvPicPr>
          <p:nvPr/>
        </p:nvPicPr>
        <p:blipFill>
          <a:blip r:embed="rId3"/>
          <a:stretch>
            <a:fillRect/>
          </a:stretch>
        </p:blipFill>
        <p:spPr>
          <a:xfrm>
            <a:off x="2945569" y="1984818"/>
            <a:ext cx="150019" cy="171450"/>
          </a:xfrm>
          <a:prstGeom prst="rect">
            <a:avLst/>
          </a:prstGeom>
        </p:spPr>
      </p:pic>
      <p:pic>
        <p:nvPicPr>
          <p:cNvPr id="9" name="Image 3" descr="preencoded.png">    </p:cNvPr>
          <p:cNvPicPr>
            <a:picLocks noChangeAspect="1"/>
          </p:cNvPicPr>
          <p:nvPr/>
        </p:nvPicPr>
        <p:blipFill>
          <a:blip r:embed="rId4"/>
          <a:stretch>
            <a:fillRect/>
          </a:stretch>
        </p:blipFill>
        <p:spPr>
          <a:xfrm>
            <a:off x="3238491" y="1725857"/>
            <a:ext cx="214313" cy="285750"/>
          </a:xfrm>
          <a:prstGeom prst="rect">
            <a:avLst/>
          </a:prstGeom>
        </p:spPr>
      </p:pic>
      <p:sp>
        <p:nvSpPr>
          <p:cNvPr id="10" name="Text 3"/>
          <p:cNvSpPr/>
          <p:nvPr/>
        </p:nvSpPr>
        <p:spPr>
          <a:xfrm>
            <a:off x="3238491" y="2188415"/>
            <a:ext cx="1485900"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SOFTMAX LAYER</a:t>
            </a:r>
            <a:endParaRPr lang="en-US" sz="1200" dirty="0"/>
          </a:p>
        </p:txBody>
      </p:sp>
      <p:sp>
        <p:nvSpPr>
          <p:cNvPr id="11" name="Text 4"/>
          <p:cNvSpPr/>
          <p:nvPr/>
        </p:nvSpPr>
        <p:spPr>
          <a:xfrm>
            <a:off x="3238491" y="2509884"/>
            <a:ext cx="2666991" cy="578644"/>
          </a:xfrm>
          <a:prstGeom prst="rect">
            <a:avLst/>
          </a:prstGeom>
          <a:noFill/>
          <a:ln/>
        </p:spPr>
        <p:txBody>
          <a:bodyPr wrap="square" lIns="0" tIns="0" rIns="340233"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A linear layer followed by Softmax converts raw scores into probabilities for each category.</a:t>
            </a:r>
            <a:endParaRPr lang="en-US" sz="950" dirty="0"/>
          </a:p>
        </p:txBody>
      </p:sp>
      <p:pic>
        <p:nvPicPr>
          <p:cNvPr id="12" name="Image 4" descr="preencoded.png">    </p:cNvPr>
          <p:cNvPicPr>
            <a:picLocks noChangeAspect="1"/>
          </p:cNvPicPr>
          <p:nvPr/>
        </p:nvPicPr>
        <p:blipFill>
          <a:blip r:embed="rId5"/>
          <a:stretch>
            <a:fillRect/>
          </a:stretch>
        </p:blipFill>
        <p:spPr>
          <a:xfrm>
            <a:off x="5612560" y="1984818"/>
            <a:ext cx="150019" cy="171450"/>
          </a:xfrm>
          <a:prstGeom prst="rect">
            <a:avLst/>
          </a:prstGeom>
        </p:spPr>
      </p:pic>
      <p:pic>
        <p:nvPicPr>
          <p:cNvPr id="13" name="Image 5" descr="preencoded.png">    </p:cNvPr>
          <p:cNvPicPr>
            <a:picLocks noChangeAspect="1"/>
          </p:cNvPicPr>
          <p:nvPr/>
        </p:nvPicPr>
        <p:blipFill>
          <a:blip r:embed="rId6"/>
          <a:stretch>
            <a:fillRect/>
          </a:stretch>
        </p:blipFill>
        <p:spPr>
          <a:xfrm>
            <a:off x="5905481" y="1725857"/>
            <a:ext cx="285750" cy="285750"/>
          </a:xfrm>
          <a:prstGeom prst="rect">
            <a:avLst/>
          </a:prstGeom>
        </p:spPr>
      </p:pic>
      <p:sp>
        <p:nvSpPr>
          <p:cNvPr id="14" name="Text 5"/>
          <p:cNvSpPr/>
          <p:nvPr/>
        </p:nvSpPr>
        <p:spPr>
          <a:xfrm>
            <a:off x="5905481" y="2188415"/>
            <a:ext cx="1059061" cy="207169"/>
          </a:xfrm>
          <a:prstGeom prst="rect">
            <a:avLst/>
          </a:prstGeom>
          <a:noFill/>
          <a:ln/>
        </p:spPr>
        <p:txBody>
          <a:bodyPr wrap="non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PREDICTION</a:t>
            </a:r>
            <a:endParaRPr lang="en-US" sz="1200" dirty="0"/>
          </a:p>
        </p:txBody>
      </p:sp>
      <p:sp>
        <p:nvSpPr>
          <p:cNvPr id="15" name="Text 6"/>
          <p:cNvSpPr/>
          <p:nvPr/>
        </p:nvSpPr>
        <p:spPr>
          <a:xfrm>
            <a:off x="5905481" y="2509884"/>
            <a:ext cx="2666991" cy="578644"/>
          </a:xfrm>
          <a:prstGeom prst="rect">
            <a:avLst/>
          </a:prstGeom>
          <a:noFill/>
          <a:ln/>
        </p:spPr>
        <p:txBody>
          <a:bodyPr wrap="square" lIns="0" tIns="0" rIns="340233"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The category with the highest probability is selected as the final classification label.</a:t>
            </a:r>
            <a:endParaRPr lang="en-US" sz="950" dirty="0"/>
          </a:p>
        </p:txBody>
      </p:sp>
      <p:sp>
        <p:nvSpPr>
          <p:cNvPr id="16" name="Shape 7"/>
          <p:cNvSpPr/>
          <p:nvPr/>
        </p:nvSpPr>
        <p:spPr>
          <a:xfrm>
            <a:off x="571500" y="3517153"/>
            <a:ext cx="8001000" cy="1071563"/>
          </a:xfrm>
          <a:prstGeom prst="rect">
            <a:avLst/>
          </a:prstGeom>
          <a:solidFill>
            <a:srgbClr val="24292E"/>
          </a:solidFill>
          <a:ln/>
        </p:spPr>
      </p:sp>
      <p:sp>
        <p:nvSpPr>
          <p:cNvPr id="17" name="Text 8"/>
          <p:cNvSpPr/>
          <p:nvPr/>
        </p:nvSpPr>
        <p:spPr>
          <a:xfrm>
            <a:off x="857250" y="3731465"/>
            <a:ext cx="7429500" cy="173236"/>
          </a:xfrm>
          <a:prstGeom prst="rect">
            <a:avLst/>
          </a:prstGeom>
          <a:noFill/>
          <a:ln/>
        </p:spPr>
        <p:txBody>
          <a:bodyPr wrap="square" lIns="0" tIns="0" rIns="0" bIns="0" rtlCol="0" anchor="t">
            <a:spAutoFit/>
          </a:bodyPr>
          <a:lstStyle/>
          <a:p>
            <a:pPr algn="l" indent="0" marL="0">
              <a:buNone/>
            </a:pPr>
            <a:r>
              <a:rPr lang="en-US" sz="1000" b="1" dirty="0">
                <a:solidFill>
                  <a:srgbClr val="2EA043"/>
                </a:solidFill>
                <a:latin typeface="Inter ExtraBold" pitchFamily="34" charset="0"/>
                <a:ea typeface="Inter ExtraBold" pitchFamily="34" charset="-122"/>
                <a:cs typeface="Inter ExtraBold" pitchFamily="34" charset="-120"/>
              </a:rPr>
              <a:t>THE FINE-TUNING PROCESS</a:t>
            </a:r>
            <a:endParaRPr lang="en-US" sz="1000" dirty="0"/>
          </a:p>
        </p:txBody>
      </p:sp>
      <p:sp>
        <p:nvSpPr>
          <p:cNvPr id="18" name="Text 9"/>
          <p:cNvSpPr/>
          <p:nvPr/>
        </p:nvSpPr>
        <p:spPr>
          <a:xfrm>
            <a:off x="857250" y="3976139"/>
            <a:ext cx="7429500" cy="310753"/>
          </a:xfrm>
          <a:prstGeom prst="rect">
            <a:avLst/>
          </a:prstGeom>
          <a:noFill/>
          <a:ln/>
        </p:spPr>
        <p:txBody>
          <a:bodyPr wrap="square" lIns="0" tIns="0" rIns="0" bIns="0" rtlCol="0" anchor="t">
            <a:spAutoFit/>
          </a:bodyPr>
          <a:lstStyle/>
          <a:p>
            <a:pPr algn="l" indent="0" marL="0">
              <a:buNone/>
            </a:pPr>
            <a:r>
              <a:rPr lang="en-US" sz="950" dirty="0">
                <a:solidFill>
                  <a:srgbClr val="E3E6E8"/>
                </a:solidFill>
                <a:latin typeface="Inter Light" pitchFamily="34" charset="0"/>
                <a:ea typeface="Inter Light" pitchFamily="34" charset="-122"/>
                <a:cs typeface="Inter Light" pitchFamily="34" charset="-120"/>
              </a:rPr>
              <a:t>Instead of training from scratch, we take a pre-trained BERT model and update its weights slightly using our specific GitHub dataset to specialize it for repository classification.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WHY DISTILBERT?</a:t>
            </a:r>
            <a:endParaRPr lang="en-US" sz="2450" dirty="0"/>
          </a:p>
        </p:txBody>
      </p:sp>
      <p:sp>
        <p:nvSpPr>
          <p:cNvPr id="5" name="Text 1"/>
          <p:cNvSpPr/>
          <p:nvPr/>
        </p:nvSpPr>
        <p:spPr>
          <a:xfrm>
            <a:off x="571500" y="1213293"/>
            <a:ext cx="3857625" cy="257175"/>
          </a:xfrm>
          <a:prstGeom prst="rect">
            <a:avLst/>
          </a:prstGeom>
          <a:noFill/>
          <a:ln/>
        </p:spPr>
        <p:txBody>
          <a:bodyPr wrap="none" lIns="0" tIns="0" rIns="0" bIns="0" rtlCol="0" anchor="t">
            <a:spAutoFit/>
          </a:bodyPr>
          <a:lstStyle/>
          <a:p>
            <a:pPr algn="l" indent="0" marL="0">
              <a:lnSpc>
                <a:spcPct val="120000"/>
              </a:lnSpc>
              <a:buNone/>
            </a:pPr>
            <a:r>
              <a:rPr lang="en-US" sz="1200" b="1" dirty="0">
                <a:solidFill>
                  <a:srgbClr val="2EA043"/>
                </a:solidFill>
                <a:latin typeface="Inter ExtraBold" pitchFamily="34" charset="0"/>
                <a:ea typeface="Inter ExtraBold" pitchFamily="34" charset="-122"/>
                <a:cs typeface="Inter ExtraBold" pitchFamily="34" charset="-120"/>
              </a:rPr>
              <a:t>EFFICIENCY VS. POWER</a:t>
            </a:r>
            <a:endParaRPr lang="en-US" sz="1200" dirty="0"/>
          </a:p>
        </p:txBody>
      </p:sp>
      <p:sp>
        <p:nvSpPr>
          <p:cNvPr id="6" name="Text 2"/>
          <p:cNvSpPr/>
          <p:nvPr/>
        </p:nvSpPr>
        <p:spPr>
          <a:xfrm>
            <a:off x="571500" y="1527618"/>
            <a:ext cx="3857625"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4292E"/>
                </a:solidFill>
                <a:latin typeface="Inter ExtraBold" pitchFamily="34" charset="0"/>
                <a:ea typeface="Inter ExtraBold" pitchFamily="34" charset="-122"/>
                <a:cs typeface="Inter ExtraBold" pitchFamily="34" charset="-120"/>
              </a:rPr>
              <a:t>Knowledge Distillation</a:t>
            </a:r>
            <a:endParaRPr lang="en-US" sz="1000" dirty="0"/>
          </a:p>
        </p:txBody>
      </p:sp>
      <p:sp>
        <p:nvSpPr>
          <p:cNvPr id="7" name="Text 3"/>
          <p:cNvSpPr/>
          <p:nvPr/>
        </p:nvSpPr>
        <p:spPr>
          <a:xfrm>
            <a:off x="571500" y="1756218"/>
            <a:ext cx="3857625" cy="285750"/>
          </a:xfrm>
          <a:prstGeom prst="rect">
            <a:avLst/>
          </a:prstGeom>
          <a:noFill/>
          <a:ln/>
        </p:spPr>
        <p:txBody>
          <a:bodyPr wrap="square" lIns="0" tIns="0" rIns="0" bIns="0" rtlCol="0" anchor="t">
            <a:spAutoFit/>
          </a:bodyPr>
          <a:lstStyle/>
          <a:p>
            <a:pPr algn="l" indent="0" marL="0">
              <a:lnSpc>
                <a:spcPct val="88889"/>
              </a:lnSpc>
              <a:buNone/>
            </a:pPr>
            <a:r>
              <a:rPr lang="en-US" sz="950" dirty="0">
                <a:solidFill>
                  <a:srgbClr val="586069"/>
                </a:solidFill>
                <a:latin typeface="Inter Light" pitchFamily="34" charset="0"/>
                <a:ea typeface="Inter Light" pitchFamily="34" charset="-122"/>
                <a:cs typeface="Inter Light" pitchFamily="34" charset="-120"/>
              </a:rPr>
              <a:t>A "Teacher" BERT model trains a smaller "Student" DistilBERT, transferring its linguistic knowledge.</a:t>
            </a:r>
            <a:endParaRPr lang="en-US" sz="950" dirty="0"/>
          </a:p>
        </p:txBody>
      </p:sp>
      <p:sp>
        <p:nvSpPr>
          <p:cNvPr id="8" name="Text 4"/>
          <p:cNvSpPr/>
          <p:nvPr/>
        </p:nvSpPr>
        <p:spPr>
          <a:xfrm>
            <a:off x="571500" y="2127693"/>
            <a:ext cx="3857625"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4292E"/>
                </a:solidFill>
                <a:latin typeface="Inter ExtraBold" pitchFamily="34" charset="0"/>
                <a:ea typeface="Inter ExtraBold" pitchFamily="34" charset="-122"/>
                <a:cs typeface="Inter ExtraBold" pitchFamily="34" charset="-120"/>
              </a:rPr>
              <a:t>Performance Retention</a:t>
            </a:r>
            <a:endParaRPr lang="en-US" sz="1000" dirty="0"/>
          </a:p>
        </p:txBody>
      </p:sp>
      <p:sp>
        <p:nvSpPr>
          <p:cNvPr id="9" name="Text 5"/>
          <p:cNvSpPr/>
          <p:nvPr/>
        </p:nvSpPr>
        <p:spPr>
          <a:xfrm>
            <a:off x="571500" y="2356293"/>
            <a:ext cx="3857625" cy="285750"/>
          </a:xfrm>
          <a:prstGeom prst="rect">
            <a:avLst/>
          </a:prstGeom>
          <a:noFill/>
          <a:ln/>
        </p:spPr>
        <p:txBody>
          <a:bodyPr wrap="square" lIns="0" tIns="0" rIns="0" bIns="0" rtlCol="0" anchor="t">
            <a:spAutoFit/>
          </a:bodyPr>
          <a:lstStyle/>
          <a:p>
            <a:pPr algn="l" indent="0" marL="0">
              <a:lnSpc>
                <a:spcPct val="88889"/>
              </a:lnSpc>
              <a:buNone/>
            </a:pPr>
            <a:r>
              <a:rPr lang="en-US" sz="950" dirty="0">
                <a:solidFill>
                  <a:srgbClr val="586069"/>
                </a:solidFill>
                <a:latin typeface="Inter Light" pitchFamily="34" charset="0"/>
                <a:ea typeface="Inter Light" pitchFamily="34" charset="-122"/>
                <a:cs typeface="Inter Light" pitchFamily="34" charset="-120"/>
              </a:rPr>
              <a:t>Retains roughly 97% of BERT's performance while being significantly lighter.</a:t>
            </a:r>
            <a:endParaRPr lang="en-US" sz="950" dirty="0"/>
          </a:p>
        </p:txBody>
      </p:sp>
      <p:sp>
        <p:nvSpPr>
          <p:cNvPr id="10" name="Text 6"/>
          <p:cNvSpPr/>
          <p:nvPr/>
        </p:nvSpPr>
        <p:spPr>
          <a:xfrm>
            <a:off x="571500" y="2727768"/>
            <a:ext cx="3857625"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4292E"/>
                </a:solidFill>
                <a:latin typeface="Inter ExtraBold" pitchFamily="34" charset="0"/>
                <a:ea typeface="Inter ExtraBold" pitchFamily="34" charset="-122"/>
                <a:cs typeface="Inter ExtraBold" pitchFamily="34" charset="-120"/>
              </a:rPr>
              <a:t>Speed &amp; Size</a:t>
            </a:r>
            <a:endParaRPr lang="en-US" sz="1000" dirty="0"/>
          </a:p>
        </p:txBody>
      </p:sp>
      <p:sp>
        <p:nvSpPr>
          <p:cNvPr id="11" name="Text 7"/>
          <p:cNvSpPr/>
          <p:nvPr/>
        </p:nvSpPr>
        <p:spPr>
          <a:xfrm>
            <a:off x="571500" y="2956368"/>
            <a:ext cx="3857625" cy="285750"/>
          </a:xfrm>
          <a:prstGeom prst="rect">
            <a:avLst/>
          </a:prstGeom>
          <a:noFill/>
          <a:ln/>
        </p:spPr>
        <p:txBody>
          <a:bodyPr wrap="square" lIns="0" tIns="0" rIns="0" bIns="0" rtlCol="0" anchor="t">
            <a:spAutoFit/>
          </a:bodyPr>
          <a:lstStyle/>
          <a:p>
            <a:pPr algn="l" indent="0" marL="0">
              <a:lnSpc>
                <a:spcPct val="88889"/>
              </a:lnSpc>
              <a:buNone/>
            </a:pPr>
            <a:r>
              <a:rPr lang="en-US" sz="950" dirty="0">
                <a:solidFill>
                  <a:srgbClr val="586069"/>
                </a:solidFill>
                <a:latin typeface="Inter Light" pitchFamily="34" charset="0"/>
                <a:ea typeface="Inter Light" pitchFamily="34" charset="-122"/>
                <a:cs typeface="Inter Light" pitchFamily="34" charset="-120"/>
              </a:rPr>
              <a:t>40% fewer parameters and 60% faster training/inference times compared to BERT-base.</a:t>
            </a:r>
            <a:endParaRPr lang="en-US" sz="950" dirty="0"/>
          </a:p>
        </p:txBody>
      </p:sp>
      <p:sp>
        <p:nvSpPr>
          <p:cNvPr id="12" name="Text 8"/>
          <p:cNvSpPr/>
          <p:nvPr/>
        </p:nvSpPr>
        <p:spPr>
          <a:xfrm>
            <a:off x="5948065" y="1270443"/>
            <a:ext cx="1391245" cy="257175"/>
          </a:xfrm>
          <a:prstGeom prst="rect">
            <a:avLst/>
          </a:prstGeom>
          <a:noFill/>
          <a:ln/>
        </p:spPr>
        <p:txBody>
          <a:bodyPr wrap="none" lIns="0" tIns="0" rIns="0" bIns="0" rtlCol="0" anchor="t">
            <a:spAutoFit/>
          </a:bodyPr>
          <a:lstStyle/>
          <a:p>
            <a:pPr algn="l" indent="0" marL="0">
              <a:lnSpc>
                <a:spcPct val="120000"/>
              </a:lnSpc>
              <a:buNone/>
            </a:pPr>
            <a:r>
              <a:rPr lang="en-US" sz="1200" b="1" dirty="0">
                <a:solidFill>
                  <a:srgbClr val="2EA043"/>
                </a:solidFill>
                <a:latin typeface="Inter ExtraBold" pitchFamily="34" charset="0"/>
                <a:ea typeface="Inter ExtraBold" pitchFamily="34" charset="-122"/>
                <a:cs typeface="Inter ExtraBold" pitchFamily="34" charset="-120"/>
              </a:rPr>
              <a:t>THE TRADE-OFF</a:t>
            </a:r>
            <a:endParaRPr lang="en-US" sz="1200" dirty="0"/>
          </a:p>
        </p:txBody>
      </p:sp>
      <p:sp>
        <p:nvSpPr>
          <p:cNvPr id="13" name="Shape 9"/>
          <p:cNvSpPr/>
          <p:nvPr/>
        </p:nvSpPr>
        <p:spPr>
          <a:xfrm>
            <a:off x="4714875" y="1584768"/>
            <a:ext cx="3857625" cy="1857375"/>
          </a:xfrm>
          <a:prstGeom prst="rect">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800600" y="1670493"/>
            <a:ext cx="3686175" cy="1714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DATA &amp; TRAINING SETUP</a:t>
            </a:r>
            <a:endParaRPr lang="en-US" sz="2450" dirty="0"/>
          </a:p>
        </p:txBody>
      </p:sp>
      <p:sp>
        <p:nvSpPr>
          <p:cNvPr id="5" name="Text 1"/>
          <p:cNvSpPr/>
          <p:nvPr/>
        </p:nvSpPr>
        <p:spPr>
          <a:xfrm>
            <a:off x="571500" y="1484756"/>
            <a:ext cx="3786188"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DATA PREPARATION</a:t>
            </a:r>
            <a:endParaRPr lang="en-US" sz="1200" dirty="0"/>
          </a:p>
        </p:txBody>
      </p:sp>
      <p:sp>
        <p:nvSpPr>
          <p:cNvPr id="6" name="Text 2"/>
          <p:cNvSpPr/>
          <p:nvPr/>
        </p:nvSpPr>
        <p:spPr>
          <a:xfrm>
            <a:off x="571500" y="1863375"/>
            <a:ext cx="3786188"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Feature Engineering</a:t>
            </a:r>
            <a:endParaRPr lang="en-US" sz="1000" dirty="0"/>
          </a:p>
        </p:txBody>
      </p:sp>
      <p:sp>
        <p:nvSpPr>
          <p:cNvPr id="7" name="Text 3"/>
          <p:cNvSpPr/>
          <p:nvPr/>
        </p:nvSpPr>
        <p:spPr>
          <a:xfrm>
            <a:off x="571500" y="2065186"/>
            <a:ext cx="3786188"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586069"/>
                </a:solidFill>
                <a:latin typeface="Inter Light" pitchFamily="34" charset="0"/>
                <a:ea typeface="Inter Light" pitchFamily="34" charset="-122"/>
                <a:cs typeface="Inter Light" pitchFamily="34" charset="-120"/>
              </a:rPr>
              <a:t>Merged repository descriptions with README content to provide the model with maximum semantic context.</a:t>
            </a:r>
            <a:endParaRPr lang="en-US" sz="950" dirty="0"/>
          </a:p>
        </p:txBody>
      </p:sp>
      <p:sp>
        <p:nvSpPr>
          <p:cNvPr id="8" name="Text 4"/>
          <p:cNvSpPr/>
          <p:nvPr/>
        </p:nvSpPr>
        <p:spPr>
          <a:xfrm>
            <a:off x="571500" y="2568094"/>
            <a:ext cx="3786188"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Text Cleaning</a:t>
            </a:r>
            <a:endParaRPr lang="en-US" sz="1000" dirty="0"/>
          </a:p>
        </p:txBody>
      </p:sp>
      <p:sp>
        <p:nvSpPr>
          <p:cNvPr id="9" name="Text 5"/>
          <p:cNvSpPr/>
          <p:nvPr/>
        </p:nvSpPr>
        <p:spPr>
          <a:xfrm>
            <a:off x="571500" y="2769905"/>
            <a:ext cx="3786188"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586069"/>
                </a:solidFill>
                <a:latin typeface="Inter Light" pitchFamily="34" charset="0"/>
                <a:ea typeface="Inter Light" pitchFamily="34" charset="-122"/>
                <a:cs typeface="Inter Light" pitchFamily="34" charset="-120"/>
              </a:rPr>
              <a:t>Removed Markdown syntax, HTML tags, and non-ASCII characters to reduce noise in the input.</a:t>
            </a:r>
            <a:endParaRPr lang="en-US" sz="950" dirty="0"/>
          </a:p>
        </p:txBody>
      </p:sp>
      <p:sp>
        <p:nvSpPr>
          <p:cNvPr id="10" name="Text 6"/>
          <p:cNvSpPr/>
          <p:nvPr/>
        </p:nvSpPr>
        <p:spPr>
          <a:xfrm>
            <a:off x="571500" y="3272814"/>
            <a:ext cx="3786188"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Tokenization</a:t>
            </a:r>
            <a:endParaRPr lang="en-US" sz="1000" dirty="0"/>
          </a:p>
        </p:txBody>
      </p:sp>
      <p:sp>
        <p:nvSpPr>
          <p:cNvPr id="11" name="Text 7"/>
          <p:cNvSpPr/>
          <p:nvPr/>
        </p:nvSpPr>
        <p:spPr>
          <a:xfrm>
            <a:off x="571500" y="3474625"/>
            <a:ext cx="3786188"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586069"/>
                </a:solidFill>
                <a:latin typeface="Inter Light" pitchFamily="34" charset="0"/>
                <a:ea typeface="Inter Light" pitchFamily="34" charset="-122"/>
                <a:cs typeface="Inter Light" pitchFamily="34" charset="-120"/>
              </a:rPr>
              <a:t>Applied WordPiece tokenization with a fixed max length of 512 tokens.</a:t>
            </a:r>
            <a:endParaRPr lang="en-US" sz="950" dirty="0"/>
          </a:p>
        </p:txBody>
      </p:sp>
      <p:sp>
        <p:nvSpPr>
          <p:cNvPr id="12" name="Text 8"/>
          <p:cNvSpPr/>
          <p:nvPr/>
        </p:nvSpPr>
        <p:spPr>
          <a:xfrm>
            <a:off x="4786313" y="1484756"/>
            <a:ext cx="3786188"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TRAINING CONFIGURATION</a:t>
            </a:r>
            <a:endParaRPr lang="en-US" sz="1200" dirty="0"/>
          </a:p>
        </p:txBody>
      </p:sp>
      <p:sp>
        <p:nvSpPr>
          <p:cNvPr id="13" name="Text 9"/>
          <p:cNvSpPr/>
          <p:nvPr/>
        </p:nvSpPr>
        <p:spPr>
          <a:xfrm>
            <a:off x="4786313" y="1941956"/>
            <a:ext cx="553641"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Optimizer</a:t>
            </a:r>
            <a:endParaRPr lang="en-US" sz="800" dirty="0"/>
          </a:p>
        </p:txBody>
      </p:sp>
      <p:sp>
        <p:nvSpPr>
          <p:cNvPr id="14" name="Text 10"/>
          <p:cNvSpPr/>
          <p:nvPr/>
        </p:nvSpPr>
        <p:spPr>
          <a:xfrm>
            <a:off x="8158163" y="1941956"/>
            <a:ext cx="414338" cy="137517"/>
          </a:xfrm>
          <a:prstGeom prst="rect">
            <a:avLst/>
          </a:prstGeom>
          <a:noFill/>
          <a:ln/>
        </p:spPr>
        <p:txBody>
          <a:bodyPr wrap="none" lIns="0" tIns="0" rIns="0" bIns="0" rtlCol="0" anchor="t">
            <a:spAutoFit/>
          </a:bodyPr>
          <a:lstStyle/>
          <a:p>
            <a:pPr algn="l" indent="0" marL="0">
              <a:buNone/>
            </a:pPr>
            <a:r>
              <a:rPr lang="en-US" sz="850" dirty="0">
                <a:solidFill>
                  <a:srgbClr val="2EA043"/>
                </a:solidFill>
                <a:latin typeface="Inter Light" pitchFamily="34" charset="0"/>
                <a:ea typeface="Inter Light" pitchFamily="34" charset="-122"/>
                <a:cs typeface="Inter Light" pitchFamily="34" charset="-120"/>
              </a:rPr>
              <a:t>AdamW</a:t>
            </a:r>
            <a:endParaRPr lang="en-US" sz="850" dirty="0"/>
          </a:p>
        </p:txBody>
      </p:sp>
      <p:sp>
        <p:nvSpPr>
          <p:cNvPr id="15" name="Text 11"/>
          <p:cNvSpPr/>
          <p:nvPr/>
        </p:nvSpPr>
        <p:spPr>
          <a:xfrm>
            <a:off x="4786313" y="2243779"/>
            <a:ext cx="778669"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Learning Rate</a:t>
            </a:r>
            <a:endParaRPr lang="en-US" sz="800" dirty="0"/>
          </a:p>
        </p:txBody>
      </p:sp>
      <p:sp>
        <p:nvSpPr>
          <p:cNvPr id="16" name="Text 12"/>
          <p:cNvSpPr/>
          <p:nvPr/>
        </p:nvSpPr>
        <p:spPr>
          <a:xfrm>
            <a:off x="8318897" y="2243779"/>
            <a:ext cx="253603" cy="137517"/>
          </a:xfrm>
          <a:prstGeom prst="rect">
            <a:avLst/>
          </a:prstGeom>
          <a:noFill/>
          <a:ln/>
        </p:spPr>
        <p:txBody>
          <a:bodyPr wrap="none" lIns="0" tIns="0" rIns="0" bIns="0" rtlCol="0" anchor="t">
            <a:spAutoFit/>
          </a:bodyPr>
          <a:lstStyle/>
          <a:p>
            <a:pPr algn="l" indent="0" marL="0">
              <a:buNone/>
            </a:pPr>
            <a:r>
              <a:rPr lang="en-US" sz="850" dirty="0">
                <a:solidFill>
                  <a:srgbClr val="2EA043"/>
                </a:solidFill>
                <a:latin typeface="Inter Light" pitchFamily="34" charset="0"/>
                <a:ea typeface="Inter Light" pitchFamily="34" charset="-122"/>
                <a:cs typeface="Inter Light" pitchFamily="34" charset="-120"/>
              </a:rPr>
              <a:t>2e-5</a:t>
            </a:r>
            <a:endParaRPr lang="en-US" sz="850" dirty="0"/>
          </a:p>
        </p:txBody>
      </p:sp>
      <p:sp>
        <p:nvSpPr>
          <p:cNvPr id="17" name="Text 13"/>
          <p:cNvSpPr/>
          <p:nvPr/>
        </p:nvSpPr>
        <p:spPr>
          <a:xfrm>
            <a:off x="4786313" y="2545603"/>
            <a:ext cx="591145"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Batch Size</a:t>
            </a:r>
            <a:endParaRPr lang="en-US" sz="800" dirty="0"/>
          </a:p>
        </p:txBody>
      </p:sp>
      <p:sp>
        <p:nvSpPr>
          <p:cNvPr id="18" name="Text 14"/>
          <p:cNvSpPr/>
          <p:nvPr/>
        </p:nvSpPr>
        <p:spPr>
          <a:xfrm>
            <a:off x="8458200" y="2545603"/>
            <a:ext cx="114300" cy="137517"/>
          </a:xfrm>
          <a:prstGeom prst="rect">
            <a:avLst/>
          </a:prstGeom>
          <a:noFill/>
          <a:ln/>
        </p:spPr>
        <p:txBody>
          <a:bodyPr wrap="none" lIns="0" tIns="0" rIns="0" bIns="0" rtlCol="0" anchor="t">
            <a:spAutoFit/>
          </a:bodyPr>
          <a:lstStyle/>
          <a:p>
            <a:pPr algn="l" indent="0" marL="0">
              <a:buNone/>
            </a:pPr>
            <a:r>
              <a:rPr lang="en-US" sz="850" dirty="0">
                <a:solidFill>
                  <a:srgbClr val="2EA043"/>
                </a:solidFill>
                <a:latin typeface="Inter Light" pitchFamily="34" charset="0"/>
                <a:ea typeface="Inter Light" pitchFamily="34" charset="-122"/>
                <a:cs typeface="Inter Light" pitchFamily="34" charset="-120"/>
              </a:rPr>
              <a:t>16</a:t>
            </a:r>
            <a:endParaRPr lang="en-US" sz="850" dirty="0"/>
          </a:p>
        </p:txBody>
      </p:sp>
      <p:sp>
        <p:nvSpPr>
          <p:cNvPr id="19" name="Text 15"/>
          <p:cNvSpPr/>
          <p:nvPr/>
        </p:nvSpPr>
        <p:spPr>
          <a:xfrm>
            <a:off x="4786313" y="2847426"/>
            <a:ext cx="421481"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Epochs</a:t>
            </a:r>
            <a:endParaRPr lang="en-US" sz="800" dirty="0"/>
          </a:p>
        </p:txBody>
      </p:sp>
      <p:sp>
        <p:nvSpPr>
          <p:cNvPr id="20" name="Text 16"/>
          <p:cNvSpPr/>
          <p:nvPr/>
        </p:nvSpPr>
        <p:spPr>
          <a:xfrm>
            <a:off x="7365206" y="2847426"/>
            <a:ext cx="1207294" cy="137517"/>
          </a:xfrm>
          <a:prstGeom prst="rect">
            <a:avLst/>
          </a:prstGeom>
          <a:noFill/>
          <a:ln/>
        </p:spPr>
        <p:txBody>
          <a:bodyPr wrap="none" lIns="0" tIns="0" rIns="0" bIns="0" rtlCol="0" anchor="t">
            <a:spAutoFit/>
          </a:bodyPr>
          <a:lstStyle/>
          <a:p>
            <a:pPr algn="l" indent="0" marL="0">
              <a:buNone/>
            </a:pPr>
            <a:r>
              <a:rPr lang="en-US" sz="850" dirty="0">
                <a:solidFill>
                  <a:srgbClr val="2EA043"/>
                </a:solidFill>
                <a:latin typeface="Inter Light" pitchFamily="34" charset="0"/>
                <a:ea typeface="Inter Light" pitchFamily="34" charset="-122"/>
                <a:cs typeface="Inter Light" pitchFamily="34" charset="-120"/>
              </a:rPr>
              <a:t>4 (with Early Stopping)</a:t>
            </a:r>
            <a:endParaRPr lang="en-US" sz="850" dirty="0"/>
          </a:p>
        </p:txBody>
      </p:sp>
      <p:sp>
        <p:nvSpPr>
          <p:cNvPr id="21" name="Text 17"/>
          <p:cNvSpPr/>
          <p:nvPr/>
        </p:nvSpPr>
        <p:spPr>
          <a:xfrm>
            <a:off x="4786313" y="3149250"/>
            <a:ext cx="530423"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Precision</a:t>
            </a:r>
            <a:endParaRPr lang="en-US" sz="800" dirty="0"/>
          </a:p>
        </p:txBody>
      </p:sp>
      <p:sp>
        <p:nvSpPr>
          <p:cNvPr id="22" name="Text 18"/>
          <p:cNvSpPr/>
          <p:nvPr/>
        </p:nvSpPr>
        <p:spPr>
          <a:xfrm>
            <a:off x="7361634" y="3149250"/>
            <a:ext cx="1210866" cy="137517"/>
          </a:xfrm>
          <a:prstGeom prst="rect">
            <a:avLst/>
          </a:prstGeom>
          <a:noFill/>
          <a:ln/>
        </p:spPr>
        <p:txBody>
          <a:bodyPr wrap="none" lIns="0" tIns="0" rIns="0" bIns="0" rtlCol="0" anchor="t">
            <a:spAutoFit/>
          </a:bodyPr>
          <a:lstStyle/>
          <a:p>
            <a:pPr algn="l" indent="0" marL="0">
              <a:buNone/>
            </a:pPr>
            <a:r>
              <a:rPr lang="en-US" sz="850" dirty="0">
                <a:solidFill>
                  <a:srgbClr val="2EA043"/>
                </a:solidFill>
                <a:latin typeface="Inter Light" pitchFamily="34" charset="0"/>
                <a:ea typeface="Inter Light" pitchFamily="34" charset="-122"/>
                <a:cs typeface="Inter Light" pitchFamily="34" charset="-120"/>
              </a:rPr>
              <a:t>FP16 (Mixed Precision)</a:t>
            </a:r>
            <a:endParaRPr lang="en-US" sz="850" dirty="0"/>
          </a:p>
        </p:txBody>
      </p:sp>
      <p:sp>
        <p:nvSpPr>
          <p:cNvPr id="23" name="Text 19"/>
          <p:cNvSpPr/>
          <p:nvPr/>
        </p:nvSpPr>
        <p:spPr>
          <a:xfrm>
            <a:off x="4786313" y="3451073"/>
            <a:ext cx="255389"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Split</a:t>
            </a:r>
            <a:endParaRPr lang="en-US" sz="800" dirty="0"/>
          </a:p>
        </p:txBody>
      </p:sp>
      <p:sp>
        <p:nvSpPr>
          <p:cNvPr id="24" name="Text 20"/>
          <p:cNvSpPr/>
          <p:nvPr/>
        </p:nvSpPr>
        <p:spPr>
          <a:xfrm>
            <a:off x="6925866" y="3451073"/>
            <a:ext cx="1646634" cy="137517"/>
          </a:xfrm>
          <a:prstGeom prst="rect">
            <a:avLst/>
          </a:prstGeom>
          <a:noFill/>
          <a:ln/>
        </p:spPr>
        <p:txBody>
          <a:bodyPr wrap="square" lIns="0" tIns="0" rIns="0" bIns="0" rtlCol="0" anchor="t">
            <a:spAutoFit/>
          </a:bodyPr>
          <a:lstStyle/>
          <a:p>
            <a:pPr algn="l" indent="0" marL="0">
              <a:buNone/>
            </a:pPr>
            <a:r>
              <a:rPr lang="en-US" sz="850" dirty="0">
                <a:solidFill>
                  <a:srgbClr val="2EA043"/>
                </a:solidFill>
                <a:latin typeface="Inter Light" pitchFamily="34" charset="0"/>
                <a:ea typeface="Inter Light" pitchFamily="34" charset="-122"/>
                <a:cs typeface="Inter Light" pitchFamily="34" charset="-120"/>
              </a:rPr>
              <a:t>80% Train / 10% Val / 10% Test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EVALUATION: BEYOND ACCURACY</a:t>
            </a:r>
            <a:endParaRPr lang="en-US" sz="2450" dirty="0"/>
          </a:p>
        </p:txBody>
      </p:sp>
      <p:sp>
        <p:nvSpPr>
          <p:cNvPr id="5" name="Text 1"/>
          <p:cNvSpPr/>
          <p:nvPr/>
        </p:nvSpPr>
        <p:spPr>
          <a:xfrm>
            <a:off x="571500" y="1484756"/>
            <a:ext cx="4543425"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METRIC SELECTION</a:t>
            </a:r>
            <a:endParaRPr lang="en-US" sz="1200" dirty="0"/>
          </a:p>
        </p:txBody>
      </p:sp>
      <p:sp>
        <p:nvSpPr>
          <p:cNvPr id="6" name="Text 2"/>
          <p:cNvSpPr/>
          <p:nvPr/>
        </p:nvSpPr>
        <p:spPr>
          <a:xfrm>
            <a:off x="571500" y="1863375"/>
            <a:ext cx="4543425"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The Accuracy Trap</a:t>
            </a:r>
            <a:endParaRPr lang="en-US" sz="1000" dirty="0"/>
          </a:p>
        </p:txBody>
      </p:sp>
      <p:sp>
        <p:nvSpPr>
          <p:cNvPr id="7" name="Text 3"/>
          <p:cNvSpPr/>
          <p:nvPr/>
        </p:nvSpPr>
        <p:spPr>
          <a:xfrm>
            <a:off x="571500" y="2093761"/>
            <a:ext cx="4543425"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In imbalanced datasets, a model can achieve high accuracy by simply predicting the majority class, failing to identify smaller but important categories.</a:t>
            </a:r>
            <a:endParaRPr lang="en-US" sz="950" dirty="0"/>
          </a:p>
        </p:txBody>
      </p:sp>
      <p:sp>
        <p:nvSpPr>
          <p:cNvPr id="8" name="Text 4"/>
          <p:cNvSpPr/>
          <p:nvPr/>
        </p:nvSpPr>
        <p:spPr>
          <a:xfrm>
            <a:off x="571500" y="2843854"/>
            <a:ext cx="4543425"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Macro F1-Score</a:t>
            </a:r>
            <a:endParaRPr lang="en-US" sz="1000" dirty="0"/>
          </a:p>
        </p:txBody>
      </p:sp>
      <p:sp>
        <p:nvSpPr>
          <p:cNvPr id="9" name="Text 5"/>
          <p:cNvSpPr/>
          <p:nvPr/>
        </p:nvSpPr>
        <p:spPr>
          <a:xfrm>
            <a:off x="571500" y="3074240"/>
            <a:ext cx="4543425"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Calculates the F1-score for each class independently and then takes the average. This ensures that the model performs well across all repository types.</a:t>
            </a:r>
            <a:endParaRPr lang="en-US" sz="950" dirty="0"/>
          </a:p>
        </p:txBody>
      </p:sp>
      <p:sp>
        <p:nvSpPr>
          <p:cNvPr id="10" name="Text 6"/>
          <p:cNvSpPr/>
          <p:nvPr/>
        </p:nvSpPr>
        <p:spPr>
          <a:xfrm>
            <a:off x="5543550" y="1484756"/>
            <a:ext cx="30289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MODEL PIPELINE</a:t>
            </a:r>
            <a:endParaRPr lang="en-US" sz="1200" dirty="0"/>
          </a:p>
        </p:txBody>
      </p:sp>
      <p:sp>
        <p:nvSpPr>
          <p:cNvPr id="11" name="Shape 7"/>
          <p:cNvSpPr/>
          <p:nvPr/>
        </p:nvSpPr>
        <p:spPr>
          <a:xfrm>
            <a:off x="5543550" y="2006250"/>
            <a:ext cx="3028950" cy="535781"/>
          </a:xfrm>
          <a:prstGeom prst="rect">
            <a:avLst/>
          </a:prstGeom>
          <a:solidFill>
            <a:srgbClr val="FFFFFF"/>
          </a:solidFill>
          <a:ln/>
        </p:spPr>
      </p:sp>
      <p:sp>
        <p:nvSpPr>
          <p:cNvPr id="12" name="Shape 8"/>
          <p:cNvSpPr/>
          <p:nvPr/>
        </p:nvSpPr>
        <p:spPr>
          <a:xfrm>
            <a:off x="5543550" y="2006250"/>
            <a:ext cx="42863" cy="535781"/>
          </a:xfrm>
          <a:prstGeom prst="rect">
            <a:avLst/>
          </a:prstGeom>
          <a:solidFill>
            <a:srgbClr val="2EA043"/>
          </a:solidFill>
          <a:ln/>
        </p:spPr>
      </p:sp>
      <p:pic>
        <p:nvPicPr>
          <p:cNvPr id="13" name="Image 1" descr="preencoded.png">    </p:cNvPr>
          <p:cNvPicPr>
            <a:picLocks noChangeAspect="1"/>
          </p:cNvPicPr>
          <p:nvPr/>
        </p:nvPicPr>
        <p:blipFill>
          <a:blip r:embed="rId2"/>
          <a:stretch>
            <a:fillRect/>
          </a:stretch>
        </p:blipFill>
        <p:spPr>
          <a:xfrm>
            <a:off x="5686425" y="2270568"/>
            <a:ext cx="171450" cy="114300"/>
          </a:xfrm>
          <a:prstGeom prst="rect">
            <a:avLst/>
          </a:prstGeom>
        </p:spPr>
      </p:pic>
      <p:sp>
        <p:nvSpPr>
          <p:cNvPr id="14" name="Text 9"/>
          <p:cNvSpPr/>
          <p:nvPr/>
        </p:nvSpPr>
        <p:spPr>
          <a:xfrm>
            <a:off x="5965031" y="2258960"/>
            <a:ext cx="1114425"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Raw Text (README)</a:t>
            </a:r>
            <a:endParaRPr lang="en-US" sz="800" dirty="0"/>
          </a:p>
        </p:txBody>
      </p:sp>
      <p:pic>
        <p:nvPicPr>
          <p:cNvPr id="15" name="Image 2" descr="preencoded.png">    </p:cNvPr>
          <p:cNvPicPr>
            <a:picLocks noChangeAspect="1"/>
          </p:cNvPicPr>
          <p:nvPr/>
        </p:nvPicPr>
        <p:blipFill>
          <a:blip r:embed="rId3"/>
          <a:stretch>
            <a:fillRect/>
          </a:stretch>
        </p:blipFill>
        <p:spPr>
          <a:xfrm>
            <a:off x="5686425" y="2620612"/>
            <a:ext cx="75009" cy="100013"/>
          </a:xfrm>
          <a:prstGeom prst="rect">
            <a:avLst/>
          </a:prstGeom>
        </p:spPr>
      </p:pic>
      <p:sp>
        <p:nvSpPr>
          <p:cNvPr id="16" name="Shape 10"/>
          <p:cNvSpPr/>
          <p:nvPr/>
        </p:nvSpPr>
        <p:spPr>
          <a:xfrm>
            <a:off x="5543550" y="2649187"/>
            <a:ext cx="3028950" cy="535781"/>
          </a:xfrm>
          <a:prstGeom prst="rect">
            <a:avLst/>
          </a:prstGeom>
          <a:solidFill>
            <a:srgbClr val="FFFFFF"/>
          </a:solidFill>
          <a:ln/>
        </p:spPr>
      </p:sp>
      <p:sp>
        <p:nvSpPr>
          <p:cNvPr id="17" name="Shape 11"/>
          <p:cNvSpPr/>
          <p:nvPr/>
        </p:nvSpPr>
        <p:spPr>
          <a:xfrm>
            <a:off x="5543550" y="2649187"/>
            <a:ext cx="42863" cy="535781"/>
          </a:xfrm>
          <a:prstGeom prst="rect">
            <a:avLst/>
          </a:prstGeom>
          <a:solidFill>
            <a:srgbClr val="2EA043"/>
          </a:solidFill>
          <a:ln/>
        </p:spPr>
      </p:sp>
      <p:pic>
        <p:nvPicPr>
          <p:cNvPr id="18" name="Image 3" descr="preencoded.png">    </p:cNvPr>
          <p:cNvPicPr>
            <a:picLocks noChangeAspect="1"/>
          </p:cNvPicPr>
          <p:nvPr/>
        </p:nvPicPr>
        <p:blipFill>
          <a:blip r:embed="rId4"/>
          <a:stretch>
            <a:fillRect/>
          </a:stretch>
        </p:blipFill>
        <p:spPr>
          <a:xfrm>
            <a:off x="5686425" y="2913506"/>
            <a:ext cx="171450" cy="114300"/>
          </a:xfrm>
          <a:prstGeom prst="rect">
            <a:avLst/>
          </a:prstGeom>
        </p:spPr>
      </p:pic>
      <p:sp>
        <p:nvSpPr>
          <p:cNvPr id="19" name="Text 12"/>
          <p:cNvSpPr/>
          <p:nvPr/>
        </p:nvSpPr>
        <p:spPr>
          <a:xfrm>
            <a:off x="5965031" y="2901897"/>
            <a:ext cx="1200150"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WordPiece Tokenizer</a:t>
            </a:r>
            <a:endParaRPr lang="en-US" sz="800" dirty="0"/>
          </a:p>
        </p:txBody>
      </p:sp>
      <p:pic>
        <p:nvPicPr>
          <p:cNvPr id="20" name="Image 4" descr="preencoded.png">    </p:cNvPr>
          <p:cNvPicPr>
            <a:picLocks noChangeAspect="1"/>
          </p:cNvPicPr>
          <p:nvPr/>
        </p:nvPicPr>
        <p:blipFill>
          <a:blip r:embed="rId5"/>
          <a:stretch>
            <a:fillRect/>
          </a:stretch>
        </p:blipFill>
        <p:spPr>
          <a:xfrm>
            <a:off x="5686425" y="3263550"/>
            <a:ext cx="75009" cy="100013"/>
          </a:xfrm>
          <a:prstGeom prst="rect">
            <a:avLst/>
          </a:prstGeom>
        </p:spPr>
      </p:pic>
      <p:sp>
        <p:nvSpPr>
          <p:cNvPr id="21" name="Shape 13"/>
          <p:cNvSpPr/>
          <p:nvPr/>
        </p:nvSpPr>
        <p:spPr>
          <a:xfrm>
            <a:off x="5543550" y="3292125"/>
            <a:ext cx="3028950" cy="535781"/>
          </a:xfrm>
          <a:prstGeom prst="rect">
            <a:avLst/>
          </a:prstGeom>
          <a:solidFill>
            <a:srgbClr val="FFFFFF"/>
          </a:solidFill>
          <a:ln/>
        </p:spPr>
      </p:sp>
      <p:sp>
        <p:nvSpPr>
          <p:cNvPr id="22" name="Shape 14"/>
          <p:cNvSpPr/>
          <p:nvPr/>
        </p:nvSpPr>
        <p:spPr>
          <a:xfrm>
            <a:off x="5543550" y="3292125"/>
            <a:ext cx="42863" cy="535781"/>
          </a:xfrm>
          <a:prstGeom prst="rect">
            <a:avLst/>
          </a:prstGeom>
          <a:solidFill>
            <a:srgbClr val="2EA043"/>
          </a:solidFill>
          <a:ln/>
        </p:spPr>
      </p:sp>
      <p:pic>
        <p:nvPicPr>
          <p:cNvPr id="23" name="Image 5" descr="preencoded.png">    </p:cNvPr>
          <p:cNvPicPr>
            <a:picLocks noChangeAspect="1"/>
          </p:cNvPicPr>
          <p:nvPr/>
        </p:nvPicPr>
        <p:blipFill>
          <a:blip r:embed="rId6"/>
          <a:stretch>
            <a:fillRect/>
          </a:stretch>
        </p:blipFill>
        <p:spPr>
          <a:xfrm>
            <a:off x="5686425" y="3556443"/>
            <a:ext cx="171450" cy="114300"/>
          </a:xfrm>
          <a:prstGeom prst="rect">
            <a:avLst/>
          </a:prstGeom>
        </p:spPr>
      </p:pic>
      <p:sp>
        <p:nvSpPr>
          <p:cNvPr id="24" name="Text 15"/>
          <p:cNvSpPr/>
          <p:nvPr/>
        </p:nvSpPr>
        <p:spPr>
          <a:xfrm>
            <a:off x="5965031" y="3544835"/>
            <a:ext cx="962620"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DistilBERT Model</a:t>
            </a:r>
            <a:endParaRPr lang="en-US" sz="800" dirty="0"/>
          </a:p>
        </p:txBody>
      </p:sp>
      <p:pic>
        <p:nvPicPr>
          <p:cNvPr id="25" name="Image 6" descr="preencoded.png">    </p:cNvPr>
          <p:cNvPicPr>
            <a:picLocks noChangeAspect="1"/>
          </p:cNvPicPr>
          <p:nvPr/>
        </p:nvPicPr>
        <p:blipFill>
          <a:blip r:embed="rId7"/>
          <a:stretch>
            <a:fillRect/>
          </a:stretch>
        </p:blipFill>
        <p:spPr>
          <a:xfrm>
            <a:off x="5686425" y="3906487"/>
            <a:ext cx="75009" cy="100013"/>
          </a:xfrm>
          <a:prstGeom prst="rect">
            <a:avLst/>
          </a:prstGeom>
        </p:spPr>
      </p:pic>
      <p:sp>
        <p:nvSpPr>
          <p:cNvPr id="26" name="Shape 16"/>
          <p:cNvSpPr/>
          <p:nvPr/>
        </p:nvSpPr>
        <p:spPr>
          <a:xfrm>
            <a:off x="5543550" y="3935062"/>
            <a:ext cx="3028950" cy="535781"/>
          </a:xfrm>
          <a:prstGeom prst="rect">
            <a:avLst/>
          </a:prstGeom>
          <a:solidFill>
            <a:srgbClr val="FFFFFF"/>
          </a:solidFill>
          <a:ln/>
        </p:spPr>
      </p:sp>
      <p:sp>
        <p:nvSpPr>
          <p:cNvPr id="27" name="Shape 17"/>
          <p:cNvSpPr/>
          <p:nvPr/>
        </p:nvSpPr>
        <p:spPr>
          <a:xfrm>
            <a:off x="5543550" y="3935062"/>
            <a:ext cx="42863" cy="535781"/>
          </a:xfrm>
          <a:prstGeom prst="rect">
            <a:avLst/>
          </a:prstGeom>
          <a:solidFill>
            <a:srgbClr val="2EA043"/>
          </a:solidFill>
          <a:ln/>
        </p:spPr>
      </p:sp>
      <p:pic>
        <p:nvPicPr>
          <p:cNvPr id="28" name="Image 7" descr="preencoded.png">    </p:cNvPr>
          <p:cNvPicPr>
            <a:picLocks noChangeAspect="1"/>
          </p:cNvPicPr>
          <p:nvPr/>
        </p:nvPicPr>
        <p:blipFill>
          <a:blip r:embed="rId8"/>
          <a:stretch>
            <a:fillRect/>
          </a:stretch>
        </p:blipFill>
        <p:spPr>
          <a:xfrm>
            <a:off x="5686425" y="4199381"/>
            <a:ext cx="171450" cy="114300"/>
          </a:xfrm>
          <a:prstGeom prst="rect">
            <a:avLst/>
          </a:prstGeom>
        </p:spPr>
      </p:pic>
      <p:sp>
        <p:nvSpPr>
          <p:cNvPr id="29" name="Text 18"/>
          <p:cNvSpPr/>
          <p:nvPr/>
        </p:nvSpPr>
        <p:spPr>
          <a:xfrm>
            <a:off x="5965031" y="4187772"/>
            <a:ext cx="1096566" cy="137517"/>
          </a:xfrm>
          <a:prstGeom prst="rect">
            <a:avLst/>
          </a:prstGeom>
          <a:noFill/>
          <a:ln/>
        </p:spPr>
        <p:txBody>
          <a:bodyPr wrap="none" lIns="0" tIns="0" rIns="0" bIns="0" rtlCol="0" anchor="t">
            <a:spAutoFit/>
          </a:bodyPr>
          <a:lstStyle/>
          <a:p>
            <a:pPr algn="l" indent="0" marL="0">
              <a:buNone/>
            </a:pPr>
            <a:r>
              <a:rPr lang="en-US" sz="800" b="1" dirty="0">
                <a:solidFill>
                  <a:srgbClr val="24292E"/>
                </a:solidFill>
                <a:latin typeface="Inter ExtraBold" pitchFamily="34" charset="0"/>
                <a:ea typeface="Inter ExtraBold" pitchFamily="34" charset="-122"/>
                <a:cs typeface="Inter ExtraBold" pitchFamily="34" charset="-120"/>
              </a:rPr>
              <a:t>Predicted Category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572500" cy="414338"/>
          </a:xfrm>
          <a:prstGeom prst="rect">
            <a:avLst/>
          </a:prstGeom>
          <a:noFill/>
          <a:ln/>
        </p:spPr>
        <p:txBody>
          <a:bodyPr wrap="square" lIns="0" tIns="0" rIns="0" bIns="0" rtlCol="0" anchor="t">
            <a:spAutoFit/>
          </a:bodyPr>
          <a:lstStyle/>
          <a:p>
            <a:pPr algn="l" indent="0" marL="0">
              <a:buNone/>
            </a:pPr>
            <a:r>
              <a:rPr lang="en-US" sz="2450" b="1" spc="-1" kern="0" dirty="0">
                <a:solidFill>
                  <a:srgbClr val="24292E"/>
                </a:solidFill>
                <a:latin typeface="Inter ExtraBold" pitchFamily="34" charset="0"/>
                <a:ea typeface="Inter ExtraBold" pitchFamily="34" charset="-122"/>
                <a:cs typeface="Inter ExtraBold" pitchFamily="34" charset="-120"/>
              </a:rPr>
              <a:t>CHALLENGES &amp; INSIGHTS</a:t>
            </a:r>
            <a:endParaRPr lang="en-US" sz="2450" dirty="0"/>
          </a:p>
        </p:txBody>
      </p:sp>
      <p:sp>
        <p:nvSpPr>
          <p:cNvPr id="5" name="Text 1"/>
          <p:cNvSpPr/>
          <p:nvPr/>
        </p:nvSpPr>
        <p:spPr>
          <a:xfrm>
            <a:off x="571500" y="1556193"/>
            <a:ext cx="37147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TECHNICAL HURDLES</a:t>
            </a:r>
            <a:endParaRPr lang="en-US" sz="1200" dirty="0"/>
          </a:p>
        </p:txBody>
      </p:sp>
      <p:pic>
        <p:nvPicPr>
          <p:cNvPr id="6" name="Image 1" descr="preencoded.png">    </p:cNvPr>
          <p:cNvPicPr>
            <a:picLocks noChangeAspect="1"/>
          </p:cNvPicPr>
          <p:nvPr/>
        </p:nvPicPr>
        <p:blipFill>
          <a:blip r:embed="rId2"/>
          <a:stretch>
            <a:fillRect/>
          </a:stretch>
        </p:blipFill>
        <p:spPr>
          <a:xfrm>
            <a:off x="571500" y="2143767"/>
            <a:ext cx="171450" cy="171450"/>
          </a:xfrm>
          <a:prstGeom prst="rect">
            <a:avLst/>
          </a:prstGeom>
        </p:spPr>
      </p:pic>
      <p:sp>
        <p:nvSpPr>
          <p:cNvPr id="7" name="Text 2"/>
          <p:cNvSpPr/>
          <p:nvPr/>
        </p:nvSpPr>
        <p:spPr>
          <a:xfrm>
            <a:off x="928688" y="2127693"/>
            <a:ext cx="3357563"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Text Truncation</a:t>
            </a:r>
            <a:endParaRPr lang="en-US" sz="1000" dirty="0"/>
          </a:p>
        </p:txBody>
      </p:sp>
      <p:sp>
        <p:nvSpPr>
          <p:cNvPr id="8" name="Text 3"/>
          <p:cNvSpPr/>
          <p:nvPr/>
        </p:nvSpPr>
        <p:spPr>
          <a:xfrm>
            <a:off x="928688" y="2358079"/>
            <a:ext cx="3357563"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GitHub READMEs often exceed 512 tokens. Deciding which parts to keep without losing context was critical.</a:t>
            </a:r>
            <a:endParaRPr lang="en-US" sz="950" dirty="0"/>
          </a:p>
        </p:txBody>
      </p:sp>
      <p:pic>
        <p:nvPicPr>
          <p:cNvPr id="9" name="Image 2" descr="preencoded.png">    </p:cNvPr>
          <p:cNvPicPr>
            <a:picLocks noChangeAspect="1"/>
          </p:cNvPicPr>
          <p:nvPr/>
        </p:nvPicPr>
        <p:blipFill>
          <a:blip r:embed="rId3"/>
          <a:stretch>
            <a:fillRect/>
          </a:stretch>
        </p:blipFill>
        <p:spPr>
          <a:xfrm>
            <a:off x="571500" y="3052809"/>
            <a:ext cx="214313" cy="171450"/>
          </a:xfrm>
          <a:prstGeom prst="rect">
            <a:avLst/>
          </a:prstGeom>
        </p:spPr>
      </p:pic>
      <p:sp>
        <p:nvSpPr>
          <p:cNvPr id="10" name="Text 4"/>
          <p:cNvSpPr/>
          <p:nvPr/>
        </p:nvSpPr>
        <p:spPr>
          <a:xfrm>
            <a:off x="928688" y="3036736"/>
            <a:ext cx="3357563" cy="173236"/>
          </a:xfrm>
          <a:prstGeom prst="rect">
            <a:avLst/>
          </a:prstGeom>
          <a:noFill/>
          <a:ln/>
        </p:spPr>
        <p:txBody>
          <a:bodyPr wrap="square" lIns="0" tIns="0" rIns="0" bIns="0" rtlCol="0" anchor="t">
            <a:spAutoFit/>
          </a:bodyPr>
          <a:lstStyle/>
          <a:p>
            <a:pPr algn="l" indent="0" marL="0">
              <a:buNone/>
            </a:pPr>
            <a:r>
              <a:rPr lang="en-US" sz="1000" b="1" dirty="0">
                <a:solidFill>
                  <a:srgbClr val="24292E"/>
                </a:solidFill>
                <a:latin typeface="Inter ExtraBold" pitchFamily="34" charset="0"/>
                <a:ea typeface="Inter ExtraBold" pitchFamily="34" charset="-122"/>
                <a:cs typeface="Inter ExtraBold" pitchFamily="34" charset="-120"/>
              </a:rPr>
              <a:t>Class Imbalance</a:t>
            </a:r>
            <a:endParaRPr lang="en-US" sz="1000" dirty="0"/>
          </a:p>
        </p:txBody>
      </p:sp>
      <p:sp>
        <p:nvSpPr>
          <p:cNvPr id="11" name="Text 5"/>
          <p:cNvSpPr/>
          <p:nvPr/>
        </p:nvSpPr>
        <p:spPr>
          <a:xfrm>
            <a:off x="928688" y="3267122"/>
            <a:ext cx="3357563"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Some categories (e.g., Web) had significantly more data than others (e.g., Security), affecting model bias.</a:t>
            </a:r>
            <a:endParaRPr lang="en-US" sz="950" dirty="0"/>
          </a:p>
        </p:txBody>
      </p:sp>
      <p:sp>
        <p:nvSpPr>
          <p:cNvPr id="12" name="Text 6"/>
          <p:cNvSpPr/>
          <p:nvPr/>
        </p:nvSpPr>
        <p:spPr>
          <a:xfrm>
            <a:off x="4857750" y="1556193"/>
            <a:ext cx="3714750" cy="207169"/>
          </a:xfrm>
          <a:prstGeom prst="rect">
            <a:avLst/>
          </a:prstGeom>
          <a:noFill/>
          <a:ln/>
        </p:spPr>
        <p:txBody>
          <a:bodyPr wrap="square" lIns="0" tIns="0" rIns="0" bIns="0" rtlCol="0" anchor="t">
            <a:spAutoFit/>
          </a:bodyPr>
          <a:lstStyle/>
          <a:p>
            <a:pPr algn="l" indent="0" marL="0">
              <a:buNone/>
            </a:pPr>
            <a:r>
              <a:rPr lang="en-US" sz="1200" b="1" dirty="0">
                <a:solidFill>
                  <a:srgbClr val="2EA043"/>
                </a:solidFill>
                <a:latin typeface="Inter ExtraBold" pitchFamily="34" charset="0"/>
                <a:ea typeface="Inter ExtraBold" pitchFamily="34" charset="-122"/>
                <a:cs typeface="Inter ExtraBold" pitchFamily="34" charset="-120"/>
              </a:rPr>
              <a:t>KEY INSIGHTS</a:t>
            </a:r>
            <a:endParaRPr lang="en-US" sz="1200" dirty="0"/>
          </a:p>
        </p:txBody>
      </p:sp>
      <p:sp>
        <p:nvSpPr>
          <p:cNvPr id="13" name="Shape 7"/>
          <p:cNvSpPr/>
          <p:nvPr/>
        </p:nvSpPr>
        <p:spPr>
          <a:xfrm>
            <a:off x="4857750" y="1977675"/>
            <a:ext cx="3714750" cy="2428875"/>
          </a:xfrm>
          <a:prstGeom prst="rect">
            <a:avLst/>
          </a:prstGeom>
          <a:solidFill>
            <a:srgbClr val="24292E"/>
          </a:solidFill>
          <a:ln/>
        </p:spPr>
      </p:sp>
      <p:sp>
        <p:nvSpPr>
          <p:cNvPr id="14" name="Text 8"/>
          <p:cNvSpPr/>
          <p:nvPr/>
        </p:nvSpPr>
        <p:spPr>
          <a:xfrm>
            <a:off x="5143500" y="2263425"/>
            <a:ext cx="3143250" cy="1257272"/>
          </a:xfrm>
          <a:prstGeom prst="rect">
            <a:avLst/>
          </a:prstGeom>
          <a:noFill/>
          <a:ln/>
        </p:spPr>
        <p:txBody>
          <a:bodyPr wrap="square" lIns="0" tIns="0" rIns="0" bIns="0" rtlCol="0" anchor="t">
            <a:spAutoFit/>
          </a:bodyPr>
          <a:lstStyle/>
          <a:p>
            <a:pPr algn="l" indent="0" marL="0">
              <a:lnSpc>
                <a:spcPct val="128000"/>
              </a:lnSpc>
              <a:buNone/>
            </a:pPr>
            <a:r>
              <a:rPr lang="en-US" sz="1150" i="1" dirty="0">
                <a:solidFill>
                  <a:srgbClr val="E3E6E8"/>
                </a:solidFill>
                <a:latin typeface="Inter Light" pitchFamily="34" charset="0"/>
                <a:ea typeface="Inter Light" pitchFamily="34" charset="-122"/>
                <a:cs typeface="Inter Light" pitchFamily="34" charset="-120"/>
              </a:rPr>
              <a:t>"The model's ability to understand technical jargon allowed it to distinguish between 'Frameworks' and 'Libraries' even when the keywords were nearly identical."</a:t>
            </a:r>
            <a:endParaRPr lang="en-US" sz="1150" dirty="0"/>
          </a:p>
        </p:txBody>
      </p:sp>
      <p:sp>
        <p:nvSpPr>
          <p:cNvPr id="15" name="Text 9"/>
          <p:cNvSpPr/>
          <p:nvPr/>
        </p:nvSpPr>
        <p:spPr>
          <a:xfrm>
            <a:off x="5143500" y="3735009"/>
            <a:ext cx="3143250" cy="137517"/>
          </a:xfrm>
          <a:prstGeom prst="rect">
            <a:avLst/>
          </a:prstGeom>
          <a:noFill/>
          <a:ln/>
        </p:spPr>
        <p:txBody>
          <a:bodyPr wrap="square" lIns="0" tIns="0" rIns="0" bIns="0" rtlCol="0" anchor="t">
            <a:spAutoFit/>
          </a:bodyPr>
          <a:lstStyle/>
          <a:p>
            <a:pPr algn="l" indent="0" marL="0">
              <a:buNone/>
            </a:pPr>
            <a:r>
              <a:rPr lang="en-US" sz="800" b="1" dirty="0">
                <a:solidFill>
                  <a:srgbClr val="2EA043"/>
                </a:solidFill>
                <a:latin typeface="Inter ExtraBold" pitchFamily="34" charset="0"/>
                <a:ea typeface="Inter ExtraBold" pitchFamily="34" charset="-122"/>
                <a:cs typeface="Inter ExtraBold" pitchFamily="34" charset="-120"/>
              </a:rPr>
              <a:t>SEMANTIC NUANCE CAPTURED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4400550" y="216182"/>
            <a:ext cx="342900" cy="342900"/>
          </a:xfrm>
          <a:prstGeom prst="rect">
            <a:avLst/>
          </a:prstGeom>
        </p:spPr>
      </p:pic>
      <p:sp>
        <p:nvSpPr>
          <p:cNvPr id="5" name="Text 0"/>
          <p:cNvSpPr/>
          <p:nvPr/>
        </p:nvSpPr>
        <p:spPr>
          <a:xfrm>
            <a:off x="1413570" y="1073265"/>
            <a:ext cx="6316861" cy="483989"/>
          </a:xfrm>
          <a:prstGeom prst="rect">
            <a:avLst/>
          </a:prstGeom>
          <a:noFill/>
          <a:ln/>
        </p:spPr>
        <p:txBody>
          <a:bodyPr wrap="square" lIns="0" tIns="0" rIns="0" bIns="0" rtlCol="0" anchor="t">
            <a:spAutoFit/>
          </a:bodyPr>
          <a:lstStyle/>
          <a:p>
            <a:pPr algn="ctr" indent="0" marL="0">
              <a:buNone/>
            </a:pPr>
            <a:r>
              <a:rPr lang="en-US" sz="2850" b="1" spc="-2" kern="0" dirty="0">
                <a:solidFill>
                  <a:srgbClr val="24292E"/>
                </a:solidFill>
                <a:latin typeface="Inter ExtraBold" pitchFamily="34" charset="0"/>
                <a:ea typeface="Inter ExtraBold" pitchFamily="34" charset="-122"/>
                <a:cs typeface="Inter ExtraBold" pitchFamily="34" charset="-120"/>
              </a:rPr>
              <a:t>CONCLUSION &amp; KEY TAKEAWAYS</a:t>
            </a:r>
            <a:endParaRPr lang="en-US" sz="2850" dirty="0"/>
          </a:p>
        </p:txBody>
      </p:sp>
      <p:sp>
        <p:nvSpPr>
          <p:cNvPr id="6" name="Text 1"/>
          <p:cNvSpPr/>
          <p:nvPr/>
        </p:nvSpPr>
        <p:spPr>
          <a:xfrm>
            <a:off x="1000125" y="2157329"/>
            <a:ext cx="3429000"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CONTEXT IS KING</a:t>
            </a:r>
            <a:endParaRPr lang="en-US" sz="1200" dirty="0"/>
          </a:p>
        </p:txBody>
      </p:sp>
      <p:sp>
        <p:nvSpPr>
          <p:cNvPr id="7" name="Text 2"/>
          <p:cNvSpPr/>
          <p:nvPr/>
        </p:nvSpPr>
        <p:spPr>
          <a:xfrm>
            <a:off x="1000125" y="2450223"/>
            <a:ext cx="34290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BERT's bidirectional nature allows for a deeper understanding of technical text compared to traditional keyword-based methods.</a:t>
            </a:r>
            <a:endParaRPr lang="en-US" sz="950" dirty="0"/>
          </a:p>
        </p:txBody>
      </p:sp>
      <p:sp>
        <p:nvSpPr>
          <p:cNvPr id="8" name="Text 3"/>
          <p:cNvSpPr/>
          <p:nvPr/>
        </p:nvSpPr>
        <p:spPr>
          <a:xfrm>
            <a:off x="4714875" y="2157329"/>
            <a:ext cx="3429000"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TRANSFER LEARNING</a:t>
            </a:r>
            <a:endParaRPr lang="en-US" sz="1200" dirty="0"/>
          </a:p>
        </p:txBody>
      </p:sp>
      <p:sp>
        <p:nvSpPr>
          <p:cNvPr id="9" name="Text 4"/>
          <p:cNvSpPr/>
          <p:nvPr/>
        </p:nvSpPr>
        <p:spPr>
          <a:xfrm>
            <a:off x="4714875" y="2450223"/>
            <a:ext cx="34290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Pre-trained models like DistilBERT make state-of-the-art NLP accessible even with limited computational resources and smaller datasets.</a:t>
            </a:r>
            <a:endParaRPr lang="en-US" sz="950" dirty="0"/>
          </a:p>
        </p:txBody>
      </p:sp>
      <p:sp>
        <p:nvSpPr>
          <p:cNvPr id="10" name="Text 5"/>
          <p:cNvSpPr/>
          <p:nvPr/>
        </p:nvSpPr>
        <p:spPr>
          <a:xfrm>
            <a:off x="1000125" y="3486066"/>
            <a:ext cx="3429000"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EFFICIENCY MATTERS</a:t>
            </a:r>
            <a:endParaRPr lang="en-US" sz="1200" dirty="0"/>
          </a:p>
        </p:txBody>
      </p:sp>
      <p:sp>
        <p:nvSpPr>
          <p:cNvPr id="11" name="Text 6"/>
          <p:cNvSpPr/>
          <p:nvPr/>
        </p:nvSpPr>
        <p:spPr>
          <a:xfrm>
            <a:off x="1000125" y="3778960"/>
            <a:ext cx="34290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DistilBERT provides the perfect balance between high accuracy and the speed required for real-world application pipelines.</a:t>
            </a:r>
            <a:endParaRPr lang="en-US" sz="950" dirty="0"/>
          </a:p>
        </p:txBody>
      </p:sp>
      <p:sp>
        <p:nvSpPr>
          <p:cNvPr id="12" name="Text 7"/>
          <p:cNvSpPr/>
          <p:nvPr/>
        </p:nvSpPr>
        <p:spPr>
          <a:xfrm>
            <a:off x="4714875" y="3486066"/>
            <a:ext cx="3429000" cy="207169"/>
          </a:xfrm>
          <a:prstGeom prst="rect">
            <a:avLst/>
          </a:prstGeom>
          <a:noFill/>
          <a:ln/>
        </p:spPr>
        <p:txBody>
          <a:bodyPr wrap="square" lIns="0" tIns="0" rIns="0" bIns="0" rtlCol="0" anchor="t">
            <a:spAutoFit/>
          </a:bodyPr>
          <a:lstStyle/>
          <a:p>
            <a:pPr algn="l" indent="0" marL="0">
              <a:buNone/>
            </a:pPr>
            <a:r>
              <a:rPr lang="en-US" sz="1200" b="1" dirty="0">
                <a:solidFill>
                  <a:srgbClr val="24292E"/>
                </a:solidFill>
                <a:latin typeface="Inter ExtraBold" pitchFamily="34" charset="0"/>
                <a:ea typeface="Inter ExtraBold" pitchFamily="34" charset="-122"/>
                <a:cs typeface="Inter ExtraBold" pitchFamily="34" charset="-120"/>
              </a:rPr>
              <a:t>FUTURE HORIZONS</a:t>
            </a:r>
            <a:endParaRPr lang="en-US" sz="1200" dirty="0"/>
          </a:p>
        </p:txBody>
      </p:sp>
      <p:sp>
        <p:nvSpPr>
          <p:cNvPr id="13" name="Text 8"/>
          <p:cNvSpPr/>
          <p:nvPr/>
        </p:nvSpPr>
        <p:spPr>
          <a:xfrm>
            <a:off x="4714875" y="3778960"/>
            <a:ext cx="34290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586069"/>
                </a:solidFill>
                <a:latin typeface="Inter Light" pitchFamily="34" charset="0"/>
                <a:ea typeface="Inter Light" pitchFamily="34" charset="-122"/>
                <a:cs typeface="Inter Light" pitchFamily="34" charset="-120"/>
              </a:rPr>
              <a:t>Moving forward, integrating CodeBERT could allow for classification based on actual source code logic, not just documentation.</a:t>
            </a:r>
            <a:endParaRPr lang="en-US" sz="950" dirty="0"/>
          </a:p>
        </p:txBody>
      </p:sp>
      <p:sp>
        <p:nvSpPr>
          <p:cNvPr id="14" name="Text 9"/>
          <p:cNvSpPr/>
          <p:nvPr/>
        </p:nvSpPr>
        <p:spPr>
          <a:xfrm>
            <a:off x="3114675" y="4357604"/>
            <a:ext cx="2914650" cy="601861"/>
          </a:xfrm>
          <a:prstGeom prst="rect">
            <a:avLst/>
          </a:prstGeom>
          <a:noFill/>
          <a:ln/>
        </p:spPr>
        <p:txBody>
          <a:bodyPr wrap="square" lIns="0" tIns="510286" rIns="0" bIns="0" rtlCol="0" anchor="t">
            <a:spAutoFit/>
          </a:bodyPr>
          <a:lstStyle/>
          <a:p>
            <a:pPr algn="l" indent="0" marL="0">
              <a:buNone/>
            </a:pPr>
            <a:r>
              <a:rPr lang="en-US" sz="1000" b="1" spc="2" kern="0" dirty="0">
                <a:solidFill>
                  <a:srgbClr val="2EA043"/>
                </a:solidFill>
                <a:latin typeface="Inter ExtraBold" pitchFamily="34" charset="0"/>
                <a:ea typeface="Inter ExtraBold" pitchFamily="34" charset="-122"/>
                <a:cs typeface="Inter ExtraBold" pitchFamily="34" charset="-120"/>
              </a:rPr>
              <a:t>THANK YOU FOR YOUR ATTENTION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2026-04-28T20:18:16Z</dcterms:created>
  <dcterms:modified xsi:type="dcterms:W3CDTF">2026-04-28T20:18:16Z</dcterms:modified>
</cp:coreProperties>
</file>